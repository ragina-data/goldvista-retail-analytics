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75" r:id="rId9"/>
    <p:sldId id="276" r:id="rId10"/>
    <p:sldId id="277" r:id="rId11"/>
    <p:sldId id="264" r:id="rId12"/>
    <p:sldId id="278" r:id="rId13"/>
    <p:sldId id="279" r:id="rId14"/>
    <p:sldId id="280" r:id="rId15"/>
    <p:sldId id="263" r:id="rId16"/>
    <p:sldId id="284" r:id="rId17"/>
    <p:sldId id="266" r:id="rId18"/>
    <p:sldId id="294" r:id="rId19"/>
    <p:sldId id="295" r:id="rId20"/>
    <p:sldId id="296" r:id="rId21"/>
    <p:sldId id="297" r:id="rId22"/>
    <p:sldId id="298" r:id="rId23"/>
    <p:sldId id="299" r:id="rId24"/>
    <p:sldId id="300" r:id="rId25"/>
    <p:sldId id="274" r:id="rId26"/>
    <p:sldId id="281" r:id="rId27"/>
    <p:sldId id="301" r:id="rId28"/>
    <p:sldId id="302" r:id="rId29"/>
    <p:sldId id="282" r:id="rId30"/>
    <p:sldId id="293" r:id="rId31"/>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95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4761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39625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F0F82-1F69-172D-886A-4A7F5E133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B0457-B42E-F096-EE6D-D1092D9E3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BC1D2-D7F5-A40B-07E0-FBC5B07FD6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BC1E77-1B53-380B-D4BB-AAC8202B14D5}"/>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904944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235203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173098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461301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4024271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4620172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4296885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5952065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9786769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3D37F-62A1-6B63-47A3-09507958A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2CCE8-9A83-6F42-0415-B4C6E12E4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DE1EB-A304-7FAE-0A73-5F7C0CB1EE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7145A8-111D-74EC-B4A4-E70C2F34CFC5}"/>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2198854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000035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9329-308A-D4FE-E201-886660AE2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BB006C-1257-40C7-21B6-D67C8C82B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60349-984C-1DB0-3D4E-253B733B36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291C7-7652-1755-9ED7-BDEB26E8F70A}"/>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257004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0"/>
            <a:ext cx="9144000" cy="51435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3813598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notesSlide" Target="../notesSlides/notesSlide25.xml"/><Relationship Id="rId1" Type="http://schemas.openxmlformats.org/officeDocument/2006/relationships/slideLayout" Target="../slideLayouts/slideLayout10.xml"/><Relationship Id="rId6" Type="http://schemas.openxmlformats.org/officeDocument/2006/relationships/image" Target="../media/image42.svg"/><Relationship Id="rId5" Type="http://schemas.openxmlformats.org/officeDocument/2006/relationships/image" Target="../media/image41.svg"/><Relationship Id="rId4" Type="http://schemas.openxmlformats.org/officeDocument/2006/relationships/image" Target="../media/image40.svg"/><Relationship Id="rId9" Type="http://schemas.openxmlformats.org/officeDocument/2006/relationships/image" Target="../media/image45.sv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29.xml"/><Relationship Id="rId1" Type="http://schemas.openxmlformats.org/officeDocument/2006/relationships/slideLayout" Target="../slideLayouts/slideLayout9.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651199" y="0"/>
            <a:ext cx="3732167" cy="5143500"/>
          </a:xfrm>
          <a:prstGeom prst="rect">
            <a:avLst/>
          </a:prstGeom>
        </p:spPr>
      </p:pic>
      <p:sp>
        <p:nvSpPr>
          <p:cNvPr id="3" name="Text 0"/>
          <p:cNvSpPr/>
          <p:nvPr/>
        </p:nvSpPr>
        <p:spPr>
          <a:xfrm>
            <a:off x="252636" y="1368288"/>
            <a:ext cx="5021580" cy="764977"/>
          </a:xfrm>
          <a:prstGeom prst="rect">
            <a:avLst/>
          </a:prstGeom>
          <a:noFill/>
          <a:ln/>
        </p:spPr>
        <p:txBody>
          <a:bodyPr wrap="square" lIns="0" tIns="0" rIns="0" bIns="0" rtlCol="0" anchor="t">
            <a:noAutofit/>
          </a:bodyPr>
          <a:lstStyle/>
          <a:p>
            <a:pPr marL="0" indent="0" algn="ctr">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GoldVista Jewellers Retail Analytics</a:t>
            </a:r>
            <a:endParaRPr lang="en-US" sz="3600" dirty="0">
              <a:latin typeface="Arial" panose="020B0604020202020204" pitchFamily="34" charset="0"/>
              <a:cs typeface="Arial" panose="020B0604020202020204" pitchFamily="34" charset="0"/>
            </a:endParaRPr>
          </a:p>
        </p:txBody>
      </p:sp>
      <p:sp>
        <p:nvSpPr>
          <p:cNvPr id="4" name="Text 1"/>
          <p:cNvSpPr/>
          <p:nvPr/>
        </p:nvSpPr>
        <p:spPr>
          <a:xfrm>
            <a:off x="464820" y="2757301"/>
            <a:ext cx="5021580" cy="959897"/>
          </a:xfrm>
          <a:prstGeom prst="rect">
            <a:avLst/>
          </a:prstGeom>
          <a:noFill/>
          <a:ln/>
        </p:spPr>
        <p:txBody>
          <a:bodyPr wrap="square" lIns="0" tIns="0" rIns="0" bIns="0" rtlCol="0" anchor="t"/>
          <a:lstStyle/>
          <a:p>
            <a:pPr marL="0" indent="0" algn="l">
              <a:lnSpc>
                <a:spcPct val="133000"/>
              </a:lnSpc>
              <a:spcAft>
                <a:spcPts val="1200"/>
              </a:spcAft>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Business Intelligence &amp; Data Analytics Project</a:t>
            </a:r>
            <a:endParaRPr lang="en-US" sz="1400" dirty="0">
              <a:latin typeface="Arial" panose="020B0604020202020204" pitchFamily="34" charset="0"/>
              <a:cs typeface="Arial" panose="020B0604020202020204" pitchFamily="34" charset="0"/>
            </a:endParaRPr>
          </a:p>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Presented by: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Ragina V</a:t>
            </a:r>
            <a:endParaRPr lang="en-US" sz="1400" dirty="0">
              <a:latin typeface="Arial" panose="020B0604020202020204" pitchFamily="34" charset="0"/>
              <a:cs typeface="Arial" panose="020B0604020202020204" pitchFamily="34" charset="0"/>
            </a:endParaRPr>
          </a:p>
        </p:txBody>
      </p:sp>
      <p:sp>
        <p:nvSpPr>
          <p:cNvPr id="5" name="Shape 2"/>
          <p:cNvSpPr/>
          <p:nvPr/>
        </p:nvSpPr>
        <p:spPr>
          <a:xfrm>
            <a:off x="531229" y="3897526"/>
            <a:ext cx="1136821" cy="258812"/>
          </a:xfrm>
          <a:prstGeom prst="roundRect">
            <a:avLst>
              <a:gd name="adj" fmla="val 63838"/>
            </a:avLst>
          </a:prstGeom>
          <a:solidFill>
            <a:srgbClr val="4D4000"/>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747" y="3986733"/>
            <a:ext cx="119870" cy="110133"/>
          </a:xfrm>
          <a:prstGeom prst="rect">
            <a:avLst/>
          </a:prstGeom>
        </p:spPr>
      </p:pic>
      <p:sp>
        <p:nvSpPr>
          <p:cNvPr id="7" name="Text 3"/>
          <p:cNvSpPr/>
          <p:nvPr/>
        </p:nvSpPr>
        <p:spPr>
          <a:xfrm>
            <a:off x="776670" y="3938826"/>
            <a:ext cx="1274833"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endParaRPr lang="en-US" sz="1050" dirty="0">
              <a:latin typeface="Arial" panose="020B0604020202020204" pitchFamily="34" charset="0"/>
              <a:cs typeface="Arial" panose="020B0604020202020204" pitchFamily="34" charset="0"/>
            </a:endParaRPr>
          </a:p>
        </p:txBody>
      </p:sp>
      <p:sp>
        <p:nvSpPr>
          <p:cNvPr id="8" name="Shape 4"/>
          <p:cNvSpPr/>
          <p:nvPr/>
        </p:nvSpPr>
        <p:spPr>
          <a:xfrm>
            <a:off x="1651520" y="3896812"/>
            <a:ext cx="728453" cy="258812"/>
          </a:xfrm>
          <a:prstGeom prst="roundRect">
            <a:avLst>
              <a:gd name="adj" fmla="val 63838"/>
            </a:avLst>
          </a:prstGeom>
          <a:solidFill>
            <a:srgbClr val="4D4000"/>
          </a:solidFill>
          <a:ln/>
        </p:spPr>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44524" y="3986733"/>
            <a:ext cx="119870" cy="110133"/>
          </a:xfrm>
          <a:prstGeom prst="rect">
            <a:avLst/>
          </a:prstGeom>
        </p:spPr>
      </p:pic>
      <p:sp>
        <p:nvSpPr>
          <p:cNvPr id="10" name="Text 5"/>
          <p:cNvSpPr/>
          <p:nvPr/>
        </p:nvSpPr>
        <p:spPr>
          <a:xfrm>
            <a:off x="1896960" y="3938112"/>
            <a:ext cx="866466"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EXCEL</a:t>
            </a:r>
            <a:endParaRPr lang="en-US" sz="1050" dirty="0">
              <a:latin typeface="Arial" panose="020B0604020202020204" pitchFamily="34" charset="0"/>
              <a:cs typeface="Arial" panose="020B0604020202020204" pitchFamily="34" charset="0"/>
            </a:endParaRPr>
          </a:p>
        </p:txBody>
      </p:sp>
      <p:sp>
        <p:nvSpPr>
          <p:cNvPr id="11" name="Shape 6"/>
          <p:cNvSpPr/>
          <p:nvPr/>
        </p:nvSpPr>
        <p:spPr>
          <a:xfrm>
            <a:off x="2386029" y="3897526"/>
            <a:ext cx="939279" cy="258812"/>
          </a:xfrm>
          <a:prstGeom prst="roundRect">
            <a:avLst>
              <a:gd name="adj" fmla="val 63838"/>
            </a:avLst>
          </a:prstGeom>
          <a:solidFill>
            <a:srgbClr val="4D4000"/>
          </a:solidFill>
          <a:ln/>
        </p:spPr>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749" y="3995447"/>
            <a:ext cx="119870" cy="110133"/>
          </a:xfrm>
          <a:prstGeom prst="rect">
            <a:avLst/>
          </a:prstGeom>
        </p:spPr>
      </p:pic>
      <p:sp>
        <p:nvSpPr>
          <p:cNvPr id="13" name="Text 7"/>
          <p:cNvSpPr/>
          <p:nvPr/>
        </p:nvSpPr>
        <p:spPr>
          <a:xfrm>
            <a:off x="2631469" y="3938826"/>
            <a:ext cx="1077290"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endParaRPr lang="en-US" sz="1050" dirty="0">
              <a:latin typeface="Arial" panose="020B0604020202020204" pitchFamily="34" charset="0"/>
              <a:cs typeface="Arial" panose="020B0604020202020204" pitchFamily="34" charset="0"/>
            </a:endParaRPr>
          </a:p>
        </p:txBody>
      </p:sp>
      <p:sp>
        <p:nvSpPr>
          <p:cNvPr id="14" name="Shape 8"/>
          <p:cNvSpPr/>
          <p:nvPr/>
        </p:nvSpPr>
        <p:spPr>
          <a:xfrm>
            <a:off x="3323645" y="3897526"/>
            <a:ext cx="599836" cy="258812"/>
          </a:xfrm>
          <a:prstGeom prst="roundRect">
            <a:avLst>
              <a:gd name="adj" fmla="val 63838"/>
            </a:avLst>
          </a:prstGeom>
          <a:solidFill>
            <a:srgbClr val="4D4000"/>
          </a:solidFill>
          <a:ln/>
        </p:spPr>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82406" y="3989963"/>
            <a:ext cx="119870" cy="110133"/>
          </a:xfrm>
          <a:prstGeom prst="rect">
            <a:avLst/>
          </a:prstGeom>
        </p:spPr>
      </p:pic>
      <p:sp>
        <p:nvSpPr>
          <p:cNvPr id="16" name="Text 9"/>
          <p:cNvSpPr/>
          <p:nvPr/>
        </p:nvSpPr>
        <p:spPr>
          <a:xfrm>
            <a:off x="3539477" y="3912668"/>
            <a:ext cx="737849"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DAX</a:t>
            </a:r>
            <a:endParaRPr lang="en-US" sz="1050" dirty="0">
              <a:latin typeface="Arial" panose="020B0604020202020204" pitchFamily="34" charset="0"/>
              <a:cs typeface="Arial" panose="020B0604020202020204" pitchFamily="34" charset="0"/>
            </a:endParaRPr>
          </a:p>
        </p:txBody>
      </p:sp>
      <p:sp>
        <p:nvSpPr>
          <p:cNvPr id="17" name="Shape 10"/>
          <p:cNvSpPr/>
          <p:nvPr/>
        </p:nvSpPr>
        <p:spPr>
          <a:xfrm>
            <a:off x="3940003" y="3897526"/>
            <a:ext cx="809447" cy="258812"/>
          </a:xfrm>
          <a:prstGeom prst="roundRect">
            <a:avLst>
              <a:gd name="adj" fmla="val 63838"/>
            </a:avLst>
          </a:prstGeom>
          <a:solidFill>
            <a:srgbClr val="4D4000"/>
          </a:solidFill>
          <a:ln/>
        </p:spPr>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7484" y="3984256"/>
            <a:ext cx="119870" cy="110133"/>
          </a:xfrm>
          <a:prstGeom prst="rect">
            <a:avLst/>
          </a:prstGeom>
        </p:spPr>
      </p:pic>
      <p:sp>
        <p:nvSpPr>
          <p:cNvPr id="19" name="Text 11"/>
          <p:cNvSpPr/>
          <p:nvPr/>
        </p:nvSpPr>
        <p:spPr>
          <a:xfrm>
            <a:off x="4185444" y="3938826"/>
            <a:ext cx="947459"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GITHUB</a:t>
            </a:r>
            <a:endParaRPr lang="en-US" sz="105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54609" y="24259"/>
            <a:ext cx="2799680" cy="292819"/>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Agenda</a:t>
            </a:r>
            <a:endParaRPr lang="en-US" sz="3600" dirty="0">
              <a:latin typeface="Arial" panose="020B0604020202020204" pitchFamily="34" charset="0"/>
            </a:endParaRPr>
          </a:p>
        </p:txBody>
      </p:sp>
      <p:sp>
        <p:nvSpPr>
          <p:cNvPr id="3" name="Text 1"/>
          <p:cNvSpPr/>
          <p:nvPr/>
        </p:nvSpPr>
        <p:spPr>
          <a:xfrm>
            <a:off x="877491" y="578792"/>
            <a:ext cx="7389019" cy="490315"/>
          </a:xfrm>
          <a:prstGeom prst="rect">
            <a:avLst/>
          </a:prstGeom>
          <a:noFill/>
          <a:ln/>
        </p:spPr>
        <p:txBody>
          <a:bodyPr wrap="square" lIns="0" tIns="0" rIns="0" bIns="0" rtlCol="0" anchor="t">
            <a:noAutofit/>
          </a:bodyPr>
          <a:lstStyle/>
          <a:p>
            <a:pPr marL="0" indent="0" algn="l">
              <a:lnSpc>
                <a:spcPct val="11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This presentation walks through the end-to-end analytics project — from understanding the business problem to delivering actionable insights and recommendations.</a:t>
            </a:r>
            <a:endParaRPr lang="en-US" sz="1400" dirty="0">
              <a:latin typeface="Arial" panose="020B0604020202020204" pitchFamily="34" charset="0"/>
            </a:endParaRPr>
          </a:p>
        </p:txBody>
      </p:sp>
      <p:sp>
        <p:nvSpPr>
          <p:cNvPr id="4" name="Text 2"/>
          <p:cNvSpPr/>
          <p:nvPr/>
        </p:nvSpPr>
        <p:spPr>
          <a:xfrm>
            <a:off x="877491" y="1159892"/>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01</a:t>
            </a:r>
            <a:endParaRPr lang="en-US" sz="1200" dirty="0">
              <a:latin typeface="Arial" panose="020B0604020202020204" pitchFamily="34" charset="0"/>
            </a:endParaRPr>
          </a:p>
        </p:txBody>
      </p:sp>
      <p:sp>
        <p:nvSpPr>
          <p:cNvPr id="5" name="Shape 3"/>
          <p:cNvSpPr/>
          <p:nvPr/>
        </p:nvSpPr>
        <p:spPr>
          <a:xfrm>
            <a:off x="877491" y="1324719"/>
            <a:ext cx="3654177" cy="14288"/>
          </a:xfrm>
          <a:prstGeom prst="rect">
            <a:avLst/>
          </a:prstGeom>
          <a:solidFill>
            <a:srgbClr val="FFE14D"/>
          </a:solidFill>
          <a:ln/>
        </p:spPr>
      </p:sp>
      <p:sp>
        <p:nvSpPr>
          <p:cNvPr id="6" name="Text 4"/>
          <p:cNvSpPr/>
          <p:nvPr/>
        </p:nvSpPr>
        <p:spPr>
          <a:xfrm>
            <a:off x="877491" y="1405979"/>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Business Overview</a:t>
            </a:r>
            <a:endParaRPr lang="en-US" sz="1400" dirty="0">
              <a:latin typeface="Arial" panose="020B0604020202020204" pitchFamily="34" charset="0"/>
            </a:endParaRPr>
          </a:p>
        </p:txBody>
      </p:sp>
      <p:sp>
        <p:nvSpPr>
          <p:cNvPr id="7" name="Text 5"/>
          <p:cNvSpPr/>
          <p:nvPr/>
        </p:nvSpPr>
        <p:spPr>
          <a:xfrm>
            <a:off x="877491" y="1600721"/>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About GoldVista Jewellers</a:t>
            </a:r>
            <a:endParaRPr lang="en-US" sz="1200" dirty="0">
              <a:latin typeface="Arial" panose="020B0604020202020204" pitchFamily="34" charset="0"/>
            </a:endParaRPr>
          </a:p>
        </p:txBody>
      </p:sp>
      <p:sp>
        <p:nvSpPr>
          <p:cNvPr id="8" name="Text 6"/>
          <p:cNvSpPr/>
          <p:nvPr/>
        </p:nvSpPr>
        <p:spPr>
          <a:xfrm>
            <a:off x="4612332" y="1159892"/>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02</a:t>
            </a:r>
            <a:endParaRPr lang="en-US" sz="1200" dirty="0">
              <a:latin typeface="Arial" panose="020B0604020202020204" pitchFamily="34" charset="0"/>
            </a:endParaRPr>
          </a:p>
        </p:txBody>
      </p:sp>
      <p:sp>
        <p:nvSpPr>
          <p:cNvPr id="9" name="Shape 7"/>
          <p:cNvSpPr/>
          <p:nvPr/>
        </p:nvSpPr>
        <p:spPr>
          <a:xfrm>
            <a:off x="4612332" y="1324719"/>
            <a:ext cx="3654177" cy="14288"/>
          </a:xfrm>
          <a:prstGeom prst="rect">
            <a:avLst/>
          </a:prstGeom>
          <a:solidFill>
            <a:srgbClr val="FFE14D"/>
          </a:solidFill>
          <a:ln/>
        </p:spPr>
      </p:sp>
      <p:sp>
        <p:nvSpPr>
          <p:cNvPr id="10" name="Text 8"/>
          <p:cNvSpPr/>
          <p:nvPr/>
        </p:nvSpPr>
        <p:spPr>
          <a:xfrm>
            <a:off x="4612332" y="1405979"/>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Problem Statement</a:t>
            </a:r>
            <a:endParaRPr lang="en-US" sz="1400" dirty="0">
              <a:latin typeface="Arial" panose="020B0604020202020204" pitchFamily="34" charset="0"/>
            </a:endParaRPr>
          </a:p>
        </p:txBody>
      </p:sp>
      <p:sp>
        <p:nvSpPr>
          <p:cNvPr id="11" name="Text 9"/>
          <p:cNvSpPr/>
          <p:nvPr/>
        </p:nvSpPr>
        <p:spPr>
          <a:xfrm>
            <a:off x="4612332" y="1600721"/>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Key business challenges</a:t>
            </a:r>
            <a:endParaRPr lang="en-US" sz="1200" dirty="0">
              <a:latin typeface="Arial" panose="020B0604020202020204" pitchFamily="34" charset="0"/>
            </a:endParaRPr>
          </a:p>
        </p:txBody>
      </p:sp>
      <p:sp>
        <p:nvSpPr>
          <p:cNvPr id="12" name="Text 10"/>
          <p:cNvSpPr/>
          <p:nvPr/>
        </p:nvSpPr>
        <p:spPr>
          <a:xfrm>
            <a:off x="877491" y="1909316"/>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03</a:t>
            </a:r>
            <a:endParaRPr lang="en-US" sz="1200" dirty="0">
              <a:latin typeface="Arial" panose="020B0604020202020204" pitchFamily="34" charset="0"/>
            </a:endParaRPr>
          </a:p>
        </p:txBody>
      </p:sp>
      <p:sp>
        <p:nvSpPr>
          <p:cNvPr id="13" name="Shape 11"/>
          <p:cNvSpPr/>
          <p:nvPr/>
        </p:nvSpPr>
        <p:spPr>
          <a:xfrm>
            <a:off x="877491" y="2074143"/>
            <a:ext cx="3654177" cy="14288"/>
          </a:xfrm>
          <a:prstGeom prst="rect">
            <a:avLst/>
          </a:prstGeom>
          <a:solidFill>
            <a:srgbClr val="FFE14D"/>
          </a:solidFill>
          <a:ln/>
        </p:spPr>
      </p:sp>
      <p:sp>
        <p:nvSpPr>
          <p:cNvPr id="14" name="Text 12"/>
          <p:cNvSpPr/>
          <p:nvPr/>
        </p:nvSpPr>
        <p:spPr>
          <a:xfrm>
            <a:off x="877491" y="2155403"/>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Project Objectives</a:t>
            </a:r>
            <a:endParaRPr lang="en-US" sz="1400" dirty="0">
              <a:latin typeface="Arial" panose="020B0604020202020204" pitchFamily="34" charset="0"/>
            </a:endParaRPr>
          </a:p>
        </p:txBody>
      </p:sp>
      <p:sp>
        <p:nvSpPr>
          <p:cNvPr id="15" name="Text 13"/>
          <p:cNvSpPr/>
          <p:nvPr/>
        </p:nvSpPr>
        <p:spPr>
          <a:xfrm>
            <a:off x="877491" y="2350145"/>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What we set out to achieve</a:t>
            </a:r>
            <a:endParaRPr lang="en-US" sz="1200" dirty="0">
              <a:latin typeface="Arial" panose="020B0604020202020204" pitchFamily="34" charset="0"/>
            </a:endParaRPr>
          </a:p>
        </p:txBody>
      </p:sp>
      <p:sp>
        <p:nvSpPr>
          <p:cNvPr id="16" name="Text 14"/>
          <p:cNvSpPr/>
          <p:nvPr/>
        </p:nvSpPr>
        <p:spPr>
          <a:xfrm>
            <a:off x="4612332" y="1909316"/>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04</a:t>
            </a:r>
            <a:endParaRPr lang="en-US" sz="1200" dirty="0">
              <a:latin typeface="Arial" panose="020B0604020202020204" pitchFamily="34" charset="0"/>
            </a:endParaRPr>
          </a:p>
        </p:txBody>
      </p:sp>
      <p:sp>
        <p:nvSpPr>
          <p:cNvPr id="17" name="Shape 15"/>
          <p:cNvSpPr/>
          <p:nvPr/>
        </p:nvSpPr>
        <p:spPr>
          <a:xfrm>
            <a:off x="4612332" y="2074143"/>
            <a:ext cx="3654177" cy="14288"/>
          </a:xfrm>
          <a:prstGeom prst="rect">
            <a:avLst/>
          </a:prstGeom>
          <a:solidFill>
            <a:srgbClr val="FFE14D"/>
          </a:solidFill>
          <a:ln/>
        </p:spPr>
      </p:sp>
      <p:sp>
        <p:nvSpPr>
          <p:cNvPr id="18" name="Text 16"/>
          <p:cNvSpPr/>
          <p:nvPr/>
        </p:nvSpPr>
        <p:spPr>
          <a:xfrm>
            <a:off x="4612332" y="2155403"/>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Architecture</a:t>
            </a:r>
            <a:endParaRPr lang="en-US" sz="1400" dirty="0">
              <a:latin typeface="Arial" panose="020B0604020202020204" pitchFamily="34" charset="0"/>
            </a:endParaRPr>
          </a:p>
        </p:txBody>
      </p:sp>
      <p:sp>
        <p:nvSpPr>
          <p:cNvPr id="19" name="Text 17"/>
          <p:cNvSpPr/>
          <p:nvPr/>
        </p:nvSpPr>
        <p:spPr>
          <a:xfrm>
            <a:off x="4612332" y="2350145"/>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Technology stack &amp; pipeline</a:t>
            </a:r>
            <a:endParaRPr lang="en-US" sz="1200" dirty="0">
              <a:latin typeface="Arial" panose="020B0604020202020204" pitchFamily="34" charset="0"/>
            </a:endParaRPr>
          </a:p>
        </p:txBody>
      </p:sp>
      <p:sp>
        <p:nvSpPr>
          <p:cNvPr id="20" name="Text 18"/>
          <p:cNvSpPr/>
          <p:nvPr/>
        </p:nvSpPr>
        <p:spPr>
          <a:xfrm>
            <a:off x="877491" y="2658740"/>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05</a:t>
            </a:r>
            <a:endParaRPr lang="en-US" sz="1200" dirty="0">
              <a:latin typeface="Arial" panose="020B0604020202020204" pitchFamily="34" charset="0"/>
            </a:endParaRPr>
          </a:p>
        </p:txBody>
      </p:sp>
      <p:sp>
        <p:nvSpPr>
          <p:cNvPr id="21" name="Shape 19"/>
          <p:cNvSpPr/>
          <p:nvPr/>
        </p:nvSpPr>
        <p:spPr>
          <a:xfrm>
            <a:off x="877491" y="2823567"/>
            <a:ext cx="3654177" cy="14288"/>
          </a:xfrm>
          <a:prstGeom prst="rect">
            <a:avLst/>
          </a:prstGeom>
          <a:solidFill>
            <a:srgbClr val="FFE14D"/>
          </a:solidFill>
          <a:ln/>
        </p:spPr>
      </p:sp>
      <p:sp>
        <p:nvSpPr>
          <p:cNvPr id="22" name="Text 20"/>
          <p:cNvSpPr/>
          <p:nvPr/>
        </p:nvSpPr>
        <p:spPr>
          <a:xfrm>
            <a:off x="877491" y="2904827"/>
            <a:ext cx="1973089"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Cleaning &amp; Transformation</a:t>
            </a:r>
            <a:endParaRPr lang="en-US" sz="1400" dirty="0">
              <a:latin typeface="Arial" panose="020B0604020202020204" pitchFamily="34" charset="0"/>
            </a:endParaRPr>
          </a:p>
        </p:txBody>
      </p:sp>
      <p:sp>
        <p:nvSpPr>
          <p:cNvPr id="23" name="Text 21"/>
          <p:cNvSpPr/>
          <p:nvPr/>
        </p:nvSpPr>
        <p:spPr>
          <a:xfrm>
            <a:off x="877491" y="3099569"/>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Preparing raw data for analysis</a:t>
            </a:r>
            <a:endParaRPr lang="en-US" sz="1200" dirty="0">
              <a:latin typeface="Arial" panose="020B0604020202020204" pitchFamily="34" charset="0"/>
            </a:endParaRPr>
          </a:p>
        </p:txBody>
      </p:sp>
      <p:sp>
        <p:nvSpPr>
          <p:cNvPr id="24" name="Text 22"/>
          <p:cNvSpPr/>
          <p:nvPr/>
        </p:nvSpPr>
        <p:spPr>
          <a:xfrm>
            <a:off x="4612332" y="2658740"/>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06</a:t>
            </a:r>
            <a:endParaRPr lang="en-US" sz="1200" dirty="0">
              <a:latin typeface="Arial" panose="020B0604020202020204" pitchFamily="34" charset="0"/>
            </a:endParaRPr>
          </a:p>
        </p:txBody>
      </p:sp>
      <p:sp>
        <p:nvSpPr>
          <p:cNvPr id="25" name="Shape 23"/>
          <p:cNvSpPr/>
          <p:nvPr/>
        </p:nvSpPr>
        <p:spPr>
          <a:xfrm>
            <a:off x="4612332" y="2823567"/>
            <a:ext cx="3654177" cy="14288"/>
          </a:xfrm>
          <a:prstGeom prst="rect">
            <a:avLst/>
          </a:prstGeom>
          <a:solidFill>
            <a:srgbClr val="FFE14D"/>
          </a:solidFill>
          <a:ln/>
        </p:spPr>
      </p:sp>
      <p:sp>
        <p:nvSpPr>
          <p:cNvPr id="26" name="Text 24"/>
          <p:cNvSpPr/>
          <p:nvPr/>
        </p:nvSpPr>
        <p:spPr>
          <a:xfrm>
            <a:off x="4612332" y="2904827"/>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Model</a:t>
            </a:r>
            <a:endParaRPr lang="en-US" sz="1400" dirty="0">
              <a:latin typeface="Arial" panose="020B0604020202020204" pitchFamily="34" charset="0"/>
            </a:endParaRPr>
          </a:p>
        </p:txBody>
      </p:sp>
      <p:sp>
        <p:nvSpPr>
          <p:cNvPr id="27" name="Text 25"/>
          <p:cNvSpPr/>
          <p:nvPr/>
        </p:nvSpPr>
        <p:spPr>
          <a:xfrm>
            <a:off x="4612332" y="3099569"/>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Star Schema design</a:t>
            </a:r>
            <a:endParaRPr lang="en-US" sz="1200" dirty="0">
              <a:latin typeface="Arial" panose="020B0604020202020204" pitchFamily="34" charset="0"/>
            </a:endParaRPr>
          </a:p>
        </p:txBody>
      </p:sp>
      <p:sp>
        <p:nvSpPr>
          <p:cNvPr id="28" name="Text 26"/>
          <p:cNvSpPr/>
          <p:nvPr/>
        </p:nvSpPr>
        <p:spPr>
          <a:xfrm>
            <a:off x="877491" y="3408164"/>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07</a:t>
            </a:r>
            <a:endParaRPr lang="en-US" sz="1200" dirty="0">
              <a:latin typeface="Arial" panose="020B0604020202020204" pitchFamily="34" charset="0"/>
            </a:endParaRPr>
          </a:p>
        </p:txBody>
      </p:sp>
      <p:sp>
        <p:nvSpPr>
          <p:cNvPr id="29" name="Shape 27"/>
          <p:cNvSpPr/>
          <p:nvPr/>
        </p:nvSpPr>
        <p:spPr>
          <a:xfrm>
            <a:off x="877491" y="3572991"/>
            <a:ext cx="3654177" cy="14288"/>
          </a:xfrm>
          <a:prstGeom prst="rect">
            <a:avLst/>
          </a:prstGeom>
          <a:solidFill>
            <a:srgbClr val="FFE14D"/>
          </a:solidFill>
          <a:ln/>
        </p:spPr>
      </p:sp>
      <p:sp>
        <p:nvSpPr>
          <p:cNvPr id="30" name="Text 28"/>
          <p:cNvSpPr/>
          <p:nvPr/>
        </p:nvSpPr>
        <p:spPr>
          <a:xfrm>
            <a:off x="877491" y="3654251"/>
            <a:ext cx="1376958"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SQL Business Analysis</a:t>
            </a:r>
            <a:endParaRPr lang="en-US" sz="1400" dirty="0">
              <a:latin typeface="Arial" panose="020B0604020202020204" pitchFamily="34" charset="0"/>
            </a:endParaRPr>
          </a:p>
        </p:txBody>
      </p:sp>
      <p:sp>
        <p:nvSpPr>
          <p:cNvPr id="31" name="Text 29"/>
          <p:cNvSpPr/>
          <p:nvPr/>
        </p:nvSpPr>
        <p:spPr>
          <a:xfrm>
            <a:off x="877491" y="3848993"/>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Eight business challenges solved</a:t>
            </a:r>
            <a:endParaRPr lang="en-US" sz="1200" dirty="0">
              <a:latin typeface="Arial" panose="020B0604020202020204" pitchFamily="34" charset="0"/>
            </a:endParaRPr>
          </a:p>
        </p:txBody>
      </p:sp>
      <p:sp>
        <p:nvSpPr>
          <p:cNvPr id="32" name="Text 30"/>
          <p:cNvSpPr/>
          <p:nvPr/>
        </p:nvSpPr>
        <p:spPr>
          <a:xfrm>
            <a:off x="4612332" y="3408164"/>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08</a:t>
            </a:r>
            <a:endParaRPr lang="en-US" sz="1200" dirty="0">
              <a:latin typeface="Arial" panose="020B0604020202020204" pitchFamily="34" charset="0"/>
            </a:endParaRPr>
          </a:p>
        </p:txBody>
      </p:sp>
      <p:sp>
        <p:nvSpPr>
          <p:cNvPr id="33" name="Shape 31"/>
          <p:cNvSpPr/>
          <p:nvPr/>
        </p:nvSpPr>
        <p:spPr>
          <a:xfrm>
            <a:off x="4612332" y="3572991"/>
            <a:ext cx="3654177" cy="14288"/>
          </a:xfrm>
          <a:prstGeom prst="rect">
            <a:avLst/>
          </a:prstGeom>
          <a:solidFill>
            <a:srgbClr val="FFE14D"/>
          </a:solidFill>
          <a:ln/>
        </p:spPr>
      </p:sp>
      <p:sp>
        <p:nvSpPr>
          <p:cNvPr id="34" name="Text 32"/>
          <p:cNvSpPr/>
          <p:nvPr/>
        </p:nvSpPr>
        <p:spPr>
          <a:xfrm>
            <a:off x="4612332" y="3654251"/>
            <a:ext cx="1299939"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Power BI Dashboards</a:t>
            </a:r>
            <a:endParaRPr lang="en-US" sz="1400" dirty="0">
              <a:latin typeface="Arial" panose="020B0604020202020204" pitchFamily="34" charset="0"/>
            </a:endParaRPr>
          </a:p>
        </p:txBody>
      </p:sp>
      <p:sp>
        <p:nvSpPr>
          <p:cNvPr id="35" name="Text 33"/>
          <p:cNvSpPr/>
          <p:nvPr/>
        </p:nvSpPr>
        <p:spPr>
          <a:xfrm>
            <a:off x="4612332" y="3848993"/>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Interactive visual reporting</a:t>
            </a:r>
            <a:endParaRPr lang="en-US" sz="1200" dirty="0">
              <a:latin typeface="Arial" panose="020B0604020202020204" pitchFamily="34" charset="0"/>
            </a:endParaRPr>
          </a:p>
        </p:txBody>
      </p:sp>
      <p:sp>
        <p:nvSpPr>
          <p:cNvPr id="36" name="Text 34"/>
          <p:cNvSpPr/>
          <p:nvPr/>
        </p:nvSpPr>
        <p:spPr>
          <a:xfrm>
            <a:off x="877491" y="4157588"/>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09</a:t>
            </a:r>
            <a:endParaRPr lang="en-US" sz="1200" dirty="0">
              <a:latin typeface="Arial" panose="020B0604020202020204" pitchFamily="34" charset="0"/>
            </a:endParaRPr>
          </a:p>
        </p:txBody>
      </p:sp>
      <p:sp>
        <p:nvSpPr>
          <p:cNvPr id="37" name="Shape 35"/>
          <p:cNvSpPr/>
          <p:nvPr/>
        </p:nvSpPr>
        <p:spPr>
          <a:xfrm>
            <a:off x="877491" y="4322415"/>
            <a:ext cx="3654177" cy="14288"/>
          </a:xfrm>
          <a:prstGeom prst="rect">
            <a:avLst/>
          </a:prstGeom>
          <a:solidFill>
            <a:srgbClr val="FFE14D"/>
          </a:solidFill>
          <a:ln/>
        </p:spPr>
      </p:sp>
      <p:sp>
        <p:nvSpPr>
          <p:cNvPr id="38" name="Text 36"/>
          <p:cNvSpPr/>
          <p:nvPr/>
        </p:nvSpPr>
        <p:spPr>
          <a:xfrm>
            <a:off x="877491" y="4403675"/>
            <a:ext cx="2010891"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Key Insights &amp; Recommendations</a:t>
            </a:r>
            <a:endParaRPr lang="en-US" sz="1400" dirty="0">
              <a:latin typeface="Arial" panose="020B0604020202020204" pitchFamily="34" charset="0"/>
            </a:endParaRPr>
          </a:p>
        </p:txBody>
      </p:sp>
      <p:sp>
        <p:nvSpPr>
          <p:cNvPr id="39" name="Text 37"/>
          <p:cNvSpPr/>
          <p:nvPr/>
        </p:nvSpPr>
        <p:spPr>
          <a:xfrm>
            <a:off x="877491" y="4598417"/>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Findings and next steps</a:t>
            </a:r>
            <a:endParaRPr lang="en-US" sz="1200" dirty="0">
              <a:latin typeface="Arial" panose="020B0604020202020204" pitchFamily="34" charset="0"/>
            </a:endParaRPr>
          </a:p>
        </p:txBody>
      </p:sp>
      <p:sp>
        <p:nvSpPr>
          <p:cNvPr id="40" name="Text 38"/>
          <p:cNvSpPr/>
          <p:nvPr/>
        </p:nvSpPr>
        <p:spPr>
          <a:xfrm>
            <a:off x="4612332" y="4157588"/>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10</a:t>
            </a:r>
            <a:endParaRPr lang="en-US" sz="1200" dirty="0">
              <a:latin typeface="Arial" panose="020B0604020202020204" pitchFamily="34" charset="0"/>
            </a:endParaRPr>
          </a:p>
        </p:txBody>
      </p:sp>
      <p:sp>
        <p:nvSpPr>
          <p:cNvPr id="41" name="Shape 39"/>
          <p:cNvSpPr/>
          <p:nvPr/>
        </p:nvSpPr>
        <p:spPr>
          <a:xfrm>
            <a:off x="4612332" y="4322415"/>
            <a:ext cx="3654177" cy="14288"/>
          </a:xfrm>
          <a:prstGeom prst="rect">
            <a:avLst/>
          </a:prstGeom>
          <a:solidFill>
            <a:srgbClr val="FFE14D"/>
          </a:solidFill>
          <a:ln/>
        </p:spPr>
      </p:sp>
      <p:sp>
        <p:nvSpPr>
          <p:cNvPr id="42" name="Text 40"/>
          <p:cNvSpPr/>
          <p:nvPr/>
        </p:nvSpPr>
        <p:spPr>
          <a:xfrm>
            <a:off x="4612332" y="4403675"/>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Conclusion</a:t>
            </a:r>
            <a:endParaRPr lang="en-US" sz="1400" dirty="0">
              <a:latin typeface="Arial" panose="020B0604020202020204" pitchFamily="34" charset="0"/>
            </a:endParaRPr>
          </a:p>
        </p:txBody>
      </p:sp>
      <p:sp>
        <p:nvSpPr>
          <p:cNvPr id="43" name="Text 41"/>
          <p:cNvSpPr/>
          <p:nvPr/>
        </p:nvSpPr>
        <p:spPr>
          <a:xfrm>
            <a:off x="4612332" y="4598417"/>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Project summary</a:t>
            </a:r>
            <a:endParaRPr lang="en-US" sz="1200"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304800" y="-72730"/>
            <a:ext cx="3277791" cy="305967"/>
          </a:xfrm>
          <a:prstGeom prst="rect">
            <a:avLst/>
          </a:prstGeom>
          <a:noFill/>
          <a:ln/>
        </p:spPr>
        <p:txBody>
          <a:bodyPr wrap="none" lIns="0" tIns="0" rIns="0" bIns="0" rtlCol="0" anchor="t"/>
          <a:lstStyle/>
          <a:p>
            <a:pPr marL="0" indent="0" algn="l">
              <a:lnSpc>
                <a:spcPct val="104000"/>
              </a:lnSpc>
              <a:buNone/>
            </a:pPr>
            <a:r>
              <a:rPr lang="en-US" sz="2000" b="1" dirty="0">
                <a:solidFill>
                  <a:srgbClr val="FFE14D"/>
                </a:solidFill>
                <a:latin typeface="Arial" panose="020B0604020202020204" pitchFamily="34" charset="0"/>
                <a:ea typeface="Calibri" panose="020F0502020204030204" pitchFamily="34" charset="0"/>
                <a:cs typeface="Arial" panose="020B0604020202020204" pitchFamily="34" charset="0"/>
              </a:rPr>
              <a:t>Business</a:t>
            </a: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 </a:t>
            </a:r>
            <a:r>
              <a:rPr lang="en-US" sz="2000" b="1" dirty="0">
                <a:solidFill>
                  <a:srgbClr val="FFE14D"/>
                </a:solidFill>
                <a:latin typeface="Arial" panose="020B0604020202020204" pitchFamily="34" charset="0"/>
                <a:ea typeface="Calibri" panose="020F0502020204030204" pitchFamily="34" charset="0"/>
                <a:cs typeface="Arial" panose="020B0604020202020204" pitchFamily="34" charset="0"/>
              </a:rPr>
              <a:t>Overview</a:t>
            </a:r>
            <a:endParaRPr lang="en-US" sz="3600" dirty="0">
              <a:latin typeface="Arial" panose="020B0604020202020204" pitchFamily="34" charset="0"/>
            </a:endParaRPr>
          </a:p>
        </p:txBody>
      </p:sp>
      <p:sp>
        <p:nvSpPr>
          <p:cNvPr id="4" name="Text 1"/>
          <p:cNvSpPr/>
          <p:nvPr/>
        </p:nvSpPr>
        <p:spPr>
          <a:xfrm>
            <a:off x="301452" y="484701"/>
            <a:ext cx="2370683" cy="176213"/>
          </a:xfrm>
          <a:prstGeom prst="rect">
            <a:avLst/>
          </a:prstGeom>
          <a:noFill/>
          <a:ln/>
        </p:spPr>
        <p:txBody>
          <a:bodyPr wrap="none" lIns="0" tIns="0" rIns="0" bIns="0" rtlCol="0" anchor="t"/>
          <a:lstStyle/>
          <a:p>
            <a:pPr marL="0" indent="0" algn="l">
              <a:lnSpc>
                <a:spcPct val="104000"/>
              </a:lnSpc>
              <a:buNone/>
            </a:pPr>
            <a:r>
              <a:rPr lang="en-US" sz="1400" dirty="0">
                <a:solidFill>
                  <a:srgbClr val="FFE14D"/>
                </a:solidFill>
                <a:latin typeface="Arial" panose="020B0604020202020204" pitchFamily="34" charset="0"/>
                <a:ea typeface="Calibri" panose="020F0502020204030204" pitchFamily="34" charset="0"/>
                <a:cs typeface="Arial" panose="020B0604020202020204" pitchFamily="34" charset="0"/>
              </a:rPr>
              <a:t>About GoldVista Jewellers</a:t>
            </a:r>
            <a:endParaRPr lang="en-US" sz="1400" dirty="0">
              <a:latin typeface="Arial" panose="020B0604020202020204" pitchFamily="34" charset="0"/>
            </a:endParaRPr>
          </a:p>
        </p:txBody>
      </p:sp>
      <p:sp>
        <p:nvSpPr>
          <p:cNvPr id="5" name="Text 2"/>
          <p:cNvSpPr/>
          <p:nvPr/>
        </p:nvSpPr>
        <p:spPr>
          <a:xfrm>
            <a:off x="243840" y="731086"/>
            <a:ext cx="5334000" cy="1157801"/>
          </a:xfrm>
          <a:prstGeom prst="rect">
            <a:avLst/>
          </a:prstGeom>
          <a:noFill/>
          <a:ln/>
        </p:spPr>
        <p:txBody>
          <a:bodyPr wrap="square" lIns="0" tIns="0" rIns="0" bIns="0" rtlCol="0" anchor="t">
            <a:noAutofit/>
          </a:bodyPr>
          <a:lstStyle/>
          <a:p>
            <a:pPr marL="0" indent="0" algn="l">
              <a:lnSpc>
                <a:spcPct val="12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GoldVista Jewellers is a multi-branch jewellery retail business offering Gold, Diamond and Silver products. The business handles sales, returns, and old gold buy-back transactions, serving thousands of customers across multiple branches.</a:t>
            </a:r>
            <a:endParaRPr lang="en-US" sz="1400" dirty="0">
              <a:latin typeface="Arial" panose="020B0604020202020204" pitchFamily="34" charset="0"/>
            </a:endParaRPr>
          </a:p>
        </p:txBody>
      </p:sp>
      <p:sp>
        <p:nvSpPr>
          <p:cNvPr id="6" name="Shape 3"/>
          <p:cNvSpPr/>
          <p:nvPr/>
        </p:nvSpPr>
        <p:spPr>
          <a:xfrm>
            <a:off x="353786" y="2125543"/>
            <a:ext cx="2266014" cy="1199218"/>
          </a:xfrm>
          <a:prstGeom prst="roundRect">
            <a:avLst>
              <a:gd name="adj" fmla="val 21384"/>
            </a:avLst>
          </a:prstGeom>
          <a:solidFill>
            <a:srgbClr val="46464A"/>
          </a:solidFill>
          <a:ln/>
        </p:spPr>
      </p:sp>
      <p:sp>
        <p:nvSpPr>
          <p:cNvPr id="7" name="Text 4"/>
          <p:cNvSpPr/>
          <p:nvPr/>
        </p:nvSpPr>
        <p:spPr>
          <a:xfrm>
            <a:off x="634529" y="2215083"/>
            <a:ext cx="1410295" cy="176213"/>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Product</a:t>
            </a: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 Range</a:t>
            </a:r>
            <a:endParaRPr lang="en-US" dirty="0">
              <a:latin typeface="Arial" panose="020B0604020202020204" pitchFamily="34" charset="0"/>
            </a:endParaRPr>
          </a:p>
        </p:txBody>
      </p:sp>
      <p:sp>
        <p:nvSpPr>
          <p:cNvPr id="8" name="Text 5"/>
          <p:cNvSpPr/>
          <p:nvPr/>
        </p:nvSpPr>
        <p:spPr>
          <a:xfrm>
            <a:off x="502630" y="2521702"/>
            <a:ext cx="2037606" cy="695251"/>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Gold, Diamond, Silver &amp; Platinum jewellery across all branches</a:t>
            </a:r>
            <a:endParaRPr lang="en-US" sz="1200" dirty="0">
              <a:latin typeface="Arial" panose="020B0604020202020204" pitchFamily="34" charset="0"/>
            </a:endParaRPr>
          </a:p>
        </p:txBody>
      </p:sp>
      <p:sp>
        <p:nvSpPr>
          <p:cNvPr id="9" name="Shape 6"/>
          <p:cNvSpPr/>
          <p:nvPr/>
        </p:nvSpPr>
        <p:spPr>
          <a:xfrm>
            <a:off x="2915989" y="2088207"/>
            <a:ext cx="2266014" cy="1228876"/>
          </a:xfrm>
          <a:prstGeom prst="roundRect">
            <a:avLst>
              <a:gd name="adj" fmla="val 21384"/>
            </a:avLst>
          </a:prstGeom>
          <a:solidFill>
            <a:srgbClr val="46464A"/>
          </a:solidFill>
          <a:ln/>
        </p:spPr>
      </p:sp>
      <p:sp>
        <p:nvSpPr>
          <p:cNvPr id="10" name="Text 7"/>
          <p:cNvSpPr/>
          <p:nvPr/>
        </p:nvSpPr>
        <p:spPr>
          <a:xfrm>
            <a:off x="3042865" y="2125543"/>
            <a:ext cx="1410295" cy="265753"/>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Transaction Types</a:t>
            </a:r>
            <a:endParaRPr lang="en-US" sz="1600" dirty="0">
              <a:latin typeface="Arial" panose="020B0604020202020204" pitchFamily="34" charset="0"/>
            </a:endParaRPr>
          </a:p>
        </p:txBody>
      </p:sp>
      <p:sp>
        <p:nvSpPr>
          <p:cNvPr id="11" name="Text 8"/>
          <p:cNvSpPr/>
          <p:nvPr/>
        </p:nvSpPr>
        <p:spPr>
          <a:xfrm>
            <a:off x="3042865" y="2461468"/>
            <a:ext cx="2037606" cy="763633"/>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Sales, returns, and old gold buy-back activities managed centrally</a:t>
            </a:r>
            <a:endParaRPr lang="en-US" sz="1200" dirty="0">
              <a:latin typeface="Arial" panose="020B0604020202020204" pitchFamily="34" charset="0"/>
            </a:endParaRPr>
          </a:p>
        </p:txBody>
      </p:sp>
      <p:sp>
        <p:nvSpPr>
          <p:cNvPr id="12" name="Shape 9"/>
          <p:cNvSpPr/>
          <p:nvPr/>
        </p:nvSpPr>
        <p:spPr>
          <a:xfrm>
            <a:off x="528488" y="3424421"/>
            <a:ext cx="4699695" cy="695251"/>
          </a:xfrm>
          <a:prstGeom prst="roundRect">
            <a:avLst>
              <a:gd name="adj" fmla="val 27385"/>
            </a:avLst>
          </a:prstGeom>
          <a:solidFill>
            <a:srgbClr val="46464A"/>
          </a:solidFill>
          <a:ln/>
        </p:spPr>
      </p:sp>
      <p:sp>
        <p:nvSpPr>
          <p:cNvPr id="13" name="Text 10"/>
          <p:cNvSpPr/>
          <p:nvPr/>
        </p:nvSpPr>
        <p:spPr>
          <a:xfrm>
            <a:off x="634528" y="3504011"/>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Customer Base</a:t>
            </a:r>
            <a:endParaRPr lang="en-US" dirty="0">
              <a:latin typeface="Arial" panose="020B0604020202020204" pitchFamily="34" charset="0"/>
            </a:endParaRPr>
          </a:p>
        </p:txBody>
      </p:sp>
      <p:sp>
        <p:nvSpPr>
          <p:cNvPr id="14" name="Text 11"/>
          <p:cNvSpPr/>
          <p:nvPr/>
        </p:nvSpPr>
        <p:spPr>
          <a:xfrm>
            <a:off x="634529" y="3759814"/>
            <a:ext cx="4445943" cy="252520"/>
          </a:xfrm>
          <a:prstGeom prst="rect">
            <a:avLst/>
          </a:prstGeom>
          <a:noFill/>
          <a:ln/>
        </p:spPr>
        <p:txBody>
          <a:bodyPr wrap="none" lIns="0" tIns="0" rIns="0" bIns="0" rtlCol="0" anchor="t"/>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Thousands of customers served across multiple retail </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branches</a:t>
            </a:r>
            <a:endParaRPr lang="en-US" sz="1200" dirty="0">
              <a:latin typeface="Arial" panose="020B0604020202020204" pitchFamily="34" charset="0"/>
            </a:endParaRPr>
          </a:p>
        </p:txBody>
      </p:sp>
      <p:sp>
        <p:nvSpPr>
          <p:cNvPr id="15" name="Shape 12"/>
          <p:cNvSpPr/>
          <p:nvPr/>
        </p:nvSpPr>
        <p:spPr>
          <a:xfrm>
            <a:off x="482308" y="4318992"/>
            <a:ext cx="4699695" cy="664220"/>
          </a:xfrm>
          <a:prstGeom prst="roundRect">
            <a:avLst>
              <a:gd name="adj" fmla="val 28664"/>
            </a:avLst>
          </a:prstGeom>
          <a:solidFill>
            <a:srgbClr val="4D4000"/>
          </a:solidFill>
          <a:ln/>
        </p:spPr>
      </p:sp>
      <p:pic>
        <p:nvPicPr>
          <p:cNvPr id="16" name="Image 1" descr="preencoded.png"/>
          <p:cNvPicPr>
            <a:picLocks noChangeAspect="1"/>
          </p:cNvPicPr>
          <p:nvPr/>
        </p:nvPicPr>
        <p:blipFill>
          <a:blip r:embed="rId4"/>
          <a:stretch>
            <a:fillRect/>
          </a:stretch>
        </p:blipFill>
        <p:spPr>
          <a:xfrm>
            <a:off x="634529" y="4541938"/>
            <a:ext cx="158651" cy="126876"/>
          </a:xfrm>
          <a:prstGeom prst="rect">
            <a:avLst/>
          </a:prstGeom>
        </p:spPr>
      </p:pic>
      <p:sp>
        <p:nvSpPr>
          <p:cNvPr id="17" name="Text 13"/>
          <p:cNvSpPr/>
          <p:nvPr/>
        </p:nvSpPr>
        <p:spPr>
          <a:xfrm>
            <a:off x="894710" y="4318993"/>
            <a:ext cx="4160416" cy="527224"/>
          </a:xfrm>
          <a:prstGeom prst="rect">
            <a:avLst/>
          </a:prstGeom>
          <a:noFill/>
          <a:ln/>
        </p:spPr>
        <p:txBody>
          <a:bodyPr wrap="square" lIns="0" tIns="0" rIns="0" bIns="0" rtlCol="0" anchor="t">
            <a:normAutofit/>
          </a:bodyPr>
          <a:lstStyle/>
          <a:p>
            <a:pPr marL="0" indent="0" algn="l">
              <a:lnSpc>
                <a:spcPct val="128000"/>
              </a:lnSpc>
              <a:buNone/>
            </a:pPr>
            <a:r>
              <a:rPr lang="en-US" sz="1400" b="1" dirty="0">
                <a:solidFill>
                  <a:srgbClr val="FFFFFF"/>
                </a:solidFill>
                <a:latin typeface="Arial" panose="020B0604020202020204" pitchFamily="34" charset="0"/>
                <a:ea typeface="Calibri" panose="020F0502020204030204" pitchFamily="34" charset="0"/>
                <a:cs typeface="Arial" panose="020B0604020202020204" pitchFamily="34" charset="0"/>
              </a:rPr>
              <a:t>Purpose:</a:t>
            </a:r>
            <a:r>
              <a:rPr lang="en-US" sz="1400" dirty="0">
                <a:solidFill>
                  <a:srgbClr val="FFFFFF"/>
                </a:solidFill>
                <a:latin typeface="Arial" panose="020B0604020202020204" pitchFamily="34" charset="0"/>
                <a:ea typeface="Calibri" panose="020F0502020204030204" pitchFamily="34" charset="0"/>
                <a:cs typeface="Arial" panose="020B0604020202020204" pitchFamily="34" charset="0"/>
              </a:rPr>
              <a:t> Convert raw transactional data into actionable business insights.</a:t>
            </a:r>
            <a:endParaRPr lang="en-US" sz="1400"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707115" y="46509"/>
            <a:ext cx="3229942" cy="346546"/>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Problem</a:t>
            </a: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 </a:t>
            </a: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Statement</a:t>
            </a:r>
            <a:endParaRPr lang="en-US" sz="3600" dirty="0">
              <a:latin typeface="Arial" panose="020B0604020202020204" pitchFamily="34" charset="0"/>
            </a:endParaRPr>
          </a:p>
        </p:txBody>
      </p:sp>
      <p:sp>
        <p:nvSpPr>
          <p:cNvPr id="4" name="Text 1"/>
          <p:cNvSpPr/>
          <p:nvPr/>
        </p:nvSpPr>
        <p:spPr>
          <a:xfrm>
            <a:off x="3707115" y="558814"/>
            <a:ext cx="1951583" cy="173236"/>
          </a:xfrm>
          <a:prstGeom prst="rect">
            <a:avLst/>
          </a:prstGeom>
          <a:noFill/>
          <a:ln/>
        </p:spPr>
        <p:txBody>
          <a:bodyPr wrap="none" lIns="0" tIns="0" rIns="0" bIns="0" rtlCol="0" anchor="t"/>
          <a:lstStyle/>
          <a:p>
            <a:pPr marL="0" indent="0" algn="l">
              <a:lnSpc>
                <a:spcPct val="104000"/>
              </a:lnSpc>
              <a:buNone/>
            </a:pPr>
            <a:r>
              <a:rPr lang="en-US" sz="1600" dirty="0">
                <a:solidFill>
                  <a:srgbClr val="FFE14D"/>
                </a:solidFill>
                <a:latin typeface="Arial" panose="020B0604020202020204" pitchFamily="34" charset="0"/>
                <a:ea typeface="Calibri" panose="020F0502020204030204" pitchFamily="34" charset="0"/>
                <a:cs typeface="Arial" panose="020B0604020202020204" pitchFamily="34" charset="0"/>
              </a:rPr>
              <a:t>Business Challenges</a:t>
            </a:r>
            <a:endParaRPr lang="en-US" sz="1600" dirty="0">
              <a:latin typeface="Arial" panose="020B0604020202020204" pitchFamily="34" charset="0"/>
            </a:endParaRPr>
          </a:p>
        </p:txBody>
      </p:sp>
      <p:sp>
        <p:nvSpPr>
          <p:cNvPr id="5" name="Text 2"/>
          <p:cNvSpPr/>
          <p:nvPr/>
        </p:nvSpPr>
        <p:spPr>
          <a:xfrm>
            <a:off x="3779520" y="852563"/>
            <a:ext cx="5120640" cy="845864"/>
          </a:xfrm>
          <a:prstGeom prst="rect">
            <a:avLst/>
          </a:prstGeom>
          <a:noFill/>
          <a:ln/>
        </p:spPr>
        <p:txBody>
          <a:bodyPr wrap="square" lIns="0" tIns="0" rIns="0" bIns="0" rtlCol="0" anchor="t">
            <a:noAutofit/>
          </a:bodyPr>
          <a:lstStyle/>
          <a:p>
            <a:pPr marL="0" indent="0" algn="l">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GoldVista's operations were constrained by manual processes and a lack of centralized visibility, making it difficult to monitor performance across branches, products, customers, and staff.</a:t>
            </a:r>
            <a:endParaRPr lang="en-US" sz="1400" dirty="0">
              <a:latin typeface="Arial" panose="020B0604020202020204" pitchFamily="34"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1825600"/>
            <a:ext cx="4731097" cy="899592"/>
          </a:xfrm>
          <a:prstGeom prst="rect">
            <a:avLst/>
          </a:prstGeom>
        </p:spPr>
      </p:pic>
      <p:sp>
        <p:nvSpPr>
          <p:cNvPr id="7" name="Text 3"/>
          <p:cNvSpPr/>
          <p:nvPr/>
        </p:nvSpPr>
        <p:spPr>
          <a:xfrm>
            <a:off x="4109963" y="1964606"/>
            <a:ext cx="1514624"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Reporting &amp; Visibility</a:t>
            </a:r>
            <a:endParaRPr lang="en-US" sz="1600" dirty="0">
              <a:latin typeface="Arial" panose="020B0604020202020204" pitchFamily="34" charset="0"/>
            </a:endParaRPr>
          </a:p>
        </p:txBody>
      </p:sp>
      <p:sp>
        <p:nvSpPr>
          <p:cNvPr id="8" name="Text 4"/>
          <p:cNvSpPr/>
          <p:nvPr/>
        </p:nvSpPr>
        <p:spPr>
          <a:xfrm>
            <a:off x="4109963" y="2205633"/>
            <a:ext cx="4395936" cy="380554"/>
          </a:xfrm>
          <a:prstGeom prst="rect">
            <a:avLst/>
          </a:prstGeom>
          <a:noFill/>
          <a:ln/>
        </p:spPr>
        <p:txBody>
          <a:bodyPr wrap="square" lIns="0" tIns="0" rIns="0" bIns="0" rtlCol="0" anchor="t">
            <a:no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Manual reporting processes with no centralized dashboard. Poor visibility into returns and buy-back activities across branches.</a:t>
            </a:r>
            <a:endParaRPr lang="en-US" sz="1200" dirty="0">
              <a:latin typeface="Arial" panose="020B0604020202020204" pitchFamily="34"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2838227"/>
            <a:ext cx="4731097" cy="899592"/>
          </a:xfrm>
          <a:prstGeom prst="rect">
            <a:avLst/>
          </a:prstGeom>
        </p:spPr>
      </p:pic>
      <p:sp>
        <p:nvSpPr>
          <p:cNvPr id="10" name="Text 5"/>
          <p:cNvSpPr/>
          <p:nvPr/>
        </p:nvSpPr>
        <p:spPr>
          <a:xfrm>
            <a:off x="4109963" y="2884460"/>
            <a:ext cx="1594172"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Performance Tracking</a:t>
            </a:r>
            <a:endParaRPr lang="en-US" sz="1600" dirty="0">
              <a:latin typeface="Arial" panose="020B0604020202020204" pitchFamily="34" charset="0"/>
            </a:endParaRPr>
          </a:p>
        </p:txBody>
      </p:sp>
      <p:sp>
        <p:nvSpPr>
          <p:cNvPr id="11" name="Text 6"/>
          <p:cNvSpPr/>
          <p:nvPr/>
        </p:nvSpPr>
        <p:spPr>
          <a:xfrm>
            <a:off x="4109963" y="3218259"/>
            <a:ext cx="4395936" cy="380554"/>
          </a:xfrm>
          <a:prstGeom prst="rect">
            <a:avLst/>
          </a:prstGeom>
          <a:noFill/>
          <a:ln/>
        </p:spPr>
        <p:txBody>
          <a:bodyPr wrap="square" lIns="0" tIns="0" rIns="0" bIns="0" rtlCol="0" anchor="t">
            <a:no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Difficulty comparing branch performance and monitoring individual salesperson effectiveness.</a:t>
            </a:r>
            <a:endParaRPr lang="en-US" sz="1200" dirty="0">
              <a:latin typeface="Arial" panose="020B0604020202020204" pitchFamily="34" charset="0"/>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3850853"/>
            <a:ext cx="4731097" cy="899592"/>
          </a:xfrm>
          <a:prstGeom prst="rect">
            <a:avLst/>
          </a:prstGeom>
        </p:spPr>
      </p:pic>
      <p:sp>
        <p:nvSpPr>
          <p:cNvPr id="13" name="Text 7"/>
          <p:cNvSpPr/>
          <p:nvPr/>
        </p:nvSpPr>
        <p:spPr>
          <a:xfrm>
            <a:off x="4109963" y="3903241"/>
            <a:ext cx="1386334"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Analytics Gaps</a:t>
            </a:r>
            <a:endParaRPr lang="en-US" sz="1600" dirty="0">
              <a:latin typeface="Arial" panose="020B0604020202020204" pitchFamily="34" charset="0"/>
            </a:endParaRPr>
          </a:p>
        </p:txBody>
      </p:sp>
      <p:sp>
        <p:nvSpPr>
          <p:cNvPr id="14" name="Text 8"/>
          <p:cNvSpPr/>
          <p:nvPr/>
        </p:nvSpPr>
        <p:spPr>
          <a:xfrm>
            <a:off x="4109963" y="4230885"/>
            <a:ext cx="4395936" cy="519559"/>
          </a:xfrm>
          <a:prstGeom prst="rect">
            <a:avLst/>
          </a:prstGeom>
          <a:noFill/>
          <a:ln/>
        </p:spPr>
        <p:txBody>
          <a:bodyPr wrap="square" lIns="0" tIns="0" rIns="0" bIns="0" rtlCol="0" anchor="t">
            <a:norm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Limited customer analytics and no product performance tracking to guide business decisions.</a:t>
            </a:r>
            <a:endParaRPr lang="en-US" sz="1200"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0664" y="309311"/>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Project Objectives</a:t>
            </a:r>
            <a:endParaRPr lang="en-US" sz="3200" dirty="0">
              <a:latin typeface="Arial" panose="020B0604020202020204" pitchFamily="34" charset="0"/>
            </a:endParaRPr>
          </a:p>
        </p:txBody>
      </p:sp>
      <p:sp>
        <p:nvSpPr>
          <p:cNvPr id="3" name="Text 1"/>
          <p:cNvSpPr/>
          <p:nvPr/>
        </p:nvSpPr>
        <p:spPr>
          <a:xfrm>
            <a:off x="550664" y="1173481"/>
            <a:ext cx="8042672" cy="797674"/>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The project aimed to build a comprehensive BI solution addressing every layer of GoldVista's operations — from executive KPIs to frontline salesperson performance.</a:t>
            </a:r>
            <a:endParaRPr lang="en-US" sz="14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664" y="2126010"/>
            <a:ext cx="344165" cy="344165"/>
          </a:xfrm>
          <a:prstGeom prst="rect">
            <a:avLst/>
          </a:prstGeom>
        </p:spPr>
      </p:pic>
      <p:sp>
        <p:nvSpPr>
          <p:cNvPr id="5" name="Text 2"/>
          <p:cNvSpPr/>
          <p:nvPr/>
        </p:nvSpPr>
        <p:spPr>
          <a:xfrm>
            <a:off x="1066874" y="2126010"/>
            <a:ext cx="1773882"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Interactive BI Solution</a:t>
            </a:r>
            <a:endParaRPr lang="en-US" sz="1600" dirty="0">
              <a:latin typeface="Arial" panose="020B0604020202020204" pitchFamily="34" charset="0"/>
            </a:endParaRPr>
          </a:p>
        </p:txBody>
      </p:sp>
      <p:sp>
        <p:nvSpPr>
          <p:cNvPr id="6" name="Text 3"/>
          <p:cNvSpPr/>
          <p:nvPr/>
        </p:nvSpPr>
        <p:spPr>
          <a:xfrm>
            <a:off x="1066874" y="2399854"/>
            <a:ext cx="3419103" cy="660797"/>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Build an interactive BI solution to track executive KPIs and enable data-driven decision-making across the business.</a:t>
            </a:r>
            <a:endParaRPr lang="en-US" sz="12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8023" y="2126010"/>
            <a:ext cx="344165" cy="344165"/>
          </a:xfrm>
          <a:prstGeom prst="rect">
            <a:avLst/>
          </a:prstGeom>
        </p:spPr>
      </p:pic>
      <p:sp>
        <p:nvSpPr>
          <p:cNvPr id="8" name="Text 4"/>
          <p:cNvSpPr/>
          <p:nvPr/>
        </p:nvSpPr>
        <p:spPr>
          <a:xfrm>
            <a:off x="5174233" y="2126010"/>
            <a:ext cx="2267843"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Branch &amp; Customer Analysis</a:t>
            </a:r>
            <a:endParaRPr lang="en-US" sz="1600" dirty="0">
              <a:latin typeface="Arial" panose="020B0604020202020204" pitchFamily="34" charset="0"/>
            </a:endParaRPr>
          </a:p>
        </p:txBody>
      </p:sp>
      <p:sp>
        <p:nvSpPr>
          <p:cNvPr id="9" name="Text 5"/>
          <p:cNvSpPr/>
          <p:nvPr/>
        </p:nvSpPr>
        <p:spPr>
          <a:xfrm>
            <a:off x="5174233" y="2399854"/>
            <a:ext cx="3419103" cy="660797"/>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Analyze branch performance and understand customer behavior to identify trends and opportunities.</a:t>
            </a:r>
            <a:endParaRPr lang="en-US" sz="120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664" y="3335982"/>
            <a:ext cx="344165" cy="344165"/>
          </a:xfrm>
          <a:prstGeom prst="rect">
            <a:avLst/>
          </a:prstGeom>
        </p:spPr>
      </p:pic>
      <p:sp>
        <p:nvSpPr>
          <p:cNvPr id="11" name="Text 6"/>
          <p:cNvSpPr/>
          <p:nvPr/>
        </p:nvSpPr>
        <p:spPr>
          <a:xfrm>
            <a:off x="1066874" y="3335982"/>
            <a:ext cx="2393231"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Product &amp; Returns Monitoring</a:t>
            </a:r>
            <a:endParaRPr lang="en-US" sz="1600" dirty="0">
              <a:latin typeface="Arial" panose="020B0604020202020204" pitchFamily="34" charset="0"/>
            </a:endParaRPr>
          </a:p>
        </p:txBody>
      </p:sp>
      <p:sp>
        <p:nvSpPr>
          <p:cNvPr id="12" name="Text 7"/>
          <p:cNvSpPr/>
          <p:nvPr/>
        </p:nvSpPr>
        <p:spPr>
          <a:xfrm>
            <a:off x="1066874" y="3609826"/>
            <a:ext cx="3419103" cy="660797"/>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Evaluate product performance and monitor returns and buy-back trends to optimize inventory and operations.</a:t>
            </a:r>
            <a:endParaRPr lang="en-US" sz="120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8023" y="3335982"/>
            <a:ext cx="344165" cy="344165"/>
          </a:xfrm>
          <a:prstGeom prst="rect">
            <a:avLst/>
          </a:prstGeom>
        </p:spPr>
      </p:pic>
      <p:sp>
        <p:nvSpPr>
          <p:cNvPr id="14" name="Text 8"/>
          <p:cNvSpPr/>
          <p:nvPr/>
        </p:nvSpPr>
        <p:spPr>
          <a:xfrm>
            <a:off x="5174233" y="3335982"/>
            <a:ext cx="2555156"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Payment &amp; Salesperson Insights</a:t>
            </a:r>
            <a:endParaRPr lang="en-US" sz="1600" dirty="0">
              <a:latin typeface="Arial" panose="020B0604020202020204" pitchFamily="34" charset="0"/>
            </a:endParaRPr>
          </a:p>
        </p:txBody>
      </p:sp>
      <p:sp>
        <p:nvSpPr>
          <p:cNvPr id="15" name="Text 9"/>
          <p:cNvSpPr/>
          <p:nvPr/>
        </p:nvSpPr>
        <p:spPr>
          <a:xfrm>
            <a:off x="5174233" y="3609826"/>
            <a:ext cx="3419103" cy="440531"/>
          </a:xfrm>
          <a:prstGeom prst="rect">
            <a:avLst/>
          </a:prstGeom>
          <a:noFill/>
          <a:ln/>
        </p:spPr>
        <p:txBody>
          <a:bodyPr wrap="square" lIns="0" tIns="0" rIns="0" bIns="0" rtlCol="0" anchor="t">
            <a:normAutofit fontScale="925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Analyze payment method preferences and measure salesperson effectiveness across all branches.</a:t>
            </a:r>
            <a:endParaRPr lang="en-US" sz="12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73273" y="168770"/>
            <a:ext cx="3086546" cy="32861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Technology Stack</a:t>
            </a:r>
            <a:endParaRPr lang="en-US" sz="2800" dirty="0">
              <a:latin typeface="Arial" panose="020B0604020202020204" pitchFamily="34" charset="0"/>
            </a:endParaRPr>
          </a:p>
        </p:txBody>
      </p:sp>
      <p:sp>
        <p:nvSpPr>
          <p:cNvPr id="3" name="Text 1"/>
          <p:cNvSpPr/>
          <p:nvPr/>
        </p:nvSpPr>
        <p:spPr>
          <a:xfrm>
            <a:off x="473273" y="615701"/>
            <a:ext cx="8654653" cy="509439"/>
          </a:xfrm>
          <a:prstGeom prst="rect">
            <a:avLst/>
          </a:prstGeom>
          <a:noFill/>
          <a:ln/>
        </p:spPr>
        <p:txBody>
          <a:bodyPr wrap="none" lIns="0" tIns="0" rIns="0" bIns="0" rtlCol="0" anchor="t"/>
          <a:lstStyle/>
          <a:p>
            <a:pPr marL="0" indent="0" algn="l">
              <a:lnSpc>
                <a:spcPct val="124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Each layer of the project leverages a purpose-built tool, forming a modern, end-to-end analytics pipeline from raw</a:t>
            </a:r>
          </a:p>
          <a:p>
            <a:pPr marL="0" indent="0" algn="l">
              <a:lnSpc>
                <a:spcPct val="124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data to interactive dashboards.</a:t>
            </a:r>
            <a:endParaRPr lang="en-US" sz="1400" dirty="0">
              <a:latin typeface="Arial" panose="020B0604020202020204" pitchFamily="34" charset="0"/>
            </a:endParaRPr>
          </a:p>
        </p:txBody>
      </p:sp>
      <p:sp>
        <p:nvSpPr>
          <p:cNvPr id="4" name="Shape 2"/>
          <p:cNvSpPr/>
          <p:nvPr/>
        </p:nvSpPr>
        <p:spPr>
          <a:xfrm>
            <a:off x="473273" y="1239515"/>
            <a:ext cx="4047902" cy="1094482"/>
          </a:xfrm>
          <a:prstGeom prst="roundRect">
            <a:avLst>
              <a:gd name="adj" fmla="val 16216"/>
            </a:avLst>
          </a:prstGeom>
          <a:solidFill>
            <a:srgbClr val="46464A"/>
          </a:solidFill>
          <a:ln/>
        </p:spPr>
      </p:sp>
      <p:sp>
        <p:nvSpPr>
          <p:cNvPr id="5" name="Shape 3"/>
          <p:cNvSpPr/>
          <p:nvPr/>
        </p:nvSpPr>
        <p:spPr>
          <a:xfrm>
            <a:off x="591592" y="1357833"/>
            <a:ext cx="354955" cy="354955"/>
          </a:xfrm>
          <a:prstGeom prst="roundRect">
            <a:avLst>
              <a:gd name="adj" fmla="val 16099022"/>
            </a:avLst>
          </a:prstGeom>
          <a:solidFill>
            <a:srgbClr val="FFE14D"/>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23" y="1455390"/>
            <a:ext cx="159693" cy="159693"/>
          </a:xfrm>
          <a:prstGeom prst="rect">
            <a:avLst/>
          </a:prstGeom>
        </p:spPr>
      </p:pic>
      <p:sp>
        <p:nvSpPr>
          <p:cNvPr id="7" name="Text 4"/>
          <p:cNvSpPr/>
          <p:nvPr/>
        </p:nvSpPr>
        <p:spPr>
          <a:xfrm>
            <a:off x="591592" y="1814438"/>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endParaRPr lang="en-US" sz="1100" dirty="0">
              <a:latin typeface="Arial" panose="020B0604020202020204" pitchFamily="34" charset="0"/>
            </a:endParaRPr>
          </a:p>
        </p:txBody>
      </p:sp>
      <p:sp>
        <p:nvSpPr>
          <p:cNvPr id="8" name="Text 5"/>
          <p:cNvSpPr/>
          <p:nvPr/>
        </p:nvSpPr>
        <p:spPr>
          <a:xfrm>
            <a:off x="591592" y="2039689"/>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Database layer for storing and querying transactional data</a:t>
            </a:r>
            <a:endParaRPr lang="en-US" sz="1050" dirty="0">
              <a:latin typeface="Arial" panose="020B0604020202020204" pitchFamily="34" charset="0"/>
            </a:endParaRPr>
          </a:p>
        </p:txBody>
      </p:sp>
      <p:sp>
        <p:nvSpPr>
          <p:cNvPr id="9" name="Shape 6"/>
          <p:cNvSpPr/>
          <p:nvPr/>
        </p:nvSpPr>
        <p:spPr>
          <a:xfrm>
            <a:off x="4622825" y="1239515"/>
            <a:ext cx="4047902" cy="1094482"/>
          </a:xfrm>
          <a:prstGeom prst="roundRect">
            <a:avLst>
              <a:gd name="adj" fmla="val 16216"/>
            </a:avLst>
          </a:prstGeom>
          <a:solidFill>
            <a:srgbClr val="46464A"/>
          </a:solidFill>
          <a:ln/>
        </p:spPr>
      </p:sp>
      <p:sp>
        <p:nvSpPr>
          <p:cNvPr id="10" name="Shape 7"/>
          <p:cNvSpPr/>
          <p:nvPr/>
        </p:nvSpPr>
        <p:spPr>
          <a:xfrm>
            <a:off x="4741143" y="1357833"/>
            <a:ext cx="354955" cy="354955"/>
          </a:xfrm>
          <a:prstGeom prst="roundRect">
            <a:avLst>
              <a:gd name="adj" fmla="val 16099022"/>
            </a:avLst>
          </a:prstGeom>
          <a:solidFill>
            <a:srgbClr val="FFE14D"/>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38774" y="1455390"/>
            <a:ext cx="159693" cy="159693"/>
          </a:xfrm>
          <a:prstGeom prst="rect">
            <a:avLst/>
          </a:prstGeom>
        </p:spPr>
      </p:pic>
      <p:sp>
        <p:nvSpPr>
          <p:cNvPr id="12" name="Text 8"/>
          <p:cNvSpPr/>
          <p:nvPr/>
        </p:nvSpPr>
        <p:spPr>
          <a:xfrm>
            <a:off x="4741143" y="1814438"/>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SQL</a:t>
            </a:r>
            <a:endParaRPr lang="en-US" sz="1100" dirty="0">
              <a:latin typeface="Arial" panose="020B0604020202020204" pitchFamily="34" charset="0"/>
            </a:endParaRPr>
          </a:p>
        </p:txBody>
      </p:sp>
      <p:sp>
        <p:nvSpPr>
          <p:cNvPr id="13" name="Text 9"/>
          <p:cNvSpPr/>
          <p:nvPr/>
        </p:nvSpPr>
        <p:spPr>
          <a:xfrm>
            <a:off x="4741143" y="2039689"/>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Data cleaning and transformation using SQL views</a:t>
            </a:r>
            <a:endParaRPr lang="en-US" sz="1050" dirty="0">
              <a:latin typeface="Arial" panose="020B0604020202020204" pitchFamily="34" charset="0"/>
            </a:endParaRPr>
          </a:p>
        </p:txBody>
      </p:sp>
      <p:sp>
        <p:nvSpPr>
          <p:cNvPr id="14" name="Shape 10"/>
          <p:cNvSpPr/>
          <p:nvPr/>
        </p:nvSpPr>
        <p:spPr>
          <a:xfrm>
            <a:off x="473273" y="2435647"/>
            <a:ext cx="4047902" cy="1094482"/>
          </a:xfrm>
          <a:prstGeom prst="roundRect">
            <a:avLst>
              <a:gd name="adj" fmla="val 16216"/>
            </a:avLst>
          </a:prstGeom>
          <a:solidFill>
            <a:srgbClr val="46464A"/>
          </a:solidFill>
          <a:ln/>
        </p:spPr>
      </p:sp>
      <p:sp>
        <p:nvSpPr>
          <p:cNvPr id="15" name="Shape 11"/>
          <p:cNvSpPr/>
          <p:nvPr/>
        </p:nvSpPr>
        <p:spPr>
          <a:xfrm>
            <a:off x="591592" y="2553965"/>
            <a:ext cx="354955" cy="354955"/>
          </a:xfrm>
          <a:prstGeom prst="roundRect">
            <a:avLst>
              <a:gd name="adj" fmla="val 16099022"/>
            </a:avLst>
          </a:prstGeom>
          <a:solidFill>
            <a:srgbClr val="FFE14D"/>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9223" y="2651522"/>
            <a:ext cx="159693" cy="159693"/>
          </a:xfrm>
          <a:prstGeom prst="rect">
            <a:avLst/>
          </a:prstGeom>
        </p:spPr>
      </p:pic>
      <p:sp>
        <p:nvSpPr>
          <p:cNvPr id="17" name="Text 12"/>
          <p:cNvSpPr/>
          <p:nvPr/>
        </p:nvSpPr>
        <p:spPr>
          <a:xfrm>
            <a:off x="591592" y="3010570"/>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SQL + DAX</a:t>
            </a:r>
            <a:endParaRPr lang="en-US" sz="1100" dirty="0">
              <a:latin typeface="Arial" panose="020B0604020202020204" pitchFamily="34" charset="0"/>
            </a:endParaRPr>
          </a:p>
        </p:txBody>
      </p:sp>
      <p:sp>
        <p:nvSpPr>
          <p:cNvPr id="18" name="Text 13"/>
          <p:cNvSpPr/>
          <p:nvPr/>
        </p:nvSpPr>
        <p:spPr>
          <a:xfrm>
            <a:off x="591592" y="3235821"/>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Business analysis and calculated measures</a:t>
            </a:r>
            <a:endParaRPr lang="en-US" sz="1050" dirty="0">
              <a:latin typeface="Arial" panose="020B0604020202020204" pitchFamily="34" charset="0"/>
            </a:endParaRPr>
          </a:p>
        </p:txBody>
      </p:sp>
      <p:sp>
        <p:nvSpPr>
          <p:cNvPr id="19" name="Shape 14"/>
          <p:cNvSpPr/>
          <p:nvPr/>
        </p:nvSpPr>
        <p:spPr>
          <a:xfrm>
            <a:off x="4622825" y="2435647"/>
            <a:ext cx="4047902" cy="1094482"/>
          </a:xfrm>
          <a:prstGeom prst="roundRect">
            <a:avLst>
              <a:gd name="adj" fmla="val 16216"/>
            </a:avLst>
          </a:prstGeom>
          <a:solidFill>
            <a:srgbClr val="46464A"/>
          </a:solidFill>
          <a:ln/>
        </p:spPr>
      </p:sp>
      <p:sp>
        <p:nvSpPr>
          <p:cNvPr id="20" name="Shape 15"/>
          <p:cNvSpPr/>
          <p:nvPr/>
        </p:nvSpPr>
        <p:spPr>
          <a:xfrm>
            <a:off x="4741143" y="2553965"/>
            <a:ext cx="354955" cy="354955"/>
          </a:xfrm>
          <a:prstGeom prst="roundRect">
            <a:avLst>
              <a:gd name="adj" fmla="val 16099022"/>
            </a:avLst>
          </a:prstGeom>
          <a:solidFill>
            <a:srgbClr val="FFE14D"/>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38774" y="2651522"/>
            <a:ext cx="159693" cy="159693"/>
          </a:xfrm>
          <a:prstGeom prst="rect">
            <a:avLst/>
          </a:prstGeom>
        </p:spPr>
      </p:pic>
      <p:sp>
        <p:nvSpPr>
          <p:cNvPr id="22" name="Text 16"/>
          <p:cNvSpPr/>
          <p:nvPr/>
        </p:nvSpPr>
        <p:spPr>
          <a:xfrm>
            <a:off x="4741143" y="3010570"/>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endParaRPr lang="en-US" sz="1100" dirty="0">
              <a:latin typeface="Arial" panose="020B0604020202020204" pitchFamily="34" charset="0"/>
            </a:endParaRPr>
          </a:p>
        </p:txBody>
      </p:sp>
      <p:sp>
        <p:nvSpPr>
          <p:cNvPr id="23" name="Text 17"/>
          <p:cNvSpPr/>
          <p:nvPr/>
        </p:nvSpPr>
        <p:spPr>
          <a:xfrm>
            <a:off x="4741143" y="3235821"/>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Interactive visualization and dashboard layer</a:t>
            </a:r>
            <a:endParaRPr lang="en-US" sz="1050" dirty="0">
              <a:latin typeface="Arial" panose="020B0604020202020204" pitchFamily="34" charset="0"/>
            </a:endParaRPr>
          </a:p>
        </p:txBody>
      </p:sp>
      <p:sp>
        <p:nvSpPr>
          <p:cNvPr id="24" name="Shape 18"/>
          <p:cNvSpPr/>
          <p:nvPr/>
        </p:nvSpPr>
        <p:spPr>
          <a:xfrm>
            <a:off x="473273" y="3631778"/>
            <a:ext cx="4047902" cy="1094482"/>
          </a:xfrm>
          <a:prstGeom prst="roundRect">
            <a:avLst>
              <a:gd name="adj" fmla="val 16216"/>
            </a:avLst>
          </a:prstGeom>
          <a:solidFill>
            <a:srgbClr val="46464A"/>
          </a:solidFill>
          <a:ln/>
        </p:spPr>
      </p:sp>
      <p:sp>
        <p:nvSpPr>
          <p:cNvPr id="25" name="Shape 19"/>
          <p:cNvSpPr/>
          <p:nvPr/>
        </p:nvSpPr>
        <p:spPr>
          <a:xfrm>
            <a:off x="591592" y="3750097"/>
            <a:ext cx="354955" cy="354955"/>
          </a:xfrm>
          <a:prstGeom prst="roundRect">
            <a:avLst>
              <a:gd name="adj" fmla="val 16099022"/>
            </a:avLst>
          </a:prstGeom>
          <a:solidFill>
            <a:srgbClr val="FFE14D"/>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9223" y="3847654"/>
            <a:ext cx="159693" cy="159693"/>
          </a:xfrm>
          <a:prstGeom prst="rect">
            <a:avLst/>
          </a:prstGeom>
        </p:spPr>
      </p:pic>
      <p:sp>
        <p:nvSpPr>
          <p:cNvPr id="27" name="Text 20"/>
          <p:cNvSpPr/>
          <p:nvPr/>
        </p:nvSpPr>
        <p:spPr>
          <a:xfrm>
            <a:off x="591592" y="4206701"/>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GitHub</a:t>
            </a:r>
            <a:endParaRPr lang="en-US" sz="1100" dirty="0">
              <a:latin typeface="Arial" panose="020B0604020202020204" pitchFamily="34" charset="0"/>
            </a:endParaRPr>
          </a:p>
        </p:txBody>
      </p:sp>
      <p:sp>
        <p:nvSpPr>
          <p:cNvPr id="28" name="Text 21"/>
          <p:cNvSpPr/>
          <p:nvPr/>
        </p:nvSpPr>
        <p:spPr>
          <a:xfrm>
            <a:off x="591592" y="4431953"/>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Version control for all project files and scripts</a:t>
            </a:r>
            <a:endParaRPr lang="en-US" sz="1050" dirty="0">
              <a:latin typeface="Arial" panose="020B0604020202020204" pitchFamily="34" charset="0"/>
            </a:endParaRPr>
          </a:p>
        </p:txBody>
      </p:sp>
      <p:sp>
        <p:nvSpPr>
          <p:cNvPr id="29" name="Shape 22"/>
          <p:cNvSpPr/>
          <p:nvPr/>
        </p:nvSpPr>
        <p:spPr>
          <a:xfrm>
            <a:off x="4622825" y="3631778"/>
            <a:ext cx="4047902" cy="1094482"/>
          </a:xfrm>
          <a:prstGeom prst="roundRect">
            <a:avLst>
              <a:gd name="adj" fmla="val 16216"/>
            </a:avLst>
          </a:prstGeom>
          <a:solidFill>
            <a:srgbClr val="46464A"/>
          </a:solidFill>
          <a:ln/>
        </p:spPr>
      </p:sp>
      <p:sp>
        <p:nvSpPr>
          <p:cNvPr id="30" name="Shape 23"/>
          <p:cNvSpPr/>
          <p:nvPr/>
        </p:nvSpPr>
        <p:spPr>
          <a:xfrm>
            <a:off x="4741143" y="3750097"/>
            <a:ext cx="354955" cy="354955"/>
          </a:xfrm>
          <a:prstGeom prst="roundRect">
            <a:avLst>
              <a:gd name="adj" fmla="val 16099022"/>
            </a:avLst>
          </a:prstGeom>
          <a:solidFill>
            <a:srgbClr val="FFE14D"/>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38774" y="3847654"/>
            <a:ext cx="159693" cy="159693"/>
          </a:xfrm>
          <a:prstGeom prst="rect">
            <a:avLst/>
          </a:prstGeom>
        </p:spPr>
      </p:pic>
      <p:sp>
        <p:nvSpPr>
          <p:cNvPr id="32" name="Text 24"/>
          <p:cNvSpPr/>
          <p:nvPr/>
        </p:nvSpPr>
        <p:spPr>
          <a:xfrm>
            <a:off x="4741143" y="4206701"/>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Excel</a:t>
            </a:r>
            <a:endParaRPr lang="en-US" sz="1100" dirty="0">
              <a:latin typeface="Arial" panose="020B0604020202020204" pitchFamily="34" charset="0"/>
            </a:endParaRPr>
          </a:p>
        </p:txBody>
      </p:sp>
      <p:sp>
        <p:nvSpPr>
          <p:cNvPr id="33" name="Text 25"/>
          <p:cNvSpPr/>
          <p:nvPr/>
        </p:nvSpPr>
        <p:spPr>
          <a:xfrm>
            <a:off x="4741143" y="4431953"/>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Documentation and supplementary data analysis</a:t>
            </a:r>
            <a:endParaRPr lang="en-US" sz="105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4674" y="128290"/>
            <a:ext cx="2694325" cy="313670"/>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Project Architecture</a:t>
            </a:r>
            <a:endParaRPr lang="en-US" sz="2400" dirty="0">
              <a:latin typeface="Arial" panose="020B0604020202020204" pitchFamily="34" charset="0"/>
            </a:endParaRPr>
          </a:p>
        </p:txBody>
      </p:sp>
      <p:sp>
        <p:nvSpPr>
          <p:cNvPr id="3" name="Text 1"/>
          <p:cNvSpPr/>
          <p:nvPr/>
        </p:nvSpPr>
        <p:spPr>
          <a:xfrm>
            <a:off x="586742" y="441961"/>
            <a:ext cx="7414258" cy="708660"/>
          </a:xfrm>
          <a:prstGeom prst="rect">
            <a:avLst/>
          </a:prstGeom>
          <a:noFill/>
          <a:ln/>
        </p:spPr>
        <p:txBody>
          <a:bodyPr wrap="square" lIns="0" tIns="0" rIns="0" bIns="0" rtlCol="0" anchor="t">
            <a:noAutofit/>
          </a:bodyPr>
          <a:lstStyle/>
          <a:p>
            <a:pPr>
              <a:lnSpc>
                <a:spcPct val="110000"/>
              </a:lnSpc>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The complete data flow moves from raw source data through a structured pipeline transaction data through to business insights and recommendations</a:t>
            </a:r>
            <a:endParaRPr lang="en-US" sz="1400" dirty="0">
              <a:latin typeface="Arial" panose="020B0604020202020204" pitchFamily="34" charset="0"/>
            </a:endParaRPr>
          </a:p>
        </p:txBody>
      </p:sp>
      <p:sp>
        <p:nvSpPr>
          <p:cNvPr id="5" name="Text 2"/>
          <p:cNvSpPr/>
          <p:nvPr/>
        </p:nvSpPr>
        <p:spPr>
          <a:xfrm>
            <a:off x="411480" y="4122420"/>
            <a:ext cx="8008621" cy="883920"/>
          </a:xfrm>
          <a:prstGeom prst="rect">
            <a:avLst/>
          </a:prstGeom>
          <a:noFill/>
          <a:ln/>
        </p:spPr>
        <p:txBody>
          <a:bodyPr wrap="square" lIns="0" tIns="0" rIns="0" bIns="0" rtlCol="0" anchor="t">
            <a:normAutofit lnSpcReduction="10000"/>
          </a:bodyPr>
          <a:lstStyle/>
          <a:p>
            <a:pPr marL="0" indent="0" algn="just">
              <a:lnSpc>
                <a:spcPct val="110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Source data from GoldVista's branches flows into a PostgreSQL database, where SQL cleaning views standardize and prepare the data. A star schema organizes the cleaned data into fact and dimension tables, which Power BI consumes to build its data model with DAX measures. The result is a set of interactive dashboards that enable business decision-making across the organization.</a:t>
            </a:r>
            <a:endParaRPr lang="en-US" sz="1400" dirty="0">
              <a:latin typeface="Arial" panose="020B0604020202020204" pitchFamily="34" charset="0"/>
            </a:endParaRPr>
          </a:p>
        </p:txBody>
      </p:sp>
      <p:pic>
        <p:nvPicPr>
          <p:cNvPr id="6" name="Image 0">
            <a:extLst>
              <a:ext uri="{FF2B5EF4-FFF2-40B4-BE49-F238E27FC236}">
                <a16:creationId xmlns:a16="http://schemas.microsoft.com/office/drawing/2014/main" id="{9B174F78-4CF4-2448-B7C5-6ABA8BF631F0}"/>
              </a:ext>
            </a:extLst>
          </p:cNvPr>
          <p:cNvPicPr>
            <a:picLocks noChangeAspect="1"/>
          </p:cNvPicPr>
          <p:nvPr/>
        </p:nvPicPr>
        <p:blipFill>
          <a:blip r:embed="rId3"/>
          <a:stretch>
            <a:fillRect/>
          </a:stretch>
        </p:blipFill>
        <p:spPr>
          <a:xfrm>
            <a:off x="1295400" y="891540"/>
            <a:ext cx="6065520" cy="32368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228228" y="477932"/>
            <a:ext cx="5121012" cy="992728"/>
          </a:xfrm>
          <a:prstGeom prst="rect">
            <a:avLst/>
          </a:prstGeom>
          <a:noFill/>
          <a:ln/>
        </p:spPr>
        <p:txBody>
          <a:bodyPr wrap="square" lIns="0" tIns="0" rIns="0" bIns="0" rtlCol="0" anchor="t">
            <a:noAutofit/>
          </a:bodyPr>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Data Cleaning &amp; Transformation</a:t>
            </a:r>
            <a:endParaRPr lang="en-US" sz="3200" dirty="0">
              <a:latin typeface="Arial" panose="020B0604020202020204" pitchFamily="34" charset="0"/>
            </a:endParaRPr>
          </a:p>
        </p:txBody>
      </p:sp>
      <p:sp>
        <p:nvSpPr>
          <p:cNvPr id="4" name="Text 1"/>
          <p:cNvSpPr/>
          <p:nvPr/>
        </p:nvSpPr>
        <p:spPr>
          <a:xfrm>
            <a:off x="162520" y="1853162"/>
            <a:ext cx="5438180" cy="1324377"/>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Before building the dashboards, the raw transactional data was cleaned and validated using SQL to ensure accuracy and consistency. This section covers the data preparation process, the DAX measures that powered the Power BI dashboards, the challenges encountered, and future enhancement opportunities.</a:t>
            </a:r>
            <a:endParaRPr lang="en-US" sz="1400" dirty="0">
              <a:latin typeface="Arial" panose="020B0604020202020204" pitchFamily="34" charset="0"/>
            </a:endParaRPr>
          </a:p>
        </p:txBody>
      </p:sp>
      <p:sp>
        <p:nvSpPr>
          <p:cNvPr id="5" name="Shape 2"/>
          <p:cNvSpPr/>
          <p:nvPr/>
        </p:nvSpPr>
        <p:spPr>
          <a:xfrm>
            <a:off x="550664" y="3556174"/>
            <a:ext cx="1530138" cy="268336"/>
          </a:xfrm>
          <a:prstGeom prst="roundRect">
            <a:avLst>
              <a:gd name="adj" fmla="val 63838"/>
            </a:avLst>
          </a:prstGeom>
          <a:solidFill>
            <a:srgbClr val="4D4000"/>
          </a:solidFill>
          <a:ln/>
        </p:spPr>
      </p:sp>
      <p:sp>
        <p:nvSpPr>
          <p:cNvPr id="6" name="Text 3"/>
          <p:cNvSpPr/>
          <p:nvPr/>
        </p:nvSpPr>
        <p:spPr>
          <a:xfrm>
            <a:off x="633264" y="3597473"/>
            <a:ext cx="1500262" cy="176213"/>
          </a:xfrm>
          <a:prstGeom prst="rect">
            <a:avLst/>
          </a:prstGeom>
          <a:noFill/>
          <a:ln/>
        </p:spPr>
        <p:txBody>
          <a:bodyPr wrap="none" lIns="0" tIns="0" rIns="0" bIns="0" rtlCol="0" anchor="t"/>
          <a:lstStyle/>
          <a:p>
            <a:pPr marL="0" indent="0" algn="l">
              <a:lnSpc>
                <a:spcPct val="133000"/>
              </a:lnSpc>
              <a:buNone/>
            </a:pPr>
            <a:r>
              <a:rPr lang="en-US" sz="1000" dirty="0">
                <a:solidFill>
                  <a:srgbClr val="D7D4CC"/>
                </a:solidFill>
                <a:latin typeface="Arial" panose="020B0604020202020204" pitchFamily="34" charset="0"/>
                <a:ea typeface="Calibri" panose="020F0502020204030204" pitchFamily="34" charset="0"/>
                <a:cs typeface="Arial" panose="020B0604020202020204" pitchFamily="34" charset="0"/>
              </a:rPr>
              <a:t>DATA ENGINEERING</a:t>
            </a:r>
            <a:endParaRPr lang="en-US" sz="1000" dirty="0">
              <a:latin typeface="Arial" panose="020B0604020202020204" pitchFamily="34" charset="0"/>
            </a:endParaRPr>
          </a:p>
        </p:txBody>
      </p:sp>
      <p:sp>
        <p:nvSpPr>
          <p:cNvPr id="7" name="Shape 4"/>
          <p:cNvSpPr/>
          <p:nvPr/>
        </p:nvSpPr>
        <p:spPr>
          <a:xfrm>
            <a:off x="2303988" y="3597965"/>
            <a:ext cx="876619" cy="226546"/>
          </a:xfrm>
          <a:prstGeom prst="roundRect">
            <a:avLst>
              <a:gd name="adj" fmla="val 61572"/>
            </a:avLst>
          </a:prstGeom>
          <a:noFill/>
          <a:ln w="4763">
            <a:solidFill>
              <a:srgbClr val="FFE14D"/>
            </a:solidFill>
            <a:prstDash val="solid"/>
          </a:ln>
        </p:spPr>
      </p:sp>
      <p:sp>
        <p:nvSpPr>
          <p:cNvPr id="8" name="Text 5"/>
          <p:cNvSpPr/>
          <p:nvPr/>
        </p:nvSpPr>
        <p:spPr>
          <a:xfrm>
            <a:off x="2376560" y="3631985"/>
            <a:ext cx="989781" cy="176213"/>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POWER BI</a:t>
            </a:r>
            <a:endParaRPr lang="en-US" sz="1000" dirty="0">
              <a:latin typeface="Arial" panose="020B0604020202020204" pitchFamily="34" charset="0"/>
            </a:endParaRPr>
          </a:p>
        </p:txBody>
      </p:sp>
      <p:sp>
        <p:nvSpPr>
          <p:cNvPr id="9" name="Shape 6"/>
          <p:cNvSpPr/>
          <p:nvPr/>
        </p:nvSpPr>
        <p:spPr>
          <a:xfrm>
            <a:off x="3529422" y="3622000"/>
            <a:ext cx="388144" cy="268337"/>
          </a:xfrm>
          <a:prstGeom prst="roundRect">
            <a:avLst>
              <a:gd name="adj" fmla="val 61572"/>
            </a:avLst>
          </a:prstGeom>
          <a:noFill/>
          <a:ln w="4763">
            <a:solidFill>
              <a:srgbClr val="FFE14D"/>
            </a:solidFill>
            <a:prstDash val="solid"/>
          </a:ln>
        </p:spPr>
      </p:sp>
      <p:sp>
        <p:nvSpPr>
          <p:cNvPr id="10" name="Text 7"/>
          <p:cNvSpPr/>
          <p:nvPr/>
        </p:nvSpPr>
        <p:spPr>
          <a:xfrm>
            <a:off x="3595760" y="3631986"/>
            <a:ext cx="670620" cy="176213"/>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SQL</a:t>
            </a:r>
            <a:endParaRPr lang="en-US" sz="1000"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1652" y="0"/>
            <a:ext cx="3151584" cy="239018"/>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The Data Cleaning Process</a:t>
            </a:r>
            <a:endParaRPr lang="en-US" sz="2400" dirty="0">
              <a:latin typeface="Arial" panose="020B0604020202020204" pitchFamily="34" charset="0"/>
            </a:endParaRPr>
          </a:p>
        </p:txBody>
      </p:sp>
      <p:sp>
        <p:nvSpPr>
          <p:cNvPr id="3" name="Text 1"/>
          <p:cNvSpPr/>
          <p:nvPr/>
        </p:nvSpPr>
        <p:spPr>
          <a:xfrm>
            <a:off x="411480" y="416495"/>
            <a:ext cx="8282940" cy="641449"/>
          </a:xfrm>
          <a:prstGeom prst="rect">
            <a:avLst/>
          </a:prstGeom>
          <a:noFill/>
          <a:ln/>
        </p:spPr>
        <p:txBody>
          <a:bodyPr wrap="square" lIns="0" tIns="0" rIns="0" bIns="0" rtlCol="0" anchor="t">
            <a:noAutofit/>
          </a:bodyPr>
          <a:lstStyle/>
          <a:p>
            <a:pPr marL="0" indent="0" algn="l">
              <a:lnSpc>
                <a:spcPct val="10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Raw transactional data was cleaned and validated using SQL to ensure accuracy and consistency before any analysis was performed. The following steps were applied to prepare the dataset for reporting.</a:t>
            </a:r>
            <a:endParaRPr lang="en-US" sz="14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1119635"/>
            <a:ext cx="6658288" cy="516285"/>
          </a:xfrm>
          <a:prstGeom prst="rect">
            <a:avLst/>
          </a:prstGeom>
        </p:spPr>
      </p:pic>
      <p:sp>
        <p:nvSpPr>
          <p:cNvPr id="5" name="Text 2"/>
          <p:cNvSpPr/>
          <p:nvPr/>
        </p:nvSpPr>
        <p:spPr>
          <a:xfrm>
            <a:off x="1673125" y="1297112"/>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1</a:t>
            </a:r>
            <a:endParaRPr lang="en-US" dirty="0">
              <a:latin typeface="Arial" panose="020B0604020202020204" pitchFamily="34" charset="0"/>
            </a:endParaRPr>
          </a:p>
        </p:txBody>
      </p:sp>
      <p:sp>
        <p:nvSpPr>
          <p:cNvPr id="6" name="Text 3"/>
          <p:cNvSpPr/>
          <p:nvPr/>
        </p:nvSpPr>
        <p:spPr>
          <a:xfrm>
            <a:off x="1963489" y="1215183"/>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Remove Duplicates</a:t>
            </a:r>
            <a:endParaRPr lang="en-US" sz="1200" dirty="0">
              <a:latin typeface="Arial" panose="020B0604020202020204" pitchFamily="34" charset="0"/>
            </a:endParaRPr>
          </a:p>
        </p:txBody>
      </p:sp>
      <p:sp>
        <p:nvSpPr>
          <p:cNvPr id="7" name="Text 4"/>
          <p:cNvSpPr/>
          <p:nvPr/>
        </p:nvSpPr>
        <p:spPr>
          <a:xfrm>
            <a:off x="1963489" y="1366913"/>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Removed duplicate records to prevent duplicate sales calculations.</a:t>
            </a:r>
            <a:endParaRPr lang="en-US" sz="1200" dirty="0">
              <a:latin typeface="Arial" panose="020B0604020202020204" pitchFamily="34" charset="0"/>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1689647"/>
            <a:ext cx="6658288" cy="516285"/>
          </a:xfrm>
          <a:prstGeom prst="rect">
            <a:avLst/>
          </a:prstGeom>
        </p:spPr>
      </p:pic>
      <p:sp>
        <p:nvSpPr>
          <p:cNvPr id="9" name="Text 5"/>
          <p:cNvSpPr/>
          <p:nvPr/>
        </p:nvSpPr>
        <p:spPr>
          <a:xfrm>
            <a:off x="1673125" y="1867124"/>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2</a:t>
            </a:r>
            <a:endParaRPr lang="en-US" dirty="0">
              <a:latin typeface="Arial" panose="020B0604020202020204" pitchFamily="34" charset="0"/>
            </a:endParaRPr>
          </a:p>
        </p:txBody>
      </p:sp>
      <p:sp>
        <p:nvSpPr>
          <p:cNvPr id="10" name="Text 6"/>
          <p:cNvSpPr/>
          <p:nvPr/>
        </p:nvSpPr>
        <p:spPr>
          <a:xfrm>
            <a:off x="1963489" y="1785194"/>
            <a:ext cx="1140710"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Handle NULL Values</a:t>
            </a:r>
            <a:endParaRPr lang="en-US" sz="1200" dirty="0">
              <a:latin typeface="Arial" panose="020B0604020202020204" pitchFamily="34" charset="0"/>
            </a:endParaRPr>
          </a:p>
        </p:txBody>
      </p:sp>
      <p:sp>
        <p:nvSpPr>
          <p:cNvPr id="11" name="Text 7"/>
          <p:cNvSpPr/>
          <p:nvPr/>
        </p:nvSpPr>
        <p:spPr>
          <a:xfrm>
            <a:off x="1963489" y="1936924"/>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Handled missing (NULL) values to improve data completeness.</a:t>
            </a:r>
            <a:endParaRPr lang="en-US" sz="1200" dirty="0">
              <a:latin typeface="Arial" panose="020B0604020202020204" pitchFamily="34" charset="0"/>
            </a:endParaRPr>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2259658"/>
            <a:ext cx="6658288" cy="516285"/>
          </a:xfrm>
          <a:prstGeom prst="rect">
            <a:avLst/>
          </a:prstGeom>
        </p:spPr>
      </p:pic>
      <p:sp>
        <p:nvSpPr>
          <p:cNvPr id="13" name="Text 8"/>
          <p:cNvSpPr/>
          <p:nvPr/>
        </p:nvSpPr>
        <p:spPr>
          <a:xfrm>
            <a:off x="1673125" y="2437136"/>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3</a:t>
            </a:r>
            <a:endParaRPr lang="en-US" dirty="0">
              <a:latin typeface="Arial" panose="020B0604020202020204" pitchFamily="34" charset="0"/>
            </a:endParaRPr>
          </a:p>
        </p:txBody>
      </p:sp>
      <p:sp>
        <p:nvSpPr>
          <p:cNvPr id="14" name="Text 9"/>
          <p:cNvSpPr/>
          <p:nvPr/>
        </p:nvSpPr>
        <p:spPr>
          <a:xfrm>
            <a:off x="1963489" y="2355206"/>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Standardize Dates</a:t>
            </a:r>
            <a:endParaRPr lang="en-US" sz="1200" dirty="0">
              <a:latin typeface="Arial" panose="020B0604020202020204" pitchFamily="34" charset="0"/>
            </a:endParaRPr>
          </a:p>
        </p:txBody>
      </p:sp>
      <p:sp>
        <p:nvSpPr>
          <p:cNvPr id="15" name="Text 10"/>
          <p:cNvSpPr/>
          <p:nvPr/>
        </p:nvSpPr>
        <p:spPr>
          <a:xfrm>
            <a:off x="1963489" y="2506936"/>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Standardized date formats to enable accurate time-based analysis.</a:t>
            </a:r>
            <a:endParaRPr lang="en-US" sz="1200" dirty="0">
              <a:latin typeface="Arial" panose="020B0604020202020204" pitchFamily="34" charset="0"/>
            </a:endParaRPr>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2829670"/>
            <a:ext cx="6658288" cy="516285"/>
          </a:xfrm>
          <a:prstGeom prst="rect">
            <a:avLst/>
          </a:prstGeom>
        </p:spPr>
      </p:pic>
      <p:sp>
        <p:nvSpPr>
          <p:cNvPr id="17" name="Text 11"/>
          <p:cNvSpPr/>
          <p:nvPr/>
        </p:nvSpPr>
        <p:spPr>
          <a:xfrm>
            <a:off x="1673125" y="3007148"/>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4</a:t>
            </a:r>
            <a:endParaRPr lang="en-US" dirty="0">
              <a:latin typeface="Arial" panose="020B0604020202020204" pitchFamily="34" charset="0"/>
            </a:endParaRPr>
          </a:p>
        </p:txBody>
      </p:sp>
      <p:sp>
        <p:nvSpPr>
          <p:cNvPr id="18" name="Text 12"/>
          <p:cNvSpPr/>
          <p:nvPr/>
        </p:nvSpPr>
        <p:spPr>
          <a:xfrm>
            <a:off x="1963489" y="2925218"/>
            <a:ext cx="1301872"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Correct Inconsistencies</a:t>
            </a:r>
            <a:endParaRPr lang="en-US" sz="1200" dirty="0">
              <a:latin typeface="Arial" panose="020B0604020202020204" pitchFamily="34" charset="0"/>
            </a:endParaRPr>
          </a:p>
        </p:txBody>
      </p:sp>
      <p:sp>
        <p:nvSpPr>
          <p:cNvPr id="19" name="Text 13"/>
          <p:cNvSpPr/>
          <p:nvPr/>
        </p:nvSpPr>
        <p:spPr>
          <a:xfrm>
            <a:off x="1963489" y="3076948"/>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Corrected inconsistent data to maintain quality across tables.</a:t>
            </a:r>
            <a:endParaRPr lang="en-US" sz="1200" dirty="0">
              <a:latin typeface="Arial" panose="020B0604020202020204" pitchFamily="34" charset="0"/>
            </a:endParaRPr>
          </a:p>
        </p:txBody>
      </p:sp>
      <p:pic>
        <p:nvPicPr>
          <p:cNvPr id="20"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3399682"/>
            <a:ext cx="6658288" cy="516285"/>
          </a:xfrm>
          <a:prstGeom prst="rect">
            <a:avLst/>
          </a:prstGeom>
        </p:spPr>
      </p:pic>
      <p:sp>
        <p:nvSpPr>
          <p:cNvPr id="21" name="Text 14"/>
          <p:cNvSpPr/>
          <p:nvPr/>
        </p:nvSpPr>
        <p:spPr>
          <a:xfrm>
            <a:off x="1673125" y="3577159"/>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5</a:t>
            </a:r>
            <a:endParaRPr lang="en-US" dirty="0">
              <a:latin typeface="Arial" panose="020B0604020202020204" pitchFamily="34" charset="0"/>
            </a:endParaRPr>
          </a:p>
        </p:txBody>
      </p:sp>
      <p:sp>
        <p:nvSpPr>
          <p:cNvPr id="22" name="Text 15"/>
          <p:cNvSpPr/>
          <p:nvPr/>
        </p:nvSpPr>
        <p:spPr>
          <a:xfrm>
            <a:off x="1963489" y="3495229"/>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Flag Returns</a:t>
            </a:r>
            <a:endParaRPr lang="en-US" sz="1200" dirty="0">
              <a:latin typeface="Arial" panose="020B0604020202020204" pitchFamily="34" charset="0"/>
            </a:endParaRPr>
          </a:p>
        </p:txBody>
      </p:sp>
      <p:sp>
        <p:nvSpPr>
          <p:cNvPr id="23" name="Text 16"/>
          <p:cNvSpPr/>
          <p:nvPr/>
        </p:nvSpPr>
        <p:spPr>
          <a:xfrm>
            <a:off x="1963489" y="3646960"/>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Flagged return transactions to separate sales from returns.</a:t>
            </a:r>
            <a:endParaRPr lang="en-US" sz="1200" dirty="0">
              <a:latin typeface="Arial" panose="020B0604020202020204" pitchFamily="34" charset="0"/>
            </a:endParaRPr>
          </a:p>
        </p:txBody>
      </p:sp>
      <p:pic>
        <p:nvPicPr>
          <p:cNvPr id="24"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3969693"/>
            <a:ext cx="6658288" cy="516285"/>
          </a:xfrm>
          <a:prstGeom prst="rect">
            <a:avLst/>
          </a:prstGeom>
        </p:spPr>
      </p:pic>
      <p:sp>
        <p:nvSpPr>
          <p:cNvPr id="25" name="Text 17"/>
          <p:cNvSpPr/>
          <p:nvPr/>
        </p:nvSpPr>
        <p:spPr>
          <a:xfrm>
            <a:off x="1673125" y="4147171"/>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6</a:t>
            </a:r>
            <a:endParaRPr lang="en-US" dirty="0">
              <a:latin typeface="Arial" panose="020B0604020202020204" pitchFamily="34" charset="0"/>
            </a:endParaRPr>
          </a:p>
        </p:txBody>
      </p:sp>
      <p:sp>
        <p:nvSpPr>
          <p:cNvPr id="26" name="Text 18"/>
          <p:cNvSpPr/>
          <p:nvPr/>
        </p:nvSpPr>
        <p:spPr>
          <a:xfrm>
            <a:off x="1963489" y="4065241"/>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Create SQL Views</a:t>
            </a:r>
            <a:endParaRPr lang="en-US" sz="1200" dirty="0">
              <a:latin typeface="Arial" panose="020B0604020202020204" pitchFamily="34" charset="0"/>
            </a:endParaRPr>
          </a:p>
        </p:txBody>
      </p:sp>
      <p:sp>
        <p:nvSpPr>
          <p:cNvPr id="27" name="Text 19"/>
          <p:cNvSpPr/>
          <p:nvPr/>
        </p:nvSpPr>
        <p:spPr>
          <a:xfrm>
            <a:off x="1963489" y="4216971"/>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Created SQL views to simplify reporting and Power BI integration.</a:t>
            </a:r>
            <a:endParaRPr lang="en-US" sz="1200" dirty="0">
              <a:latin typeface="Arial" panose="020B0604020202020204" pitchFamily="34" charset="0"/>
            </a:endParaRPr>
          </a:p>
        </p:txBody>
      </p:sp>
      <p:pic>
        <p:nvPicPr>
          <p:cNvPr id="28"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4539705"/>
            <a:ext cx="6658288" cy="516285"/>
          </a:xfrm>
          <a:prstGeom prst="rect">
            <a:avLst/>
          </a:prstGeom>
        </p:spPr>
      </p:pic>
      <p:sp>
        <p:nvSpPr>
          <p:cNvPr id="29" name="Text 20"/>
          <p:cNvSpPr/>
          <p:nvPr/>
        </p:nvSpPr>
        <p:spPr>
          <a:xfrm>
            <a:off x="1673125" y="4717183"/>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7</a:t>
            </a:r>
            <a:endParaRPr lang="en-US" dirty="0">
              <a:latin typeface="Arial" panose="020B0604020202020204" pitchFamily="34" charset="0"/>
            </a:endParaRPr>
          </a:p>
        </p:txBody>
      </p:sp>
      <p:sp>
        <p:nvSpPr>
          <p:cNvPr id="30" name="Text 21"/>
          <p:cNvSpPr/>
          <p:nvPr/>
        </p:nvSpPr>
        <p:spPr>
          <a:xfrm>
            <a:off x="1963489" y="4635253"/>
            <a:ext cx="1226549"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Validate Relationships</a:t>
            </a:r>
            <a:endParaRPr lang="en-US" sz="1200" dirty="0">
              <a:latin typeface="Arial" panose="020B0604020202020204" pitchFamily="34" charset="0"/>
            </a:endParaRPr>
          </a:p>
        </p:txBody>
      </p:sp>
      <p:sp>
        <p:nvSpPr>
          <p:cNvPr id="31" name="Text 22"/>
          <p:cNvSpPr/>
          <p:nvPr/>
        </p:nvSpPr>
        <p:spPr>
          <a:xfrm>
            <a:off x="1963489" y="4786983"/>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Validated relationships to ensure referential integrity between tables.</a:t>
            </a:r>
            <a:endParaRPr lang="en-US" sz="1200"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405185"/>
            <a:ext cx="5523533" cy="382488"/>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Key Outcomes of Data Cleaning</a:t>
            </a:r>
            <a:endParaRPr lang="en-US" sz="2400" dirty="0">
              <a:latin typeface="Arial" panose="020B0604020202020204" pitchFamily="34" charset="0"/>
            </a:endParaRPr>
          </a:p>
        </p:txBody>
      </p:sp>
      <p:sp>
        <p:nvSpPr>
          <p:cNvPr id="3" name="Shape 1"/>
          <p:cNvSpPr/>
          <p:nvPr/>
        </p:nvSpPr>
        <p:spPr>
          <a:xfrm>
            <a:off x="451545" y="994172"/>
            <a:ext cx="4470499" cy="3744144"/>
          </a:xfrm>
          <a:prstGeom prst="roundRect">
            <a:avLst>
              <a:gd name="adj" fmla="val 8826"/>
            </a:avLst>
          </a:prstGeom>
          <a:solidFill>
            <a:srgbClr val="FFE14D"/>
          </a:solidFill>
          <a:ln/>
        </p:spPr>
      </p:sp>
      <p:sp>
        <p:nvSpPr>
          <p:cNvPr id="4" name="Text 2"/>
          <p:cNvSpPr/>
          <p:nvPr/>
        </p:nvSpPr>
        <p:spPr>
          <a:xfrm>
            <a:off x="589211" y="1131838"/>
            <a:ext cx="1991171" cy="191244"/>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Arial" panose="020B0604020202020204" pitchFamily="34" charset="0"/>
                <a:ea typeface="Calibri" panose="020F0502020204030204" pitchFamily="34" charset="0"/>
                <a:cs typeface="Arial" panose="020B0604020202020204" pitchFamily="34" charset="0"/>
              </a:rPr>
              <a:t>What Was Achieved</a:t>
            </a:r>
            <a:endParaRPr lang="en-US" sz="1200" dirty="0">
              <a:latin typeface="Arial" panose="020B0604020202020204" pitchFamily="34" charset="0"/>
            </a:endParaRPr>
          </a:p>
        </p:txBody>
      </p:sp>
      <p:sp>
        <p:nvSpPr>
          <p:cNvPr id="5" name="Text 3"/>
          <p:cNvSpPr/>
          <p:nvPr/>
        </p:nvSpPr>
        <p:spPr>
          <a:xfrm>
            <a:off x="589211" y="1460748"/>
            <a:ext cx="4195167" cy="1111002"/>
          </a:xfrm>
          <a:prstGeom prst="rect">
            <a:avLst/>
          </a:prstGeom>
          <a:noFill/>
          <a:ln/>
        </p:spPr>
        <p:txBody>
          <a:bodyPr wrap="square" lIns="0" tIns="0" rIns="0" bIns="0" rtlCol="0" anchor="t">
            <a:normAutofit fontScale="92500" lnSpcReduction="20000"/>
          </a:bodyPr>
          <a:lstStyle/>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Improved data accuracy and reliability across all tables</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Created a clean, validated dataset ready for reporting</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Enhanced dashboard performance and consistency</a:t>
            </a:r>
            <a:endParaRPr lang="en-US" sz="1400" dirty="0">
              <a:latin typeface="Arial" panose="020B0604020202020204" pitchFamily="34" charset="0"/>
            </a:endParaRPr>
          </a:p>
        </p:txBody>
      </p:sp>
      <p:sp>
        <p:nvSpPr>
          <p:cNvPr id="6" name="Text 4"/>
          <p:cNvSpPr/>
          <p:nvPr/>
        </p:nvSpPr>
        <p:spPr>
          <a:xfrm>
            <a:off x="589211" y="2911837"/>
            <a:ext cx="4195167" cy="1232044"/>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These steps ensured that the dashboards were built on accurate and reliable data, enabling management to analyze business performance interactively using filters and slicers.</a:t>
            </a:r>
            <a:endParaRPr lang="en-US" sz="1400" dirty="0">
              <a:latin typeface="Arial" panose="020B0604020202020204" pitchFamily="34" charset="0"/>
            </a:endParaRPr>
          </a:p>
        </p:txBody>
      </p:sp>
      <p:pic>
        <p:nvPicPr>
          <p:cNvPr id="7" name="Image 0" descr="preencoded.png"/>
          <p:cNvPicPr>
            <a:picLocks noChangeAspect="1"/>
          </p:cNvPicPr>
          <p:nvPr/>
        </p:nvPicPr>
        <p:blipFill>
          <a:blip r:embed="rId3"/>
          <a:stretch>
            <a:fillRect/>
          </a:stretch>
        </p:blipFill>
        <p:spPr>
          <a:xfrm>
            <a:off x="5163592" y="1149028"/>
            <a:ext cx="3434432" cy="34344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5785" y="222721"/>
            <a:ext cx="3830762" cy="358527"/>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SQL Business Analysis</a:t>
            </a:r>
            <a:endParaRPr lang="en-US" sz="2400" dirty="0">
              <a:latin typeface="Arial" panose="020B0604020202020204" pitchFamily="34" charset="0"/>
            </a:endParaRPr>
          </a:p>
        </p:txBody>
      </p:sp>
      <p:sp>
        <p:nvSpPr>
          <p:cNvPr id="3" name="Text 1"/>
          <p:cNvSpPr/>
          <p:nvPr/>
        </p:nvSpPr>
        <p:spPr>
          <a:xfrm>
            <a:off x="387252" y="729808"/>
            <a:ext cx="8497668" cy="588452"/>
          </a:xfrm>
          <a:prstGeom prst="rect">
            <a:avLst/>
          </a:prstGeom>
          <a:noFill/>
          <a:ln/>
        </p:spPr>
        <p:txBody>
          <a:bodyPr wrap="square" lIns="0" tIns="0" rIns="0" bIns="0" rtlCol="0" anchor="t">
            <a:noAutofit/>
          </a:bodyPr>
          <a:lstStyle/>
          <a:p>
            <a:pPr marL="0" indent="0" algn="l">
              <a:lnSpc>
                <a:spcPct val="129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Eight business challenges were solved using advanced SQL techniques — including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GROUP BY</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JOINs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Window Functions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CASE statements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CTEs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Aggregate Functions</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t>
            </a:r>
            <a:endParaRPr lang="en-US" sz="1400" dirty="0">
              <a:latin typeface="Arial" panose="020B0604020202020204" pitchFamily="34" charset="0"/>
            </a:endParaRPr>
          </a:p>
        </p:txBody>
      </p:sp>
      <p:sp>
        <p:nvSpPr>
          <p:cNvPr id="4" name="Shape 2"/>
          <p:cNvSpPr/>
          <p:nvPr/>
        </p:nvSpPr>
        <p:spPr>
          <a:xfrm>
            <a:off x="516285" y="1538808"/>
            <a:ext cx="3995217" cy="709910"/>
          </a:xfrm>
          <a:prstGeom prst="roundRect">
            <a:avLst>
              <a:gd name="adj" fmla="val 27274"/>
            </a:avLst>
          </a:prstGeom>
          <a:solidFill>
            <a:srgbClr val="46464A"/>
          </a:solidFill>
          <a:ln/>
        </p:spPr>
      </p:sp>
      <p:sp>
        <p:nvSpPr>
          <p:cNvPr id="5" name="Text 3"/>
          <p:cNvSpPr/>
          <p:nvPr/>
        </p:nvSpPr>
        <p:spPr>
          <a:xfrm>
            <a:off x="645319" y="1667842"/>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Executive Analysis</a:t>
            </a:r>
            <a:endParaRPr lang="en-US" sz="1600" dirty="0">
              <a:latin typeface="Arial" panose="020B0604020202020204" pitchFamily="34" charset="0"/>
            </a:endParaRPr>
          </a:p>
        </p:txBody>
      </p:sp>
      <p:sp>
        <p:nvSpPr>
          <p:cNvPr id="6" name="Text 4"/>
          <p:cNvSpPr/>
          <p:nvPr/>
        </p:nvSpPr>
        <p:spPr>
          <a:xfrm>
            <a:off x="645319" y="1919585"/>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Company-wide KPIs</a:t>
            </a:r>
            <a:endParaRPr lang="en-US" sz="1200" dirty="0">
              <a:latin typeface="Arial" panose="020B0604020202020204" pitchFamily="34" charset="0"/>
            </a:endParaRPr>
          </a:p>
        </p:txBody>
      </p:sp>
      <p:sp>
        <p:nvSpPr>
          <p:cNvPr id="7" name="Shape 5"/>
          <p:cNvSpPr/>
          <p:nvPr/>
        </p:nvSpPr>
        <p:spPr>
          <a:xfrm>
            <a:off x="4632499" y="1538808"/>
            <a:ext cx="3995217" cy="709910"/>
          </a:xfrm>
          <a:prstGeom prst="roundRect">
            <a:avLst>
              <a:gd name="adj" fmla="val 27274"/>
            </a:avLst>
          </a:prstGeom>
          <a:solidFill>
            <a:srgbClr val="46464A"/>
          </a:solidFill>
          <a:ln/>
        </p:spPr>
      </p:sp>
      <p:sp>
        <p:nvSpPr>
          <p:cNvPr id="8" name="Text 6"/>
          <p:cNvSpPr/>
          <p:nvPr/>
        </p:nvSpPr>
        <p:spPr>
          <a:xfrm>
            <a:off x="4761533" y="1667842"/>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Branch Analysis</a:t>
            </a:r>
            <a:endParaRPr lang="en-US" sz="1600" dirty="0">
              <a:latin typeface="Arial" panose="020B0604020202020204" pitchFamily="34" charset="0"/>
            </a:endParaRPr>
          </a:p>
        </p:txBody>
      </p:sp>
      <p:sp>
        <p:nvSpPr>
          <p:cNvPr id="9" name="Text 7"/>
          <p:cNvSpPr/>
          <p:nvPr/>
        </p:nvSpPr>
        <p:spPr>
          <a:xfrm>
            <a:off x="4761533" y="1919585"/>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Compare branch performance</a:t>
            </a:r>
            <a:endParaRPr lang="en-US" sz="1200" dirty="0">
              <a:latin typeface="Arial" panose="020B0604020202020204" pitchFamily="34" charset="0"/>
            </a:endParaRPr>
          </a:p>
        </p:txBody>
      </p:sp>
      <p:sp>
        <p:nvSpPr>
          <p:cNvPr id="10" name="Shape 8"/>
          <p:cNvSpPr/>
          <p:nvPr/>
        </p:nvSpPr>
        <p:spPr>
          <a:xfrm>
            <a:off x="516285" y="2369716"/>
            <a:ext cx="3995217" cy="709910"/>
          </a:xfrm>
          <a:prstGeom prst="roundRect">
            <a:avLst>
              <a:gd name="adj" fmla="val 27274"/>
            </a:avLst>
          </a:prstGeom>
          <a:solidFill>
            <a:srgbClr val="46464A"/>
          </a:solidFill>
          <a:ln/>
        </p:spPr>
      </p:sp>
      <p:sp>
        <p:nvSpPr>
          <p:cNvPr id="11" name="Text 9"/>
          <p:cNvSpPr/>
          <p:nvPr/>
        </p:nvSpPr>
        <p:spPr>
          <a:xfrm>
            <a:off x="645319" y="2498750"/>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Product Analysis</a:t>
            </a:r>
            <a:endParaRPr lang="en-US" sz="1600" dirty="0">
              <a:latin typeface="Arial" panose="020B0604020202020204" pitchFamily="34" charset="0"/>
            </a:endParaRPr>
          </a:p>
        </p:txBody>
      </p:sp>
      <p:sp>
        <p:nvSpPr>
          <p:cNvPr id="12" name="Text 10"/>
          <p:cNvSpPr/>
          <p:nvPr/>
        </p:nvSpPr>
        <p:spPr>
          <a:xfrm>
            <a:off x="645319" y="2750493"/>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Best-selling products</a:t>
            </a:r>
            <a:endParaRPr lang="en-US" sz="1200" dirty="0">
              <a:latin typeface="Arial" panose="020B0604020202020204" pitchFamily="34" charset="0"/>
            </a:endParaRPr>
          </a:p>
        </p:txBody>
      </p:sp>
      <p:sp>
        <p:nvSpPr>
          <p:cNvPr id="13" name="Shape 11"/>
          <p:cNvSpPr/>
          <p:nvPr/>
        </p:nvSpPr>
        <p:spPr>
          <a:xfrm>
            <a:off x="4632499" y="2369716"/>
            <a:ext cx="3995217" cy="709910"/>
          </a:xfrm>
          <a:prstGeom prst="roundRect">
            <a:avLst>
              <a:gd name="adj" fmla="val 27274"/>
            </a:avLst>
          </a:prstGeom>
          <a:solidFill>
            <a:srgbClr val="46464A"/>
          </a:solidFill>
          <a:ln/>
        </p:spPr>
      </p:sp>
      <p:sp>
        <p:nvSpPr>
          <p:cNvPr id="14" name="Text 12"/>
          <p:cNvSpPr/>
          <p:nvPr/>
        </p:nvSpPr>
        <p:spPr>
          <a:xfrm>
            <a:off x="4761533" y="2498750"/>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Customer Analysis</a:t>
            </a:r>
            <a:endParaRPr lang="en-US" sz="1600" dirty="0">
              <a:latin typeface="Arial" panose="020B0604020202020204" pitchFamily="34" charset="0"/>
            </a:endParaRPr>
          </a:p>
        </p:txBody>
      </p:sp>
      <p:sp>
        <p:nvSpPr>
          <p:cNvPr id="15" name="Text 13"/>
          <p:cNvSpPr/>
          <p:nvPr/>
        </p:nvSpPr>
        <p:spPr>
          <a:xfrm>
            <a:off x="4761533" y="2750493"/>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Customer behavior patterns</a:t>
            </a:r>
            <a:endParaRPr lang="en-US" sz="1200" dirty="0">
              <a:latin typeface="Arial" panose="020B0604020202020204" pitchFamily="34" charset="0"/>
            </a:endParaRPr>
          </a:p>
        </p:txBody>
      </p:sp>
      <p:sp>
        <p:nvSpPr>
          <p:cNvPr id="16" name="Shape 14"/>
          <p:cNvSpPr/>
          <p:nvPr/>
        </p:nvSpPr>
        <p:spPr>
          <a:xfrm>
            <a:off x="516285" y="3200623"/>
            <a:ext cx="3995217" cy="709910"/>
          </a:xfrm>
          <a:prstGeom prst="roundRect">
            <a:avLst>
              <a:gd name="adj" fmla="val 27274"/>
            </a:avLst>
          </a:prstGeom>
          <a:solidFill>
            <a:srgbClr val="46464A"/>
          </a:solidFill>
          <a:ln/>
        </p:spPr>
      </p:sp>
      <p:sp>
        <p:nvSpPr>
          <p:cNvPr id="17" name="Text 15"/>
          <p:cNvSpPr/>
          <p:nvPr/>
        </p:nvSpPr>
        <p:spPr>
          <a:xfrm>
            <a:off x="645319" y="3329657"/>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Returns Analysis</a:t>
            </a:r>
            <a:endParaRPr lang="en-US" sz="1600" dirty="0">
              <a:latin typeface="Arial" panose="020B0604020202020204" pitchFamily="34" charset="0"/>
            </a:endParaRPr>
          </a:p>
        </p:txBody>
      </p:sp>
      <p:sp>
        <p:nvSpPr>
          <p:cNvPr id="18" name="Text 16"/>
          <p:cNvSpPr/>
          <p:nvPr/>
        </p:nvSpPr>
        <p:spPr>
          <a:xfrm>
            <a:off x="645319" y="3581400"/>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trends and rates</a:t>
            </a:r>
            <a:endParaRPr lang="en-US" sz="1200" dirty="0">
              <a:latin typeface="Arial" panose="020B0604020202020204" pitchFamily="34" charset="0"/>
            </a:endParaRPr>
          </a:p>
        </p:txBody>
      </p:sp>
      <p:sp>
        <p:nvSpPr>
          <p:cNvPr id="19" name="Shape 17"/>
          <p:cNvSpPr/>
          <p:nvPr/>
        </p:nvSpPr>
        <p:spPr>
          <a:xfrm>
            <a:off x="4632499" y="3200623"/>
            <a:ext cx="3995217" cy="709910"/>
          </a:xfrm>
          <a:prstGeom prst="roundRect">
            <a:avLst>
              <a:gd name="adj" fmla="val 27274"/>
            </a:avLst>
          </a:prstGeom>
          <a:solidFill>
            <a:srgbClr val="46464A"/>
          </a:solidFill>
          <a:ln/>
        </p:spPr>
      </p:sp>
      <p:sp>
        <p:nvSpPr>
          <p:cNvPr id="20" name="Text 18"/>
          <p:cNvSpPr/>
          <p:nvPr/>
        </p:nvSpPr>
        <p:spPr>
          <a:xfrm>
            <a:off x="4761533" y="3329657"/>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Buy-back Analysis</a:t>
            </a:r>
            <a:endParaRPr lang="en-US" sz="1600" dirty="0">
              <a:latin typeface="Arial" panose="020B0604020202020204" pitchFamily="34" charset="0"/>
            </a:endParaRPr>
          </a:p>
        </p:txBody>
      </p:sp>
      <p:sp>
        <p:nvSpPr>
          <p:cNvPr id="21" name="Text 19"/>
          <p:cNvSpPr/>
          <p:nvPr/>
        </p:nvSpPr>
        <p:spPr>
          <a:xfrm>
            <a:off x="4761533" y="3581400"/>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Old gold activity tracking</a:t>
            </a:r>
            <a:endParaRPr lang="en-US" sz="1200" dirty="0">
              <a:latin typeface="Arial" panose="020B0604020202020204" pitchFamily="34" charset="0"/>
            </a:endParaRPr>
          </a:p>
        </p:txBody>
      </p:sp>
      <p:sp>
        <p:nvSpPr>
          <p:cNvPr id="22" name="Shape 20"/>
          <p:cNvSpPr/>
          <p:nvPr/>
        </p:nvSpPr>
        <p:spPr>
          <a:xfrm>
            <a:off x="516285" y="4031531"/>
            <a:ext cx="3995217" cy="709910"/>
          </a:xfrm>
          <a:prstGeom prst="roundRect">
            <a:avLst>
              <a:gd name="adj" fmla="val 27274"/>
            </a:avLst>
          </a:prstGeom>
          <a:solidFill>
            <a:srgbClr val="46464A"/>
          </a:solidFill>
          <a:ln/>
        </p:spPr>
      </p:sp>
      <p:sp>
        <p:nvSpPr>
          <p:cNvPr id="23" name="Text 21"/>
          <p:cNvSpPr/>
          <p:nvPr/>
        </p:nvSpPr>
        <p:spPr>
          <a:xfrm>
            <a:off x="645319" y="4160565"/>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Payment Analysis</a:t>
            </a:r>
            <a:endParaRPr lang="en-US" sz="1600" dirty="0">
              <a:latin typeface="Arial" panose="020B0604020202020204" pitchFamily="34" charset="0"/>
            </a:endParaRPr>
          </a:p>
        </p:txBody>
      </p:sp>
      <p:sp>
        <p:nvSpPr>
          <p:cNvPr id="24" name="Text 22"/>
          <p:cNvSpPr/>
          <p:nvPr/>
        </p:nvSpPr>
        <p:spPr>
          <a:xfrm>
            <a:off x="645319" y="4412307"/>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Payment method preferences</a:t>
            </a:r>
            <a:endParaRPr lang="en-US" sz="1200" dirty="0">
              <a:latin typeface="Arial" panose="020B0604020202020204" pitchFamily="34" charset="0"/>
            </a:endParaRPr>
          </a:p>
        </p:txBody>
      </p:sp>
      <p:sp>
        <p:nvSpPr>
          <p:cNvPr id="25" name="Shape 23"/>
          <p:cNvSpPr/>
          <p:nvPr/>
        </p:nvSpPr>
        <p:spPr>
          <a:xfrm>
            <a:off x="4632499" y="4031531"/>
            <a:ext cx="3995217" cy="709910"/>
          </a:xfrm>
          <a:prstGeom prst="roundRect">
            <a:avLst>
              <a:gd name="adj" fmla="val 27274"/>
            </a:avLst>
          </a:prstGeom>
          <a:solidFill>
            <a:srgbClr val="46464A"/>
          </a:solidFill>
          <a:ln/>
        </p:spPr>
      </p:sp>
      <p:sp>
        <p:nvSpPr>
          <p:cNvPr id="26" name="Text 24"/>
          <p:cNvSpPr/>
          <p:nvPr/>
        </p:nvSpPr>
        <p:spPr>
          <a:xfrm>
            <a:off x="4761533" y="4160565"/>
            <a:ext cx="1589856"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Salesperson Analysis</a:t>
            </a:r>
            <a:endParaRPr lang="en-US" sz="1600" dirty="0">
              <a:latin typeface="Arial" panose="020B0604020202020204" pitchFamily="34" charset="0"/>
            </a:endParaRPr>
          </a:p>
        </p:txBody>
      </p:sp>
      <p:sp>
        <p:nvSpPr>
          <p:cNvPr id="27" name="Text 25"/>
          <p:cNvSpPr/>
          <p:nvPr/>
        </p:nvSpPr>
        <p:spPr>
          <a:xfrm>
            <a:off x="4761533" y="4412307"/>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Employee performance metrics</a:t>
            </a:r>
            <a:endParaRPr lang="en-US" sz="1200" dirty="0">
              <a:latin typeface="Arial" panose="020B0604020202020204" pitchFamily="34" charset="0"/>
            </a:endParaRPr>
          </a:p>
        </p:txBody>
      </p:sp>
    </p:spTree>
    <p:extLst>
      <p:ext uri="{BB962C8B-B14F-4D97-AF65-F5344CB8AC3E}">
        <p14:creationId xmlns:p14="http://schemas.microsoft.com/office/powerpoint/2010/main" val="1805831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160735"/>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Key DAX Measures</a:t>
            </a:r>
            <a:endParaRPr lang="en-US" sz="3200" dirty="0">
              <a:latin typeface="Arial" panose="020B0604020202020204" pitchFamily="34" charset="0"/>
            </a:endParaRPr>
          </a:p>
        </p:txBody>
      </p:sp>
      <p:sp>
        <p:nvSpPr>
          <p:cNvPr id="3" name="Text 1"/>
          <p:cNvSpPr/>
          <p:nvPr/>
        </p:nvSpPr>
        <p:spPr>
          <a:xfrm>
            <a:off x="550664" y="868680"/>
            <a:ext cx="8042672" cy="993087"/>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Power BI dashboards were powered by several DAX measures, including Total Revenue, Average Invoice Value, Return Percentage, Customer Lifetime Value, and Month-over-Month Growth. These dynamic calculations allow management to analyze business performance interactively using filters and slicers across branches, products, customers, and time periods.</a:t>
            </a:r>
            <a:endParaRPr lang="en-US" sz="1400" dirty="0">
              <a:latin typeface="Arial" panose="020B0604020202020204" pitchFamily="34" charset="0"/>
            </a:endParaRPr>
          </a:p>
        </p:txBody>
      </p:sp>
      <p:sp>
        <p:nvSpPr>
          <p:cNvPr id="4" name="Shape 2"/>
          <p:cNvSpPr/>
          <p:nvPr/>
        </p:nvSpPr>
        <p:spPr>
          <a:xfrm>
            <a:off x="550664" y="2016621"/>
            <a:ext cx="3952503" cy="769441"/>
          </a:xfrm>
          <a:prstGeom prst="roundRect">
            <a:avLst>
              <a:gd name="adj" fmla="val 26841"/>
            </a:avLst>
          </a:prstGeom>
          <a:solidFill>
            <a:srgbClr val="46464A"/>
          </a:solidFill>
          <a:ln/>
        </p:spPr>
      </p:sp>
      <p:sp>
        <p:nvSpPr>
          <p:cNvPr id="5" name="Text 3"/>
          <p:cNvSpPr/>
          <p:nvPr/>
        </p:nvSpPr>
        <p:spPr>
          <a:xfrm>
            <a:off x="688330" y="2154287"/>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Total Revenue</a:t>
            </a:r>
            <a:endParaRPr lang="en-US" sz="1600" dirty="0">
              <a:latin typeface="Arial" panose="020B0604020202020204" pitchFamily="34" charset="0"/>
            </a:endParaRPr>
          </a:p>
        </p:txBody>
      </p:sp>
      <p:sp>
        <p:nvSpPr>
          <p:cNvPr id="6" name="Text 4"/>
          <p:cNvSpPr/>
          <p:nvPr/>
        </p:nvSpPr>
        <p:spPr>
          <a:xfrm>
            <a:off x="688330" y="2428131"/>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Total sales excluding returns</a:t>
            </a:r>
            <a:endParaRPr lang="en-US" sz="1200" dirty="0">
              <a:latin typeface="Arial" panose="020B0604020202020204" pitchFamily="34" charset="0"/>
            </a:endParaRPr>
          </a:p>
        </p:txBody>
      </p:sp>
      <p:sp>
        <p:nvSpPr>
          <p:cNvPr id="7" name="Shape 5"/>
          <p:cNvSpPr/>
          <p:nvPr/>
        </p:nvSpPr>
        <p:spPr>
          <a:xfrm>
            <a:off x="4640833" y="2016621"/>
            <a:ext cx="3952503" cy="769441"/>
          </a:xfrm>
          <a:prstGeom prst="roundRect">
            <a:avLst>
              <a:gd name="adj" fmla="val 26841"/>
            </a:avLst>
          </a:prstGeom>
          <a:solidFill>
            <a:srgbClr val="46464A"/>
          </a:solidFill>
          <a:ln/>
        </p:spPr>
      </p:sp>
      <p:sp>
        <p:nvSpPr>
          <p:cNvPr id="8" name="Text 6"/>
          <p:cNvSpPr/>
          <p:nvPr/>
        </p:nvSpPr>
        <p:spPr>
          <a:xfrm>
            <a:off x="4778499" y="2154287"/>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Invoice Count</a:t>
            </a:r>
            <a:endParaRPr lang="en-US" sz="1600" dirty="0">
              <a:latin typeface="Arial" panose="020B0604020202020204" pitchFamily="34" charset="0"/>
            </a:endParaRPr>
          </a:p>
        </p:txBody>
      </p:sp>
      <p:sp>
        <p:nvSpPr>
          <p:cNvPr id="9" name="Text 7"/>
          <p:cNvSpPr/>
          <p:nvPr/>
        </p:nvSpPr>
        <p:spPr>
          <a:xfrm>
            <a:off x="4778499" y="2428131"/>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Number of sales invoices</a:t>
            </a:r>
            <a:endParaRPr lang="en-US" sz="1200" dirty="0">
              <a:latin typeface="Arial" panose="020B0604020202020204" pitchFamily="34" charset="0"/>
            </a:endParaRPr>
          </a:p>
        </p:txBody>
      </p:sp>
      <p:sp>
        <p:nvSpPr>
          <p:cNvPr id="10" name="Shape 8"/>
          <p:cNvSpPr/>
          <p:nvPr/>
        </p:nvSpPr>
        <p:spPr>
          <a:xfrm>
            <a:off x="550664" y="2923729"/>
            <a:ext cx="3952503" cy="769441"/>
          </a:xfrm>
          <a:prstGeom prst="roundRect">
            <a:avLst>
              <a:gd name="adj" fmla="val 26841"/>
            </a:avLst>
          </a:prstGeom>
          <a:solidFill>
            <a:srgbClr val="46464A"/>
          </a:solidFill>
          <a:ln/>
        </p:spPr>
      </p:sp>
      <p:sp>
        <p:nvSpPr>
          <p:cNvPr id="11" name="Text 9"/>
          <p:cNvSpPr/>
          <p:nvPr/>
        </p:nvSpPr>
        <p:spPr>
          <a:xfrm>
            <a:off x="688330" y="3061395"/>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Customer Count</a:t>
            </a:r>
            <a:endParaRPr lang="en-US" sz="1600" dirty="0">
              <a:latin typeface="Arial" panose="020B0604020202020204" pitchFamily="34" charset="0"/>
            </a:endParaRPr>
          </a:p>
        </p:txBody>
      </p:sp>
      <p:sp>
        <p:nvSpPr>
          <p:cNvPr id="12" name="Text 10"/>
          <p:cNvSpPr/>
          <p:nvPr/>
        </p:nvSpPr>
        <p:spPr>
          <a:xfrm>
            <a:off x="688330" y="3335238"/>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Number of unique customers</a:t>
            </a:r>
            <a:endParaRPr lang="en-US" sz="1200" dirty="0">
              <a:latin typeface="Arial" panose="020B0604020202020204" pitchFamily="34" charset="0"/>
            </a:endParaRPr>
          </a:p>
        </p:txBody>
      </p:sp>
      <p:sp>
        <p:nvSpPr>
          <p:cNvPr id="13" name="Shape 11"/>
          <p:cNvSpPr/>
          <p:nvPr/>
        </p:nvSpPr>
        <p:spPr>
          <a:xfrm>
            <a:off x="4640833" y="2923729"/>
            <a:ext cx="3952503" cy="769441"/>
          </a:xfrm>
          <a:prstGeom prst="roundRect">
            <a:avLst>
              <a:gd name="adj" fmla="val 26841"/>
            </a:avLst>
          </a:prstGeom>
          <a:solidFill>
            <a:srgbClr val="46464A"/>
          </a:solidFill>
          <a:ln/>
        </p:spPr>
      </p:sp>
      <p:sp>
        <p:nvSpPr>
          <p:cNvPr id="14" name="Text 12"/>
          <p:cNvSpPr/>
          <p:nvPr/>
        </p:nvSpPr>
        <p:spPr>
          <a:xfrm>
            <a:off x="4778499" y="3061395"/>
            <a:ext cx="1743745"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Average Invoice Value</a:t>
            </a:r>
            <a:endParaRPr lang="en-US" sz="1600" dirty="0">
              <a:latin typeface="Arial" panose="020B0604020202020204" pitchFamily="34" charset="0"/>
            </a:endParaRPr>
          </a:p>
        </p:txBody>
      </p:sp>
      <p:sp>
        <p:nvSpPr>
          <p:cNvPr id="15" name="Text 13"/>
          <p:cNvSpPr/>
          <p:nvPr/>
        </p:nvSpPr>
        <p:spPr>
          <a:xfrm>
            <a:off x="4778499" y="3335238"/>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Average revenue per invoice</a:t>
            </a:r>
            <a:endParaRPr lang="en-US" sz="1200" dirty="0">
              <a:latin typeface="Arial" panose="020B0604020202020204" pitchFamily="34" charset="0"/>
            </a:endParaRPr>
          </a:p>
        </p:txBody>
      </p:sp>
      <p:sp>
        <p:nvSpPr>
          <p:cNvPr id="16" name="Shape 14"/>
          <p:cNvSpPr/>
          <p:nvPr/>
        </p:nvSpPr>
        <p:spPr>
          <a:xfrm>
            <a:off x="550664" y="3830836"/>
            <a:ext cx="3952503" cy="769441"/>
          </a:xfrm>
          <a:prstGeom prst="roundRect">
            <a:avLst>
              <a:gd name="adj" fmla="val 26841"/>
            </a:avLst>
          </a:prstGeom>
          <a:solidFill>
            <a:srgbClr val="46464A"/>
          </a:solidFill>
          <a:ln/>
        </p:spPr>
      </p:sp>
      <p:sp>
        <p:nvSpPr>
          <p:cNvPr id="17" name="Text 15"/>
          <p:cNvSpPr/>
          <p:nvPr/>
        </p:nvSpPr>
        <p:spPr>
          <a:xfrm>
            <a:off x="688330" y="3968502"/>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 Count</a:t>
            </a:r>
            <a:endParaRPr lang="en-US" sz="1600" dirty="0">
              <a:latin typeface="Arial" panose="020B0604020202020204" pitchFamily="34" charset="0"/>
            </a:endParaRPr>
          </a:p>
        </p:txBody>
      </p:sp>
      <p:sp>
        <p:nvSpPr>
          <p:cNvPr id="18" name="Text 16"/>
          <p:cNvSpPr/>
          <p:nvPr/>
        </p:nvSpPr>
        <p:spPr>
          <a:xfrm>
            <a:off x="688330" y="4242346"/>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Total return transactions</a:t>
            </a:r>
            <a:endParaRPr lang="en-US" sz="1200" dirty="0">
              <a:latin typeface="Arial" panose="020B0604020202020204" pitchFamily="34" charset="0"/>
            </a:endParaRPr>
          </a:p>
        </p:txBody>
      </p:sp>
      <p:sp>
        <p:nvSpPr>
          <p:cNvPr id="19" name="Shape 17"/>
          <p:cNvSpPr/>
          <p:nvPr/>
        </p:nvSpPr>
        <p:spPr>
          <a:xfrm>
            <a:off x="4640833" y="3830836"/>
            <a:ext cx="3952503" cy="769441"/>
          </a:xfrm>
          <a:prstGeom prst="roundRect">
            <a:avLst>
              <a:gd name="adj" fmla="val 26841"/>
            </a:avLst>
          </a:prstGeom>
          <a:solidFill>
            <a:srgbClr val="46464A"/>
          </a:solidFill>
          <a:ln/>
        </p:spPr>
      </p:sp>
      <p:sp>
        <p:nvSpPr>
          <p:cNvPr id="20" name="Text 18"/>
          <p:cNvSpPr/>
          <p:nvPr/>
        </p:nvSpPr>
        <p:spPr>
          <a:xfrm>
            <a:off x="4778499" y="3968502"/>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 %</a:t>
            </a:r>
            <a:endParaRPr lang="en-US" sz="1600" dirty="0">
              <a:latin typeface="Arial" panose="020B0604020202020204" pitchFamily="34" charset="0"/>
            </a:endParaRPr>
          </a:p>
        </p:txBody>
      </p:sp>
      <p:sp>
        <p:nvSpPr>
          <p:cNvPr id="21" name="Text 19"/>
          <p:cNvSpPr/>
          <p:nvPr/>
        </p:nvSpPr>
        <p:spPr>
          <a:xfrm>
            <a:off x="4778499" y="4242346"/>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rate based on invoice count</a:t>
            </a:r>
            <a:endParaRPr lang="en-US" sz="1200"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2106" y="423044"/>
            <a:ext cx="4374356" cy="376386"/>
          </a:xfrm>
          <a:prstGeom prst="rect">
            <a:avLst/>
          </a:prstGeom>
          <a:noFill/>
          <a:ln/>
        </p:spPr>
        <p:txBody>
          <a:bodyPr wrap="none" lIns="0" tIns="0" rIns="0" bIns="0" rtlCol="0" anchor="t"/>
          <a:lstStyle/>
          <a:p>
            <a:pPr marL="0" indent="0" algn="l">
              <a:lnSpc>
                <a:spcPct val="104000"/>
              </a:lnSpc>
              <a:buNone/>
            </a:pPr>
            <a:r>
              <a:rPr lang="en-US" sz="2350" b="1" dirty="0">
                <a:solidFill>
                  <a:srgbClr val="FFE14D"/>
                </a:solidFill>
                <a:latin typeface="Arial" panose="020B0604020202020204" pitchFamily="34" charset="0"/>
                <a:ea typeface="Calibri" panose="020F0502020204030204" pitchFamily="34" charset="0"/>
                <a:cs typeface="Arial" panose="020B0604020202020204" pitchFamily="34" charset="0"/>
              </a:rPr>
              <a:t>Advanced DAX Measures</a:t>
            </a:r>
            <a:endParaRPr lang="en-US" sz="2350" dirty="0">
              <a:latin typeface="Arial" panose="020B0604020202020204" pitchFamily="34" charset="0"/>
            </a:endParaRPr>
          </a:p>
        </p:txBody>
      </p:sp>
      <p:sp>
        <p:nvSpPr>
          <p:cNvPr id="3" name="Text 1"/>
          <p:cNvSpPr/>
          <p:nvPr/>
        </p:nvSpPr>
        <p:spPr>
          <a:xfrm>
            <a:off x="542106" y="1066205"/>
            <a:ext cx="8059787"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In addition to core revenue and transaction metrics, advanced DAX measures were created to support deeper customer analysis and financial performance tracking.</a:t>
            </a:r>
            <a:endParaRPr lang="en-US" sz="105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056" y="1646337"/>
            <a:ext cx="3982269" cy="1007492"/>
          </a:xfrm>
          <a:prstGeom prst="rect">
            <a:avLst/>
          </a:prstGeom>
        </p:spPr>
      </p:pic>
      <p:sp>
        <p:nvSpPr>
          <p:cNvPr id="5" name="Text 2"/>
          <p:cNvSpPr/>
          <p:nvPr/>
        </p:nvSpPr>
        <p:spPr>
          <a:xfrm>
            <a:off x="753814" y="1800895"/>
            <a:ext cx="1505917"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Making Revenue</a:t>
            </a:r>
            <a:endParaRPr lang="en-US" sz="1150" dirty="0">
              <a:latin typeface="Arial" panose="020B0604020202020204" pitchFamily="34" charset="0"/>
            </a:endParaRPr>
          </a:p>
        </p:txBody>
      </p:sp>
      <p:sp>
        <p:nvSpPr>
          <p:cNvPr id="6" name="Text 3"/>
          <p:cNvSpPr/>
          <p:nvPr/>
        </p:nvSpPr>
        <p:spPr>
          <a:xfrm>
            <a:off x="753814" y="2069157"/>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Total making charges collected</a:t>
            </a:r>
            <a:endParaRPr lang="en-US" sz="105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25" y="1646337"/>
            <a:ext cx="3982269" cy="1007492"/>
          </a:xfrm>
          <a:prstGeom prst="rect">
            <a:avLst/>
          </a:prstGeom>
        </p:spPr>
      </p:pic>
      <p:sp>
        <p:nvSpPr>
          <p:cNvPr id="8" name="Text 4"/>
          <p:cNvSpPr/>
          <p:nvPr/>
        </p:nvSpPr>
        <p:spPr>
          <a:xfrm>
            <a:off x="4850383" y="1800895"/>
            <a:ext cx="1688902"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Discount Amount &amp; %</a:t>
            </a:r>
            <a:endParaRPr lang="en-US" sz="1150" dirty="0">
              <a:latin typeface="Arial" panose="020B0604020202020204" pitchFamily="34" charset="0"/>
            </a:endParaRPr>
          </a:p>
        </p:txBody>
      </p:sp>
      <p:sp>
        <p:nvSpPr>
          <p:cNvPr id="9" name="Text 5"/>
          <p:cNvSpPr/>
          <p:nvPr/>
        </p:nvSpPr>
        <p:spPr>
          <a:xfrm>
            <a:off x="4850383" y="2069157"/>
            <a:ext cx="3596953"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Total discounts provided and percentage of discount against revenue</a:t>
            </a:r>
            <a:endParaRPr lang="en-US" sz="105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056" y="2787179"/>
            <a:ext cx="3982269" cy="1007492"/>
          </a:xfrm>
          <a:prstGeom prst="rect">
            <a:avLst/>
          </a:prstGeom>
        </p:spPr>
      </p:pic>
      <p:sp>
        <p:nvSpPr>
          <p:cNvPr id="11" name="Text 6"/>
          <p:cNvSpPr/>
          <p:nvPr/>
        </p:nvSpPr>
        <p:spPr>
          <a:xfrm>
            <a:off x="753814" y="2941737"/>
            <a:ext cx="1967285"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New &amp; Repeat Customers</a:t>
            </a:r>
            <a:endParaRPr lang="en-US" sz="1150" dirty="0">
              <a:latin typeface="Arial" panose="020B0604020202020204" pitchFamily="34" charset="0"/>
            </a:endParaRPr>
          </a:p>
        </p:txBody>
      </p:sp>
      <p:sp>
        <p:nvSpPr>
          <p:cNvPr id="12" name="Text 7"/>
          <p:cNvSpPr/>
          <p:nvPr/>
        </p:nvSpPr>
        <p:spPr>
          <a:xfrm>
            <a:off x="753814" y="3209999"/>
            <a:ext cx="3596953"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Customers with first purchase vs. customers with multiple purchases</a:t>
            </a:r>
            <a:endParaRPr lang="en-US" sz="105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25" y="2787179"/>
            <a:ext cx="3982269" cy="1007492"/>
          </a:xfrm>
          <a:prstGeom prst="rect">
            <a:avLst/>
          </a:prstGeom>
        </p:spPr>
      </p:pic>
      <p:sp>
        <p:nvSpPr>
          <p:cNvPr id="14" name="Text 8"/>
          <p:cNvSpPr/>
          <p:nvPr/>
        </p:nvSpPr>
        <p:spPr>
          <a:xfrm>
            <a:off x="4850383" y="2941737"/>
            <a:ext cx="2360935"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Customer Lifetime Value (CLV)</a:t>
            </a:r>
            <a:endParaRPr lang="en-US" sz="1150" dirty="0">
              <a:latin typeface="Arial" panose="020B0604020202020204" pitchFamily="34" charset="0"/>
            </a:endParaRPr>
          </a:p>
        </p:txBody>
      </p:sp>
      <p:sp>
        <p:nvSpPr>
          <p:cNvPr id="15" name="Text 9"/>
          <p:cNvSpPr/>
          <p:nvPr/>
        </p:nvSpPr>
        <p:spPr>
          <a:xfrm>
            <a:off x="4850383" y="3209999"/>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Average revenue generated per customer</a:t>
            </a:r>
            <a:endParaRPr lang="en-US" sz="1050" dirty="0">
              <a:latin typeface="Arial" panose="020B0604020202020204" pitchFamily="34" charset="0"/>
            </a:endParaRPr>
          </a:p>
        </p:txBody>
      </p:sp>
      <p:pic>
        <p:nvPicPr>
          <p:cNvPr id="1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056" y="3928021"/>
            <a:ext cx="3982269" cy="792435"/>
          </a:xfrm>
          <a:prstGeom prst="rect">
            <a:avLst/>
          </a:prstGeom>
        </p:spPr>
      </p:pic>
      <p:sp>
        <p:nvSpPr>
          <p:cNvPr id="17" name="Text 10"/>
          <p:cNvSpPr/>
          <p:nvPr/>
        </p:nvSpPr>
        <p:spPr>
          <a:xfrm>
            <a:off x="753814" y="4082579"/>
            <a:ext cx="1505917"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Purchase Count</a:t>
            </a:r>
            <a:endParaRPr lang="en-US" sz="1150" dirty="0">
              <a:latin typeface="Arial" panose="020B0604020202020204" pitchFamily="34" charset="0"/>
            </a:endParaRPr>
          </a:p>
        </p:txBody>
      </p:sp>
      <p:sp>
        <p:nvSpPr>
          <p:cNvPr id="18" name="Text 11"/>
          <p:cNvSpPr/>
          <p:nvPr/>
        </p:nvSpPr>
        <p:spPr>
          <a:xfrm>
            <a:off x="753814" y="4350841"/>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Number of purchases by each customer</a:t>
            </a:r>
            <a:endParaRPr lang="en-US" sz="1050" dirty="0">
              <a:latin typeface="Arial" panose="020B0604020202020204" pitchFamily="34" charset="0"/>
            </a:endParaRPr>
          </a:p>
        </p:txBody>
      </p:sp>
      <p:pic>
        <p:nvPicPr>
          <p:cNvPr id="19"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9625" y="3928021"/>
            <a:ext cx="3982269" cy="792435"/>
          </a:xfrm>
          <a:prstGeom prst="rect">
            <a:avLst/>
          </a:prstGeom>
        </p:spPr>
      </p:pic>
      <p:sp>
        <p:nvSpPr>
          <p:cNvPr id="20" name="Text 12"/>
          <p:cNvSpPr/>
          <p:nvPr/>
        </p:nvSpPr>
        <p:spPr>
          <a:xfrm>
            <a:off x="4850383" y="4082579"/>
            <a:ext cx="2088133"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Month-over-Month Growth</a:t>
            </a:r>
            <a:endParaRPr lang="en-US" sz="1150" dirty="0">
              <a:latin typeface="Arial" panose="020B0604020202020204" pitchFamily="34" charset="0"/>
            </a:endParaRPr>
          </a:p>
        </p:txBody>
      </p:sp>
      <p:sp>
        <p:nvSpPr>
          <p:cNvPr id="21" name="Text 13"/>
          <p:cNvSpPr/>
          <p:nvPr/>
        </p:nvSpPr>
        <p:spPr>
          <a:xfrm>
            <a:off x="4850383" y="4350841"/>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Monthly revenue growth percentage</a:t>
            </a:r>
            <a:endParaRPr lang="en-US" sz="1050"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1272" y="353839"/>
            <a:ext cx="2943151" cy="31075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Why DAX?</a:t>
            </a:r>
            <a:endParaRPr lang="en-US" sz="2800" dirty="0">
              <a:latin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651272" y="903163"/>
            <a:ext cx="3784253" cy="3784253"/>
          </a:xfrm>
          <a:prstGeom prst="rect">
            <a:avLst/>
          </a:prstGeom>
        </p:spPr>
      </p:pic>
      <p:sp>
        <p:nvSpPr>
          <p:cNvPr id="4" name="Text 1"/>
          <p:cNvSpPr/>
          <p:nvPr/>
        </p:nvSpPr>
        <p:spPr>
          <a:xfrm>
            <a:off x="4713238" y="891778"/>
            <a:ext cx="1863923" cy="155302"/>
          </a:xfrm>
          <a:prstGeom prst="rect">
            <a:avLst/>
          </a:prstGeom>
          <a:noFill/>
          <a:ln/>
        </p:spPr>
        <p:txBody>
          <a:bodyPr wrap="none" lIns="0" tIns="0" rIns="0" bIns="0" rtlCol="0" anchor="t"/>
          <a:lstStyle/>
          <a:p>
            <a:pPr marL="0" indent="0" algn="l">
              <a:lnSpc>
                <a:spcPct val="104000"/>
              </a:lnSpc>
              <a:buNone/>
            </a:pPr>
            <a:r>
              <a:rPr lang="en-US" sz="1100" b="1" dirty="0">
                <a:solidFill>
                  <a:srgbClr val="FFE14D"/>
                </a:solidFill>
                <a:latin typeface="Arial" panose="020B0604020202020204" pitchFamily="34" charset="0"/>
                <a:ea typeface="Calibri" panose="020F0502020204030204" pitchFamily="34" charset="0"/>
                <a:cs typeface="Arial" panose="020B0604020202020204" pitchFamily="34" charset="0"/>
              </a:rPr>
              <a:t>Dynamic Calculations</a:t>
            </a:r>
            <a:endParaRPr lang="en-US" sz="1100" dirty="0">
              <a:latin typeface="Arial" panose="020B0604020202020204" pitchFamily="34" charset="0"/>
            </a:endParaRPr>
          </a:p>
        </p:txBody>
      </p:sp>
      <p:sp>
        <p:nvSpPr>
          <p:cNvPr id="5" name="Text 2"/>
          <p:cNvSpPr/>
          <p:nvPr/>
        </p:nvSpPr>
        <p:spPr>
          <a:xfrm>
            <a:off x="4713238" y="1137940"/>
            <a:ext cx="3784253" cy="1855469"/>
          </a:xfrm>
          <a:prstGeom prst="rect">
            <a:avLst/>
          </a:prstGeom>
          <a:noFill/>
          <a:ln/>
        </p:spPr>
        <p:txBody>
          <a:bodyPr wrap="square" lIns="0" tIns="0" rIns="0" bIns="0" rtlCol="0" anchor="t">
            <a:noAutofit/>
          </a:bodyPr>
          <a:lstStyle/>
          <a:p>
            <a:pPr marL="0" indent="0" algn="l">
              <a:lnSpc>
                <a:spcPct val="121000"/>
              </a:lnSpc>
              <a:spcAft>
                <a:spcPts val="600"/>
              </a:spcAft>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DAX measures provide dynamic calculations that automatically update based on filters and slicers, enabling interactive analysis across branches, products, customers, and time periods.</a:t>
            </a:r>
            <a:endParaRPr lang="en-US" sz="1200" dirty="0">
              <a:latin typeface="Arial" panose="020B0604020202020204" pitchFamily="34" charset="0"/>
            </a:endParaRPr>
          </a:p>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These dynamic calculations allow management to analyze business performance interactively, supporting data-driven decision-making at every level of the organization.</a:t>
            </a:r>
            <a:endParaRPr lang="en-US" sz="1200" dirty="0">
              <a:latin typeface="Arial" panose="020B0604020202020204" pitchFamily="34" charset="0"/>
            </a:endParaRPr>
          </a:p>
        </p:txBody>
      </p:sp>
      <p:sp>
        <p:nvSpPr>
          <p:cNvPr id="6" name="Shape 3"/>
          <p:cNvSpPr/>
          <p:nvPr/>
        </p:nvSpPr>
        <p:spPr>
          <a:xfrm>
            <a:off x="4685034" y="3133055"/>
            <a:ext cx="3784253" cy="1042705"/>
          </a:xfrm>
          <a:prstGeom prst="roundRect">
            <a:avLst>
              <a:gd name="adj" fmla="val 30865"/>
            </a:avLst>
          </a:prstGeom>
          <a:solidFill>
            <a:srgbClr val="022349"/>
          </a:solidFill>
          <a:ln/>
        </p:spPr>
      </p:sp>
      <p:pic>
        <p:nvPicPr>
          <p:cNvPr id="7" name="Image 1" descr="preencoded.png"/>
          <p:cNvPicPr>
            <a:picLocks noChangeAspect="1"/>
          </p:cNvPicPr>
          <p:nvPr/>
        </p:nvPicPr>
        <p:blipFill>
          <a:blip r:embed="rId4"/>
          <a:stretch>
            <a:fillRect/>
          </a:stretch>
        </p:blipFill>
        <p:spPr>
          <a:xfrm>
            <a:off x="4836795" y="3315547"/>
            <a:ext cx="139824" cy="111844"/>
          </a:xfrm>
          <a:prstGeom prst="rect">
            <a:avLst/>
          </a:prstGeom>
        </p:spPr>
      </p:pic>
      <p:sp>
        <p:nvSpPr>
          <p:cNvPr id="8" name="Text 4"/>
          <p:cNvSpPr/>
          <p:nvPr/>
        </p:nvSpPr>
        <p:spPr>
          <a:xfrm>
            <a:off x="5076751" y="3242742"/>
            <a:ext cx="3308896" cy="762818"/>
          </a:xfrm>
          <a:prstGeom prst="rect">
            <a:avLst/>
          </a:prstGeom>
          <a:noFill/>
          <a:ln/>
        </p:spPr>
        <p:txBody>
          <a:bodyPr wrap="square" lIns="0" tIns="0" rIns="0" bIns="0" rtlCol="0" anchor="t">
            <a:normAutofit/>
          </a:bodyPr>
          <a:lstStyle/>
          <a:p>
            <a:pPr marL="0" indent="0" algn="l">
              <a:lnSpc>
                <a:spcPct val="121000"/>
              </a:lnSpc>
              <a:buNone/>
            </a:pPr>
            <a:r>
              <a:rPr lang="en-US" sz="1200" dirty="0">
                <a:solidFill>
                  <a:srgbClr val="FFFFFF"/>
                </a:solidFill>
                <a:latin typeface="Arial" panose="020B0604020202020204" pitchFamily="34" charset="0"/>
                <a:ea typeface="Calibri" panose="020F0502020204030204" pitchFamily="34" charset="0"/>
                <a:cs typeface="Arial" panose="020B0604020202020204" pitchFamily="34" charset="0"/>
              </a:rPr>
              <a:t>DAX measures power all 6 interactive dashboards, updating automatically as users apply filters and slicers.</a:t>
            </a:r>
            <a:endParaRPr lang="en-US" sz="120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3474" y="398636"/>
            <a:ext cx="4718596" cy="37043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Data Model — Star Schema</a:t>
            </a:r>
            <a:endParaRPr lang="en-US" sz="2800" dirty="0">
              <a:latin typeface="Arial" panose="020B0604020202020204" pitchFamily="34" charset="0"/>
            </a:endParaRPr>
          </a:p>
        </p:txBody>
      </p:sp>
      <p:sp>
        <p:nvSpPr>
          <p:cNvPr id="3" name="Text 1"/>
          <p:cNvSpPr/>
          <p:nvPr/>
        </p:nvSpPr>
        <p:spPr>
          <a:xfrm>
            <a:off x="533474" y="1092026"/>
            <a:ext cx="1939156" cy="185291"/>
          </a:xfrm>
          <a:prstGeom prst="rect">
            <a:avLst/>
          </a:prstGeom>
          <a:noFill/>
          <a:ln/>
        </p:spPr>
        <p:txBody>
          <a:bodyPr wrap="none" lIns="0" tIns="0" rIns="0" bIns="0" rtlCol="0" anchor="t"/>
          <a:lstStyle/>
          <a:p>
            <a:pPr marL="0" indent="0" algn="l">
              <a:lnSpc>
                <a:spcPct val="104000"/>
              </a:lnSpc>
              <a:buNone/>
            </a:pPr>
            <a:r>
              <a:rPr lang="en-US" sz="1400" b="1" dirty="0">
                <a:solidFill>
                  <a:srgbClr val="FFE14D"/>
                </a:solidFill>
                <a:latin typeface="Arial" panose="020B0604020202020204" pitchFamily="34" charset="0"/>
                <a:ea typeface="Calibri" panose="020F0502020204030204" pitchFamily="34" charset="0"/>
                <a:cs typeface="Arial" panose="020B0604020202020204" pitchFamily="34" charset="0"/>
              </a:rPr>
              <a:t>Schema Structure</a:t>
            </a:r>
            <a:endParaRPr lang="en-US" sz="1400" dirty="0">
              <a:latin typeface="Arial" panose="020B0604020202020204" pitchFamily="34" charset="0"/>
            </a:endParaRPr>
          </a:p>
        </p:txBody>
      </p:sp>
      <p:sp>
        <p:nvSpPr>
          <p:cNvPr id="4" name="Text 2"/>
          <p:cNvSpPr/>
          <p:nvPr/>
        </p:nvSpPr>
        <p:spPr>
          <a:xfrm>
            <a:off x="533474" y="1406500"/>
            <a:ext cx="4295924" cy="839986"/>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The star schema centers on a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Fact Sales</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table connected to dimension tables: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Branch</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Product</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Customer</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Date</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All relationships use one-to-many joins from dimension to fact tables.</a:t>
            </a:r>
            <a:endParaRPr lang="en-US" sz="1200" dirty="0">
              <a:latin typeface="Arial" panose="020B0604020202020204" pitchFamily="34" charset="0"/>
            </a:endParaRPr>
          </a:p>
        </p:txBody>
      </p:sp>
      <p:sp>
        <p:nvSpPr>
          <p:cNvPr id="5" name="Shape 3"/>
          <p:cNvSpPr/>
          <p:nvPr/>
        </p:nvSpPr>
        <p:spPr>
          <a:xfrm>
            <a:off x="533474" y="2391817"/>
            <a:ext cx="2083371" cy="1249263"/>
          </a:xfrm>
          <a:prstGeom prst="roundRect">
            <a:avLst>
              <a:gd name="adj" fmla="val 16015"/>
            </a:avLst>
          </a:prstGeom>
          <a:solidFill>
            <a:srgbClr val="27272B"/>
          </a:solidFill>
          <a:ln w="19050">
            <a:solidFill>
              <a:srgbClr val="5F5F63"/>
            </a:solidFill>
            <a:prstDash val="solid"/>
          </a:ln>
        </p:spPr>
      </p:sp>
      <p:sp>
        <p:nvSpPr>
          <p:cNvPr id="6" name="Text 4"/>
          <p:cNvSpPr/>
          <p:nvPr/>
        </p:nvSpPr>
        <p:spPr>
          <a:xfrm>
            <a:off x="685874" y="2544217"/>
            <a:ext cx="1481956"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Fact Tables</a:t>
            </a:r>
            <a:endParaRPr lang="en-US" sz="1400" dirty="0">
              <a:latin typeface="Arial" panose="020B0604020202020204" pitchFamily="34" charset="0"/>
            </a:endParaRPr>
          </a:p>
        </p:txBody>
      </p:sp>
      <p:sp>
        <p:nvSpPr>
          <p:cNvPr id="7" name="Text 5"/>
          <p:cNvSpPr/>
          <p:nvPr/>
        </p:nvSpPr>
        <p:spPr>
          <a:xfrm>
            <a:off x="685874" y="2858691"/>
            <a:ext cx="1778571" cy="629989"/>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Store transactional records — sales, returns, and buy-backs</a:t>
            </a:r>
            <a:endParaRPr lang="en-US" sz="1200" dirty="0">
              <a:latin typeface="Arial" panose="020B0604020202020204" pitchFamily="34" charset="0"/>
            </a:endParaRPr>
          </a:p>
        </p:txBody>
      </p:sp>
      <p:sp>
        <p:nvSpPr>
          <p:cNvPr id="8" name="Shape 6"/>
          <p:cNvSpPr/>
          <p:nvPr/>
        </p:nvSpPr>
        <p:spPr>
          <a:xfrm>
            <a:off x="2746028" y="2391817"/>
            <a:ext cx="2083371" cy="1249263"/>
          </a:xfrm>
          <a:prstGeom prst="roundRect">
            <a:avLst>
              <a:gd name="adj" fmla="val 16015"/>
            </a:avLst>
          </a:prstGeom>
          <a:solidFill>
            <a:srgbClr val="27272B"/>
          </a:solidFill>
          <a:ln w="19050">
            <a:solidFill>
              <a:srgbClr val="5F5F63"/>
            </a:solidFill>
            <a:prstDash val="solid"/>
          </a:ln>
        </p:spPr>
      </p:sp>
      <p:sp>
        <p:nvSpPr>
          <p:cNvPr id="9" name="Text 7"/>
          <p:cNvSpPr/>
          <p:nvPr/>
        </p:nvSpPr>
        <p:spPr>
          <a:xfrm>
            <a:off x="2898428" y="2544217"/>
            <a:ext cx="1481956"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Dimension Tables</a:t>
            </a:r>
            <a:endParaRPr lang="en-US" sz="1400" dirty="0">
              <a:latin typeface="Arial" panose="020B0604020202020204" pitchFamily="34" charset="0"/>
            </a:endParaRPr>
          </a:p>
        </p:txBody>
      </p:sp>
      <p:sp>
        <p:nvSpPr>
          <p:cNvPr id="10" name="Text 8"/>
          <p:cNvSpPr/>
          <p:nvPr/>
        </p:nvSpPr>
        <p:spPr>
          <a:xfrm>
            <a:off x="2898428" y="2858691"/>
            <a:ext cx="1778571" cy="419993"/>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Branch, Product, Customer, and Date attributes</a:t>
            </a:r>
            <a:endParaRPr lang="en-US" sz="1200" dirty="0">
              <a:latin typeface="Arial" panose="020B0604020202020204" pitchFamily="34" charset="0"/>
            </a:endParaRPr>
          </a:p>
        </p:txBody>
      </p:sp>
      <p:sp>
        <p:nvSpPr>
          <p:cNvPr id="11" name="Shape 9"/>
          <p:cNvSpPr/>
          <p:nvPr/>
        </p:nvSpPr>
        <p:spPr>
          <a:xfrm>
            <a:off x="533474" y="3770263"/>
            <a:ext cx="4295924" cy="829270"/>
          </a:xfrm>
          <a:prstGeom prst="roundRect">
            <a:avLst>
              <a:gd name="adj" fmla="val 24126"/>
            </a:avLst>
          </a:prstGeom>
          <a:solidFill>
            <a:srgbClr val="27272B"/>
          </a:solidFill>
          <a:ln w="19050">
            <a:solidFill>
              <a:srgbClr val="5F5F63"/>
            </a:solidFill>
            <a:prstDash val="solid"/>
          </a:ln>
        </p:spPr>
      </p:sp>
      <p:sp>
        <p:nvSpPr>
          <p:cNvPr id="12" name="Text 10"/>
          <p:cNvSpPr/>
          <p:nvPr/>
        </p:nvSpPr>
        <p:spPr>
          <a:xfrm>
            <a:off x="685874" y="3922663"/>
            <a:ext cx="1493639"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One-to-Many Joins</a:t>
            </a:r>
            <a:endParaRPr lang="en-US" sz="1400" dirty="0">
              <a:latin typeface="Arial" panose="020B0604020202020204" pitchFamily="34" charset="0"/>
            </a:endParaRPr>
          </a:p>
        </p:txBody>
      </p:sp>
      <p:sp>
        <p:nvSpPr>
          <p:cNvPr id="13" name="Text 11"/>
          <p:cNvSpPr/>
          <p:nvPr/>
        </p:nvSpPr>
        <p:spPr>
          <a:xfrm>
            <a:off x="685874" y="4237137"/>
            <a:ext cx="3991124" cy="209996"/>
          </a:xfrm>
          <a:prstGeom prst="rect">
            <a:avLst/>
          </a:prstGeom>
          <a:noFill/>
          <a:ln/>
        </p:spPr>
        <p:txBody>
          <a:bodyPr wrap="none" lIns="0" tIns="0" rIns="0" bIns="0" rtlCol="0" anchor="t"/>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Dimensions connect to facts via foreign keys</a:t>
            </a:r>
            <a:endParaRPr lang="en-US" sz="1200" dirty="0">
              <a:latin typeface="Arial" panose="020B0604020202020204" pitchFamily="34" charset="0"/>
            </a:endParaRPr>
          </a:p>
        </p:txBody>
      </p:sp>
      <p:sp>
        <p:nvSpPr>
          <p:cNvPr id="14" name="Shape 12"/>
          <p:cNvSpPr/>
          <p:nvPr/>
        </p:nvSpPr>
        <p:spPr>
          <a:xfrm>
            <a:off x="5063505" y="962844"/>
            <a:ext cx="3647703" cy="3782020"/>
          </a:xfrm>
          <a:prstGeom prst="roundRect">
            <a:avLst>
              <a:gd name="adj" fmla="val 8776"/>
            </a:avLst>
          </a:prstGeom>
          <a:solidFill>
            <a:srgbClr val="FFE14D"/>
          </a:solidFill>
          <a:ln/>
        </p:spPr>
      </p:sp>
      <p:sp>
        <p:nvSpPr>
          <p:cNvPr id="15" name="Text 13"/>
          <p:cNvSpPr/>
          <p:nvPr/>
        </p:nvSpPr>
        <p:spPr>
          <a:xfrm>
            <a:off x="5196855" y="1092026"/>
            <a:ext cx="1939156" cy="185291"/>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Arial" panose="020B0604020202020204" pitchFamily="34" charset="0"/>
                <a:ea typeface="Calibri" panose="020F0502020204030204" pitchFamily="34" charset="0"/>
                <a:cs typeface="Arial" panose="020B0604020202020204" pitchFamily="34" charset="0"/>
              </a:rPr>
              <a:t>Why Star Schema?</a:t>
            </a:r>
            <a:endParaRPr lang="en-US" sz="1400" dirty="0">
              <a:latin typeface="Arial" panose="020B0604020202020204" pitchFamily="34" charset="0"/>
            </a:endParaRPr>
          </a:p>
        </p:txBody>
      </p:sp>
      <p:sp>
        <p:nvSpPr>
          <p:cNvPr id="16" name="Text 14"/>
          <p:cNvSpPr/>
          <p:nvPr/>
        </p:nvSpPr>
        <p:spPr>
          <a:xfrm>
            <a:off x="5196855" y="1406500"/>
            <a:ext cx="3381003" cy="1872184"/>
          </a:xfrm>
          <a:prstGeom prst="rect">
            <a:avLst/>
          </a:prstGeom>
          <a:noFill/>
          <a:ln/>
        </p:spPr>
        <p:txBody>
          <a:bodyPr wrap="square" lIns="0" tIns="0" rIns="0" bIns="0" rtlCol="0" anchor="t">
            <a:normAutofit fontScale="92500" lnSpcReduction="20000"/>
          </a:bodyPr>
          <a:lstStyle/>
          <a:p>
            <a:pPr marL="0" indent="0" algn="l">
              <a:lnSpc>
                <a:spcPct val="131000"/>
              </a:lnSpc>
              <a:buNone/>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A star schema improves reporting performance by simplifying queries and reducing join complexity. With denormalized dimension tables and a single fact table at the center, Power BI can aggregate large volumes of transactional data efficiently — enabling fast, responsive dashboards for executive and operational reporting.</a:t>
            </a:r>
            <a:endParaRPr lang="en-US" sz="1400"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5C299-FEE8-28FC-B76F-D36083336B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B19FFF-929F-CB88-0886-D6323317EC94}"/>
              </a:ext>
            </a:extLst>
          </p:cNvPr>
          <p:cNvSpPr/>
          <p:nvPr/>
        </p:nvSpPr>
        <p:spPr>
          <a:xfrm>
            <a:off x="434414" y="0"/>
            <a:ext cx="4718596" cy="37043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Data Model — Star Schema</a:t>
            </a:r>
            <a:endParaRPr lang="en-US" sz="2800" dirty="0">
              <a:latin typeface="Arial" panose="020B0604020202020204" pitchFamily="34" charset="0"/>
            </a:endParaRPr>
          </a:p>
        </p:txBody>
      </p:sp>
      <p:pic>
        <p:nvPicPr>
          <p:cNvPr id="18" name="Picture 17">
            <a:extLst>
              <a:ext uri="{FF2B5EF4-FFF2-40B4-BE49-F238E27FC236}">
                <a16:creationId xmlns:a16="http://schemas.microsoft.com/office/drawing/2014/main" id="{B6AB924C-A53A-C7B0-A9EB-236817E95E3A}"/>
              </a:ext>
            </a:extLst>
          </p:cNvPr>
          <p:cNvPicPr>
            <a:picLocks noChangeAspect="1"/>
          </p:cNvPicPr>
          <p:nvPr/>
        </p:nvPicPr>
        <p:blipFill>
          <a:blip r:embed="rId3"/>
          <a:stretch>
            <a:fillRect/>
          </a:stretch>
        </p:blipFill>
        <p:spPr>
          <a:xfrm>
            <a:off x="434415" y="494030"/>
            <a:ext cx="8168566" cy="4502026"/>
          </a:xfrm>
          <a:prstGeom prst="rect">
            <a:avLst/>
          </a:prstGeom>
        </p:spPr>
      </p:pic>
    </p:spTree>
    <p:extLst>
      <p:ext uri="{BB962C8B-B14F-4D97-AF65-F5344CB8AC3E}">
        <p14:creationId xmlns:p14="http://schemas.microsoft.com/office/powerpoint/2010/main" val="2042547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160020"/>
            <a:ext cx="3429000" cy="5303520"/>
          </a:xfrm>
          <a:prstGeom prst="rect">
            <a:avLst/>
          </a:prstGeom>
        </p:spPr>
      </p:pic>
      <p:sp>
        <p:nvSpPr>
          <p:cNvPr id="3" name="Text 0"/>
          <p:cNvSpPr/>
          <p:nvPr/>
        </p:nvSpPr>
        <p:spPr>
          <a:xfrm>
            <a:off x="418282" y="999266"/>
            <a:ext cx="4613672" cy="1066934"/>
          </a:xfrm>
          <a:prstGeom prst="rect">
            <a:avLst/>
          </a:prstGeom>
          <a:noFill/>
          <a:ln/>
        </p:spPr>
        <p:txBody>
          <a:bodyPr wrap="square" lIns="0" tIns="0" rIns="0" bIns="0" rtlCol="0" anchor="t">
            <a:noAutofit/>
          </a:bodyPr>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Business Intelligence Dashboard Suite</a:t>
            </a:r>
            <a:endParaRPr lang="en-US" sz="3200" dirty="0">
              <a:latin typeface="Arial" panose="020B0604020202020204" pitchFamily="34" charset="0"/>
            </a:endParaRPr>
          </a:p>
        </p:txBody>
      </p:sp>
      <p:sp>
        <p:nvSpPr>
          <p:cNvPr id="4" name="Text 1"/>
          <p:cNvSpPr/>
          <p:nvPr/>
        </p:nvSpPr>
        <p:spPr>
          <a:xfrm>
            <a:off x="550664" y="2254659"/>
            <a:ext cx="4613672" cy="120482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An end-to-end BI solution built with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 transforming raw transactional data into strategic insights across sales, customers, branches, products, payments, and returns.</a:t>
            </a:r>
            <a:endParaRPr lang="en-US" sz="1400" dirty="0">
              <a:latin typeface="Arial" panose="020B0604020202020204" pitchFamily="34" charset="0"/>
            </a:endParaRPr>
          </a:p>
        </p:txBody>
      </p:sp>
      <p:sp>
        <p:nvSpPr>
          <p:cNvPr id="5" name="Shape 2"/>
          <p:cNvSpPr/>
          <p:nvPr/>
        </p:nvSpPr>
        <p:spPr>
          <a:xfrm>
            <a:off x="396240" y="3690708"/>
            <a:ext cx="2182206" cy="374257"/>
          </a:xfrm>
          <a:prstGeom prst="roundRect">
            <a:avLst>
              <a:gd name="adj" fmla="val 63838"/>
            </a:avLst>
          </a:prstGeom>
          <a:solidFill>
            <a:srgbClr val="4D4000"/>
          </a:solidFill>
          <a:ln/>
        </p:spPr>
      </p:sp>
      <p:sp>
        <p:nvSpPr>
          <p:cNvPr id="6" name="Text 3"/>
          <p:cNvSpPr/>
          <p:nvPr/>
        </p:nvSpPr>
        <p:spPr>
          <a:xfrm>
            <a:off x="533995" y="3764613"/>
            <a:ext cx="2027783" cy="245769"/>
          </a:xfrm>
          <a:prstGeom prst="rect">
            <a:avLst/>
          </a:prstGeom>
          <a:noFill/>
          <a:ln/>
        </p:spPr>
        <p:txBody>
          <a:bodyPr wrap="none" lIns="0" tIns="0" rIns="0" bIns="0" rtlCol="0" anchor="t"/>
          <a:lstStyle/>
          <a:p>
            <a:pPr marL="0" indent="0" algn="l">
              <a:lnSpc>
                <a:spcPct val="133000"/>
              </a:lnSpc>
              <a:buNone/>
            </a:pPr>
            <a:r>
              <a:rPr lang="en-US" sz="1000" dirty="0">
                <a:solidFill>
                  <a:srgbClr val="D7D4CC"/>
                </a:solidFill>
                <a:latin typeface="Arial" panose="020B0604020202020204" pitchFamily="34" charset="0"/>
                <a:ea typeface="Calibri" panose="020F0502020204030204" pitchFamily="34" charset="0"/>
                <a:cs typeface="Arial" panose="020B0604020202020204" pitchFamily="34" charset="0"/>
              </a:rPr>
              <a:t>6 INTERACTIVE DASHBOARDS</a:t>
            </a:r>
            <a:endParaRPr lang="en-US" sz="1000" dirty="0">
              <a:latin typeface="Arial" panose="020B0604020202020204" pitchFamily="34" charset="0"/>
            </a:endParaRPr>
          </a:p>
        </p:txBody>
      </p:sp>
      <p:sp>
        <p:nvSpPr>
          <p:cNvPr id="7" name="Shape 4"/>
          <p:cNvSpPr/>
          <p:nvPr/>
        </p:nvSpPr>
        <p:spPr>
          <a:xfrm>
            <a:off x="2725118" y="3677424"/>
            <a:ext cx="2439218" cy="374257"/>
          </a:xfrm>
          <a:prstGeom prst="roundRect">
            <a:avLst>
              <a:gd name="adj" fmla="val 61572"/>
            </a:avLst>
          </a:prstGeom>
          <a:noFill/>
          <a:ln w="4763">
            <a:solidFill>
              <a:srgbClr val="FFE14D"/>
            </a:solidFill>
            <a:prstDash val="solid"/>
          </a:ln>
        </p:spPr>
      </p:sp>
      <p:sp>
        <p:nvSpPr>
          <p:cNvPr id="8" name="Text 5"/>
          <p:cNvSpPr/>
          <p:nvPr/>
        </p:nvSpPr>
        <p:spPr>
          <a:xfrm>
            <a:off x="2837110" y="3778554"/>
            <a:ext cx="2290688" cy="245769"/>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8 BUSINESS CHALLENGES SOLVED</a:t>
            </a:r>
            <a:endParaRPr lang="en-US" sz="1000" dirty="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01509" y="174167"/>
            <a:ext cx="3637434" cy="272504"/>
          </a:xfrm>
          <a:prstGeom prst="rect">
            <a:avLst/>
          </a:prstGeom>
          <a:noFill/>
          <a:ln/>
        </p:spPr>
        <p:txBody>
          <a:bodyPr wrap="none" lIns="0" tIns="0" rIns="0" bIns="0" rtlCol="0" anchor="t"/>
          <a:lstStyle/>
          <a:p>
            <a:pPr marL="0" indent="0" algn="l">
              <a:lnSpc>
                <a:spcPct val="104000"/>
              </a:lnSpc>
              <a:buNone/>
            </a:pPr>
            <a:r>
              <a:rPr lang="en-US" sz="170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Executive Summary Dashboard</a:t>
            </a:r>
            <a:endParaRPr lang="en-US" sz="1700" b="1" dirty="0">
              <a:solidFill>
                <a:schemeClr val="accent4">
                  <a:lumMod val="60000"/>
                  <a:lumOff val="40000"/>
                </a:schemeClr>
              </a:solidFill>
            </a:endParaRPr>
          </a:p>
        </p:txBody>
      </p:sp>
      <p:sp>
        <p:nvSpPr>
          <p:cNvPr id="5" name="Text 3"/>
          <p:cNvSpPr/>
          <p:nvPr/>
        </p:nvSpPr>
        <p:spPr>
          <a:xfrm>
            <a:off x="561529" y="507989"/>
            <a:ext cx="7335069" cy="415564"/>
          </a:xfrm>
          <a:prstGeom prst="rect">
            <a:avLst/>
          </a:prstGeom>
          <a:noFill/>
          <a:ln/>
        </p:spPr>
        <p:txBody>
          <a:bodyPr wrap="none" lIns="0" tIns="0" rIns="0" bIns="0" rtlCol="0" anchor="t"/>
          <a:lstStyle/>
          <a:p>
            <a:pPr marL="0" indent="0" algn="l">
              <a:lnSpc>
                <a:spcPct val="114000"/>
              </a:lnSpc>
              <a:buNone/>
            </a:pPr>
            <a:r>
              <a:rPr lang="en-US" sz="1000" dirty="0">
                <a:solidFill>
                  <a:srgbClr val="BFBFBF"/>
                </a:solidFill>
                <a:latin typeface="Arial" panose="020B0604020202020204" pitchFamily="34" charset="0"/>
                <a:ea typeface="Open Sans" pitchFamily="34" charset="-122"/>
                <a:cs typeface="Arial" panose="020B0604020202020204" pitchFamily="34" charset="0"/>
              </a:rPr>
              <a:t>Key performance indicators and strategic insights across revenue, products, branches, and customer metrics — with clear recommendations </a:t>
            </a:r>
          </a:p>
          <a:p>
            <a:pPr marL="0" indent="0" algn="l">
              <a:lnSpc>
                <a:spcPct val="114000"/>
              </a:lnSpc>
              <a:buNone/>
            </a:pPr>
            <a:r>
              <a:rPr lang="en-US" sz="1000" dirty="0">
                <a:solidFill>
                  <a:srgbClr val="BFBFBF"/>
                </a:solidFill>
                <a:latin typeface="Arial" panose="020B0604020202020204" pitchFamily="34" charset="0"/>
                <a:ea typeface="Open Sans" pitchFamily="34" charset="-122"/>
                <a:cs typeface="Arial" panose="020B0604020202020204" pitchFamily="34" charset="0"/>
              </a:rPr>
              <a:t>for growth.</a:t>
            </a:r>
            <a:endParaRPr lang="en-US" sz="1000" dirty="0"/>
          </a:p>
        </p:txBody>
      </p:sp>
      <p:sp>
        <p:nvSpPr>
          <p:cNvPr id="6" name="Text 4"/>
          <p:cNvSpPr/>
          <p:nvPr/>
        </p:nvSpPr>
        <p:spPr>
          <a:xfrm>
            <a:off x="464241" y="1013147"/>
            <a:ext cx="3400574" cy="287834"/>
          </a:xfrm>
          <a:prstGeom prst="rect">
            <a:avLst/>
          </a:prstGeom>
          <a:noFill/>
          <a:ln/>
        </p:spPr>
        <p:txBody>
          <a:bodyPr wrap="none" lIns="0" tIns="0" rIns="0" bIns="0" rtlCol="0" anchor="t"/>
          <a:lstStyle/>
          <a:p>
            <a:pPr marL="0" indent="0" algn="ctr">
              <a:lnSpc>
                <a:spcPct val="83000"/>
              </a:lnSpc>
              <a:buNone/>
            </a:pPr>
            <a:r>
              <a:rPr lang="en-US" sz="2250" dirty="0">
                <a:solidFill>
                  <a:srgbClr val="BFBFBF"/>
                </a:solidFill>
                <a:latin typeface="Arial" panose="020B0604020202020204" pitchFamily="34" charset="0"/>
                <a:ea typeface="Instrument Sans Medium" pitchFamily="34" charset="-122"/>
                <a:cs typeface="Arial" panose="020B0604020202020204" pitchFamily="34" charset="0"/>
              </a:rPr>
              <a:t>SAR 348.3M</a:t>
            </a:r>
            <a:endParaRPr lang="en-US" sz="2250" dirty="0"/>
          </a:p>
        </p:txBody>
      </p:sp>
      <p:sp>
        <p:nvSpPr>
          <p:cNvPr id="7" name="Text 5"/>
          <p:cNvSpPr/>
          <p:nvPr/>
        </p:nvSpPr>
        <p:spPr>
          <a:xfrm>
            <a:off x="1619370" y="1390575"/>
            <a:ext cx="1090240" cy="136252"/>
          </a:xfrm>
          <a:prstGeom prst="rect">
            <a:avLst/>
          </a:prstGeom>
          <a:noFill/>
          <a:ln/>
        </p:spPr>
        <p:txBody>
          <a:bodyPr wrap="none" lIns="0" tIns="0" rIns="0" bIns="0" rtlCol="0" anchor="t"/>
          <a:lstStyle/>
          <a:p>
            <a:pPr marL="0" indent="0" algn="ctr">
              <a:lnSpc>
                <a:spcPct val="104000"/>
              </a:lnSpc>
              <a:buNone/>
            </a:pPr>
            <a:r>
              <a:rPr lang="en-US" sz="850" dirty="0">
                <a:solidFill>
                  <a:srgbClr val="BFBFBF"/>
                </a:solidFill>
                <a:latin typeface="Arial" panose="020B0604020202020204" pitchFamily="34" charset="0"/>
                <a:ea typeface="Instrument Sans Medium" pitchFamily="34" charset="-122"/>
                <a:cs typeface="Arial" panose="020B0604020202020204" pitchFamily="34" charset="0"/>
              </a:rPr>
              <a:t>Total Revenue</a:t>
            </a:r>
            <a:endParaRPr lang="en-US" sz="850" dirty="0"/>
          </a:p>
        </p:txBody>
      </p:sp>
      <p:sp>
        <p:nvSpPr>
          <p:cNvPr id="8" name="Text 6"/>
          <p:cNvSpPr/>
          <p:nvPr/>
        </p:nvSpPr>
        <p:spPr>
          <a:xfrm>
            <a:off x="464241" y="1563588"/>
            <a:ext cx="3400574" cy="118765"/>
          </a:xfrm>
          <a:prstGeom prst="rect">
            <a:avLst/>
          </a:prstGeom>
          <a:noFill/>
          <a:ln/>
        </p:spPr>
        <p:txBody>
          <a:bodyPr wrap="none" lIns="0" tIns="0" rIns="0" bIns="0" rtlCol="0" anchor="t"/>
          <a:lstStyle/>
          <a:p>
            <a:pPr marL="0" indent="0" algn="ctr">
              <a:lnSpc>
                <a:spcPct val="114000"/>
              </a:lnSpc>
              <a:buNone/>
            </a:pPr>
            <a:r>
              <a:rPr lang="en-US" sz="650" dirty="0">
                <a:solidFill>
                  <a:srgbClr val="BFBFBF"/>
                </a:solidFill>
                <a:latin typeface="Arial" panose="020B0604020202020204" pitchFamily="34" charset="0"/>
                <a:ea typeface="Open Sans" pitchFamily="34" charset="-122"/>
                <a:cs typeface="Arial" panose="020B0604020202020204" pitchFamily="34" charset="0"/>
              </a:rPr>
              <a:t>Overall business revenue for the period</a:t>
            </a:r>
            <a:endParaRPr lang="en-US" sz="650" dirty="0"/>
          </a:p>
        </p:txBody>
      </p:sp>
      <p:sp>
        <p:nvSpPr>
          <p:cNvPr id="9" name="Text 7"/>
          <p:cNvSpPr/>
          <p:nvPr/>
        </p:nvSpPr>
        <p:spPr>
          <a:xfrm>
            <a:off x="3941461" y="1013147"/>
            <a:ext cx="3400648" cy="287834"/>
          </a:xfrm>
          <a:prstGeom prst="rect">
            <a:avLst/>
          </a:prstGeom>
          <a:noFill/>
          <a:ln/>
        </p:spPr>
        <p:txBody>
          <a:bodyPr wrap="none" lIns="0" tIns="0" rIns="0" bIns="0" rtlCol="0" anchor="t"/>
          <a:lstStyle/>
          <a:p>
            <a:pPr marL="0" indent="0" algn="ctr">
              <a:lnSpc>
                <a:spcPct val="83000"/>
              </a:lnSpc>
              <a:buNone/>
            </a:pPr>
            <a:r>
              <a:rPr lang="en-US" sz="2250" dirty="0">
                <a:solidFill>
                  <a:srgbClr val="BFBFBF"/>
                </a:solidFill>
                <a:latin typeface="Arial" panose="020B0604020202020204" pitchFamily="34" charset="0"/>
                <a:ea typeface="Instrument Sans Medium" pitchFamily="34" charset="-122"/>
                <a:cs typeface="Arial" panose="020B0604020202020204" pitchFamily="34" charset="0"/>
              </a:rPr>
              <a:t>2.58M g</a:t>
            </a:r>
            <a:endParaRPr lang="en-US" sz="2250" dirty="0"/>
          </a:p>
        </p:txBody>
      </p:sp>
      <p:sp>
        <p:nvSpPr>
          <p:cNvPr id="10" name="Text 8"/>
          <p:cNvSpPr/>
          <p:nvPr/>
        </p:nvSpPr>
        <p:spPr>
          <a:xfrm>
            <a:off x="5096665" y="1390575"/>
            <a:ext cx="1090240" cy="136252"/>
          </a:xfrm>
          <a:prstGeom prst="rect">
            <a:avLst/>
          </a:prstGeom>
          <a:noFill/>
          <a:ln/>
        </p:spPr>
        <p:txBody>
          <a:bodyPr wrap="none" lIns="0" tIns="0" rIns="0" bIns="0" rtlCol="0" anchor="t"/>
          <a:lstStyle/>
          <a:p>
            <a:pPr marL="0" indent="0" algn="ctr">
              <a:lnSpc>
                <a:spcPct val="104000"/>
              </a:lnSpc>
              <a:buNone/>
            </a:pPr>
            <a:r>
              <a:rPr lang="en-US" sz="850" dirty="0">
                <a:solidFill>
                  <a:srgbClr val="BFBFBF"/>
                </a:solidFill>
                <a:latin typeface="Arial" panose="020B0604020202020204" pitchFamily="34" charset="0"/>
                <a:ea typeface="Instrument Sans Medium" pitchFamily="34" charset="-122"/>
                <a:cs typeface="Arial" panose="020B0604020202020204" pitchFamily="34" charset="0"/>
              </a:rPr>
              <a:t>Total Weight Sold</a:t>
            </a:r>
            <a:endParaRPr lang="en-US" sz="850" dirty="0"/>
          </a:p>
        </p:txBody>
      </p:sp>
      <p:sp>
        <p:nvSpPr>
          <p:cNvPr id="11" name="Text 9"/>
          <p:cNvSpPr/>
          <p:nvPr/>
        </p:nvSpPr>
        <p:spPr>
          <a:xfrm>
            <a:off x="3941461" y="1563588"/>
            <a:ext cx="3400648" cy="118765"/>
          </a:xfrm>
          <a:prstGeom prst="rect">
            <a:avLst/>
          </a:prstGeom>
          <a:noFill/>
          <a:ln/>
        </p:spPr>
        <p:txBody>
          <a:bodyPr wrap="none" lIns="0" tIns="0" rIns="0" bIns="0" rtlCol="0" anchor="t"/>
          <a:lstStyle/>
          <a:p>
            <a:pPr marL="0" indent="0" algn="ctr">
              <a:lnSpc>
                <a:spcPct val="114000"/>
              </a:lnSpc>
              <a:buNone/>
            </a:pPr>
            <a:r>
              <a:rPr lang="en-US" sz="650" dirty="0">
                <a:solidFill>
                  <a:srgbClr val="BFBFBF"/>
                </a:solidFill>
                <a:latin typeface="Arial" panose="020B0604020202020204" pitchFamily="34" charset="0"/>
                <a:ea typeface="Open Sans" pitchFamily="34" charset="-122"/>
                <a:cs typeface="Arial" panose="020B0604020202020204" pitchFamily="34" charset="0"/>
              </a:rPr>
              <a:t>2,577,238 grams of gold sold</a:t>
            </a:r>
            <a:endParaRPr lang="en-US" sz="650" dirty="0"/>
          </a:p>
        </p:txBody>
      </p:sp>
      <p:sp>
        <p:nvSpPr>
          <p:cNvPr id="12" name="Text 10"/>
          <p:cNvSpPr/>
          <p:nvPr/>
        </p:nvSpPr>
        <p:spPr>
          <a:xfrm>
            <a:off x="464241" y="1848594"/>
            <a:ext cx="3400574" cy="287834"/>
          </a:xfrm>
          <a:prstGeom prst="rect">
            <a:avLst/>
          </a:prstGeom>
          <a:noFill/>
          <a:ln/>
        </p:spPr>
        <p:txBody>
          <a:bodyPr wrap="none" lIns="0" tIns="0" rIns="0" bIns="0" rtlCol="0" anchor="t"/>
          <a:lstStyle/>
          <a:p>
            <a:pPr marL="0" indent="0" algn="ctr">
              <a:lnSpc>
                <a:spcPct val="83000"/>
              </a:lnSpc>
              <a:buNone/>
            </a:pPr>
            <a:r>
              <a:rPr lang="en-US" sz="2250" dirty="0">
                <a:solidFill>
                  <a:srgbClr val="BFBFBF"/>
                </a:solidFill>
                <a:latin typeface="Arial" panose="020B0604020202020204" pitchFamily="34" charset="0"/>
                <a:ea typeface="Instrument Sans Medium" pitchFamily="34" charset="-122"/>
                <a:cs typeface="Arial" panose="020B0604020202020204" pitchFamily="34" charset="0"/>
              </a:rPr>
              <a:t>10,013</a:t>
            </a:r>
            <a:endParaRPr lang="en-US" sz="2250" dirty="0"/>
          </a:p>
        </p:txBody>
      </p:sp>
      <p:sp>
        <p:nvSpPr>
          <p:cNvPr id="13" name="Text 11"/>
          <p:cNvSpPr/>
          <p:nvPr/>
        </p:nvSpPr>
        <p:spPr>
          <a:xfrm>
            <a:off x="1619370" y="2226022"/>
            <a:ext cx="1090240" cy="136252"/>
          </a:xfrm>
          <a:prstGeom prst="rect">
            <a:avLst/>
          </a:prstGeom>
          <a:noFill/>
          <a:ln/>
        </p:spPr>
        <p:txBody>
          <a:bodyPr wrap="none" lIns="0" tIns="0" rIns="0" bIns="0" rtlCol="0" anchor="t"/>
          <a:lstStyle/>
          <a:p>
            <a:pPr marL="0" indent="0" algn="ctr">
              <a:lnSpc>
                <a:spcPct val="104000"/>
              </a:lnSpc>
              <a:buNone/>
            </a:pPr>
            <a:r>
              <a:rPr lang="en-US" sz="850" dirty="0">
                <a:solidFill>
                  <a:srgbClr val="BFBFBF"/>
                </a:solidFill>
                <a:latin typeface="Arial" panose="020B0604020202020204" pitchFamily="34" charset="0"/>
                <a:ea typeface="Instrument Sans Medium" pitchFamily="34" charset="-122"/>
                <a:cs typeface="Arial" panose="020B0604020202020204" pitchFamily="34" charset="0"/>
              </a:rPr>
              <a:t>Active Customers</a:t>
            </a:r>
            <a:endParaRPr lang="en-US" sz="850" dirty="0"/>
          </a:p>
        </p:txBody>
      </p:sp>
      <p:sp>
        <p:nvSpPr>
          <p:cNvPr id="14" name="Text 12"/>
          <p:cNvSpPr/>
          <p:nvPr/>
        </p:nvSpPr>
        <p:spPr>
          <a:xfrm>
            <a:off x="464241" y="2399035"/>
            <a:ext cx="3400574" cy="118765"/>
          </a:xfrm>
          <a:prstGeom prst="rect">
            <a:avLst/>
          </a:prstGeom>
          <a:noFill/>
          <a:ln/>
        </p:spPr>
        <p:txBody>
          <a:bodyPr wrap="none" lIns="0" tIns="0" rIns="0" bIns="0" rtlCol="0" anchor="t"/>
          <a:lstStyle/>
          <a:p>
            <a:pPr marL="0" indent="0" algn="ctr">
              <a:lnSpc>
                <a:spcPct val="114000"/>
              </a:lnSpc>
              <a:buNone/>
            </a:pPr>
            <a:r>
              <a:rPr lang="en-US" sz="650" dirty="0">
                <a:solidFill>
                  <a:srgbClr val="BFBFBF"/>
                </a:solidFill>
                <a:latin typeface="Arial" panose="020B0604020202020204" pitchFamily="34" charset="0"/>
                <a:ea typeface="Open Sans" pitchFamily="34" charset="-122"/>
                <a:cs typeface="Arial" panose="020B0604020202020204" pitchFamily="34" charset="0"/>
              </a:rPr>
              <a:t>Customers with active transactions</a:t>
            </a:r>
            <a:endParaRPr lang="en-US" sz="650" dirty="0"/>
          </a:p>
        </p:txBody>
      </p:sp>
      <p:sp>
        <p:nvSpPr>
          <p:cNvPr id="15" name="Text 13"/>
          <p:cNvSpPr/>
          <p:nvPr/>
        </p:nvSpPr>
        <p:spPr>
          <a:xfrm>
            <a:off x="3941461" y="1848594"/>
            <a:ext cx="3400648" cy="287834"/>
          </a:xfrm>
          <a:prstGeom prst="rect">
            <a:avLst/>
          </a:prstGeom>
          <a:noFill/>
          <a:ln/>
        </p:spPr>
        <p:txBody>
          <a:bodyPr wrap="none" lIns="0" tIns="0" rIns="0" bIns="0" rtlCol="0" anchor="t"/>
          <a:lstStyle/>
          <a:p>
            <a:pPr marL="0" indent="0" algn="ctr">
              <a:lnSpc>
                <a:spcPct val="83000"/>
              </a:lnSpc>
              <a:buNone/>
            </a:pPr>
            <a:r>
              <a:rPr lang="en-US" sz="2250" dirty="0">
                <a:solidFill>
                  <a:srgbClr val="BFBFBF"/>
                </a:solidFill>
                <a:latin typeface="Arial" panose="020B0604020202020204" pitchFamily="34" charset="0"/>
                <a:ea typeface="Instrument Sans Medium" pitchFamily="34" charset="-122"/>
                <a:cs typeface="Arial" panose="020B0604020202020204" pitchFamily="34" charset="0"/>
              </a:rPr>
              <a:t>SAR 5,675</a:t>
            </a:r>
            <a:endParaRPr lang="en-US" sz="2250" dirty="0"/>
          </a:p>
        </p:txBody>
      </p:sp>
      <p:sp>
        <p:nvSpPr>
          <p:cNvPr id="16" name="Text 14"/>
          <p:cNvSpPr/>
          <p:nvPr/>
        </p:nvSpPr>
        <p:spPr>
          <a:xfrm>
            <a:off x="5096665" y="2226022"/>
            <a:ext cx="1090240" cy="136252"/>
          </a:xfrm>
          <a:prstGeom prst="rect">
            <a:avLst/>
          </a:prstGeom>
          <a:noFill/>
          <a:ln/>
        </p:spPr>
        <p:txBody>
          <a:bodyPr wrap="none" lIns="0" tIns="0" rIns="0" bIns="0" rtlCol="0" anchor="t"/>
          <a:lstStyle/>
          <a:p>
            <a:pPr marL="0" indent="0" algn="ctr">
              <a:lnSpc>
                <a:spcPct val="104000"/>
              </a:lnSpc>
              <a:buNone/>
            </a:pPr>
            <a:r>
              <a:rPr lang="en-US" sz="850" dirty="0">
                <a:solidFill>
                  <a:srgbClr val="BFBFBF"/>
                </a:solidFill>
                <a:latin typeface="Arial" panose="020B0604020202020204" pitchFamily="34" charset="0"/>
                <a:ea typeface="Instrument Sans Medium" pitchFamily="34" charset="-122"/>
                <a:cs typeface="Arial" panose="020B0604020202020204" pitchFamily="34" charset="0"/>
              </a:rPr>
              <a:t>Avg. Invoice Value</a:t>
            </a:r>
            <a:endParaRPr lang="en-US" sz="850" dirty="0"/>
          </a:p>
        </p:txBody>
      </p:sp>
      <p:sp>
        <p:nvSpPr>
          <p:cNvPr id="17" name="Text 15"/>
          <p:cNvSpPr/>
          <p:nvPr/>
        </p:nvSpPr>
        <p:spPr>
          <a:xfrm>
            <a:off x="3941461" y="2399035"/>
            <a:ext cx="3400648" cy="118765"/>
          </a:xfrm>
          <a:prstGeom prst="rect">
            <a:avLst/>
          </a:prstGeom>
          <a:noFill/>
          <a:ln/>
        </p:spPr>
        <p:txBody>
          <a:bodyPr wrap="none" lIns="0" tIns="0" rIns="0" bIns="0" rtlCol="0" anchor="t"/>
          <a:lstStyle/>
          <a:p>
            <a:pPr marL="0" indent="0" algn="ctr">
              <a:lnSpc>
                <a:spcPct val="114000"/>
              </a:lnSpc>
              <a:buNone/>
            </a:pPr>
            <a:r>
              <a:rPr lang="en-US" sz="650" dirty="0">
                <a:solidFill>
                  <a:srgbClr val="BFBFBF"/>
                </a:solidFill>
                <a:latin typeface="Arial" panose="020B0604020202020204" pitchFamily="34" charset="0"/>
                <a:ea typeface="Open Sans" pitchFamily="34" charset="-122"/>
                <a:cs typeface="Arial" panose="020B0604020202020204" pitchFamily="34" charset="0"/>
              </a:rPr>
              <a:t>Across 61K invoices</a:t>
            </a:r>
            <a:endParaRPr lang="en-US" sz="650" dirty="0"/>
          </a:p>
        </p:txBody>
      </p:sp>
      <p:sp>
        <p:nvSpPr>
          <p:cNvPr id="18" name="Text 16"/>
          <p:cNvSpPr/>
          <p:nvPr/>
        </p:nvSpPr>
        <p:spPr>
          <a:xfrm>
            <a:off x="464241" y="2684041"/>
            <a:ext cx="3400574" cy="287834"/>
          </a:xfrm>
          <a:prstGeom prst="rect">
            <a:avLst/>
          </a:prstGeom>
          <a:noFill/>
          <a:ln/>
        </p:spPr>
        <p:txBody>
          <a:bodyPr wrap="none" lIns="0" tIns="0" rIns="0" bIns="0" rtlCol="0" anchor="t"/>
          <a:lstStyle/>
          <a:p>
            <a:pPr marL="0" indent="0" algn="ctr">
              <a:lnSpc>
                <a:spcPct val="83000"/>
              </a:lnSpc>
              <a:buNone/>
            </a:pPr>
            <a:r>
              <a:rPr lang="en-US" sz="2250" dirty="0">
                <a:solidFill>
                  <a:srgbClr val="BFBFBF"/>
                </a:solidFill>
                <a:latin typeface="Arial" panose="020B0604020202020204" pitchFamily="34" charset="0"/>
                <a:ea typeface="Instrument Sans Medium" pitchFamily="34" charset="-122"/>
                <a:cs typeface="Arial" panose="020B0604020202020204" pitchFamily="34" charset="0"/>
              </a:rPr>
              <a:t>1.7%</a:t>
            </a:r>
            <a:endParaRPr lang="en-US" sz="2250" dirty="0"/>
          </a:p>
        </p:txBody>
      </p:sp>
      <p:sp>
        <p:nvSpPr>
          <p:cNvPr id="19" name="Text 17"/>
          <p:cNvSpPr/>
          <p:nvPr/>
        </p:nvSpPr>
        <p:spPr>
          <a:xfrm>
            <a:off x="1619370" y="3061469"/>
            <a:ext cx="1090240" cy="136252"/>
          </a:xfrm>
          <a:prstGeom prst="rect">
            <a:avLst/>
          </a:prstGeom>
          <a:noFill/>
          <a:ln/>
        </p:spPr>
        <p:txBody>
          <a:bodyPr wrap="none" lIns="0" tIns="0" rIns="0" bIns="0" rtlCol="0" anchor="t"/>
          <a:lstStyle/>
          <a:p>
            <a:pPr marL="0" indent="0" algn="ctr">
              <a:lnSpc>
                <a:spcPct val="104000"/>
              </a:lnSpc>
              <a:buNone/>
            </a:pPr>
            <a:r>
              <a:rPr lang="en-US" sz="850" dirty="0">
                <a:solidFill>
                  <a:srgbClr val="BFBFBF"/>
                </a:solidFill>
                <a:latin typeface="Arial" panose="020B0604020202020204" pitchFamily="34" charset="0"/>
                <a:ea typeface="Instrument Sans Medium" pitchFamily="34" charset="-122"/>
                <a:cs typeface="Arial" panose="020B0604020202020204" pitchFamily="34" charset="0"/>
              </a:rPr>
              <a:t>Return Rate</a:t>
            </a:r>
            <a:endParaRPr lang="en-US" sz="850" dirty="0"/>
          </a:p>
        </p:txBody>
      </p:sp>
      <p:sp>
        <p:nvSpPr>
          <p:cNvPr id="20" name="Text 18"/>
          <p:cNvSpPr/>
          <p:nvPr/>
        </p:nvSpPr>
        <p:spPr>
          <a:xfrm>
            <a:off x="464241" y="3234481"/>
            <a:ext cx="3400574" cy="118765"/>
          </a:xfrm>
          <a:prstGeom prst="rect">
            <a:avLst/>
          </a:prstGeom>
          <a:noFill/>
          <a:ln/>
        </p:spPr>
        <p:txBody>
          <a:bodyPr wrap="none" lIns="0" tIns="0" rIns="0" bIns="0" rtlCol="0" anchor="t"/>
          <a:lstStyle/>
          <a:p>
            <a:pPr marL="0" indent="0" algn="ctr">
              <a:lnSpc>
                <a:spcPct val="114000"/>
              </a:lnSpc>
              <a:buNone/>
            </a:pPr>
            <a:r>
              <a:rPr lang="en-US" sz="650" dirty="0">
                <a:solidFill>
                  <a:srgbClr val="BFBFBF"/>
                </a:solidFill>
                <a:latin typeface="Arial" panose="020B0604020202020204" pitchFamily="34" charset="0"/>
                <a:ea typeface="Open Sans" pitchFamily="34" charset="-122"/>
                <a:cs typeface="Arial" panose="020B0604020202020204" pitchFamily="34" charset="0"/>
              </a:rPr>
              <a:t>Low return rate, strong quality</a:t>
            </a:r>
            <a:endParaRPr lang="en-US" sz="650" dirty="0"/>
          </a:p>
        </p:txBody>
      </p:sp>
      <p:sp>
        <p:nvSpPr>
          <p:cNvPr id="21" name="Text 19"/>
          <p:cNvSpPr/>
          <p:nvPr/>
        </p:nvSpPr>
        <p:spPr>
          <a:xfrm>
            <a:off x="3941461" y="2684041"/>
            <a:ext cx="3400648" cy="287834"/>
          </a:xfrm>
          <a:prstGeom prst="rect">
            <a:avLst/>
          </a:prstGeom>
          <a:noFill/>
          <a:ln/>
        </p:spPr>
        <p:txBody>
          <a:bodyPr wrap="none" lIns="0" tIns="0" rIns="0" bIns="0" rtlCol="0" anchor="t"/>
          <a:lstStyle/>
          <a:p>
            <a:pPr marL="0" indent="0" algn="ctr">
              <a:lnSpc>
                <a:spcPct val="83000"/>
              </a:lnSpc>
              <a:buNone/>
            </a:pPr>
            <a:r>
              <a:rPr lang="en-US" sz="2250" dirty="0">
                <a:solidFill>
                  <a:srgbClr val="BFBFBF"/>
                </a:solidFill>
                <a:latin typeface="Arial" panose="020B0604020202020204" pitchFamily="34" charset="0"/>
                <a:ea typeface="Instrument Sans Medium" pitchFamily="34" charset="-122"/>
                <a:cs typeface="Arial" panose="020B0604020202020204" pitchFamily="34" charset="0"/>
              </a:rPr>
              <a:t>SAR 29.63M</a:t>
            </a:r>
            <a:endParaRPr lang="en-US" sz="2250" dirty="0"/>
          </a:p>
        </p:txBody>
      </p:sp>
      <p:sp>
        <p:nvSpPr>
          <p:cNvPr id="22" name="Text 20"/>
          <p:cNvSpPr/>
          <p:nvPr/>
        </p:nvSpPr>
        <p:spPr>
          <a:xfrm>
            <a:off x="5096665" y="3061469"/>
            <a:ext cx="1090240" cy="136252"/>
          </a:xfrm>
          <a:prstGeom prst="rect">
            <a:avLst/>
          </a:prstGeom>
          <a:noFill/>
          <a:ln/>
        </p:spPr>
        <p:txBody>
          <a:bodyPr wrap="none" lIns="0" tIns="0" rIns="0" bIns="0" rtlCol="0" anchor="t"/>
          <a:lstStyle/>
          <a:p>
            <a:pPr marL="0" indent="0" algn="ctr">
              <a:lnSpc>
                <a:spcPct val="104000"/>
              </a:lnSpc>
              <a:buNone/>
            </a:pPr>
            <a:r>
              <a:rPr lang="en-US" sz="850" dirty="0">
                <a:solidFill>
                  <a:srgbClr val="BFBFBF"/>
                </a:solidFill>
                <a:latin typeface="Arial" panose="020B0604020202020204" pitchFamily="34" charset="0"/>
                <a:ea typeface="Instrument Sans Medium" pitchFamily="34" charset="-122"/>
                <a:cs typeface="Arial" panose="020B0604020202020204" pitchFamily="34" charset="0"/>
              </a:rPr>
              <a:t>Making Revenue</a:t>
            </a:r>
            <a:endParaRPr lang="en-US" sz="850" dirty="0"/>
          </a:p>
        </p:txBody>
      </p:sp>
      <p:sp>
        <p:nvSpPr>
          <p:cNvPr id="23" name="Text 21"/>
          <p:cNvSpPr/>
          <p:nvPr/>
        </p:nvSpPr>
        <p:spPr>
          <a:xfrm>
            <a:off x="3941461" y="3234481"/>
            <a:ext cx="3400648" cy="118765"/>
          </a:xfrm>
          <a:prstGeom prst="rect">
            <a:avLst/>
          </a:prstGeom>
          <a:noFill/>
          <a:ln/>
        </p:spPr>
        <p:txBody>
          <a:bodyPr wrap="none" lIns="0" tIns="0" rIns="0" bIns="0" rtlCol="0" anchor="t"/>
          <a:lstStyle/>
          <a:p>
            <a:pPr marL="0" indent="0" algn="ctr">
              <a:lnSpc>
                <a:spcPct val="114000"/>
              </a:lnSpc>
              <a:buNone/>
            </a:pPr>
            <a:r>
              <a:rPr lang="en-US" sz="650" dirty="0">
                <a:solidFill>
                  <a:srgbClr val="BFBFBF"/>
                </a:solidFill>
                <a:latin typeface="Arial" panose="020B0604020202020204" pitchFamily="34" charset="0"/>
                <a:ea typeface="Open Sans" pitchFamily="34" charset="-122"/>
                <a:cs typeface="Arial" panose="020B0604020202020204" pitchFamily="34" charset="0"/>
              </a:rPr>
              <a:t>Revenue from craftsmanship and making charges</a:t>
            </a:r>
            <a:endParaRPr lang="en-US" sz="650" dirty="0"/>
          </a:p>
        </p:txBody>
      </p:sp>
      <p:sp>
        <p:nvSpPr>
          <p:cNvPr id="24" name="Shape 22"/>
          <p:cNvSpPr/>
          <p:nvPr/>
        </p:nvSpPr>
        <p:spPr>
          <a:xfrm>
            <a:off x="396821" y="3499990"/>
            <a:ext cx="3467994" cy="1469343"/>
          </a:xfrm>
          <a:prstGeom prst="roundRect">
            <a:avLst>
              <a:gd name="adj" fmla="val 1093"/>
            </a:avLst>
          </a:prstGeom>
          <a:solidFill>
            <a:srgbClr val="F5F547"/>
          </a:solidFill>
          <a:ln/>
        </p:spPr>
      </p:sp>
      <p:sp>
        <p:nvSpPr>
          <p:cNvPr id="25" name="Text 23"/>
          <p:cNvSpPr/>
          <p:nvPr/>
        </p:nvSpPr>
        <p:spPr>
          <a:xfrm>
            <a:off x="484035" y="3561307"/>
            <a:ext cx="1547440" cy="136252"/>
          </a:xfrm>
          <a:prstGeom prst="rect">
            <a:avLst/>
          </a:prstGeom>
          <a:noFill/>
          <a:ln/>
        </p:spPr>
        <p:txBody>
          <a:bodyPr wrap="none" lIns="0" tIns="0" rIns="0" bIns="0" rtlCol="0" anchor="t"/>
          <a:lstStyle/>
          <a:p>
            <a:pPr marL="0" indent="0" algn="l">
              <a:lnSpc>
                <a:spcPct val="104000"/>
              </a:lnSpc>
              <a:buNone/>
            </a:pPr>
            <a:r>
              <a:rPr lang="en-US" sz="850" dirty="0">
                <a:solidFill>
                  <a:srgbClr val="000000"/>
                </a:solidFill>
                <a:latin typeface="Arial" panose="020B0604020202020204" pitchFamily="34" charset="0"/>
                <a:ea typeface="Instrument Sans Medium" pitchFamily="34" charset="-122"/>
                <a:cs typeface="Arial" panose="020B0604020202020204" pitchFamily="34" charset="0"/>
              </a:rPr>
              <a:t>Key Insights</a:t>
            </a:r>
            <a:endParaRPr lang="en-US" sz="850" dirty="0"/>
          </a:p>
        </p:txBody>
      </p:sp>
      <p:sp>
        <p:nvSpPr>
          <p:cNvPr id="26" name="Text 24"/>
          <p:cNvSpPr/>
          <p:nvPr/>
        </p:nvSpPr>
        <p:spPr>
          <a:xfrm>
            <a:off x="484035" y="3758877"/>
            <a:ext cx="3283595" cy="1156023"/>
          </a:xfrm>
          <a:prstGeom prst="rect">
            <a:avLst/>
          </a:prstGeom>
          <a:noFill/>
          <a:ln/>
        </p:spPr>
        <p:txBody>
          <a:bodyPr wrap="square" lIns="0" tIns="0" rIns="0" bIns="0" rtlCol="0" anchor="t">
            <a:normAutofit/>
          </a:bodyPr>
          <a:lstStyle/>
          <a:p>
            <a:pPr marL="342900" indent="-342900" algn="l">
              <a:lnSpc>
                <a:spcPct val="114000"/>
              </a:lnSpc>
              <a:buSzPct val="100000"/>
              <a:buChar char="•"/>
            </a:pPr>
            <a:r>
              <a:rPr lang="en-US" sz="800" dirty="0">
                <a:solidFill>
                  <a:srgbClr val="000000"/>
                </a:solidFill>
                <a:latin typeface="Arial" panose="020B0604020202020204" pitchFamily="34" charset="0"/>
                <a:ea typeface="Open Sans" pitchFamily="34" charset="-122"/>
                <a:cs typeface="Arial" panose="020B0604020202020204" pitchFamily="34" charset="0"/>
              </a:rPr>
              <a:t>22K products generated </a:t>
            </a:r>
            <a:r>
              <a:rPr lang="en-US" sz="800" b="1" dirty="0">
                <a:solidFill>
                  <a:srgbClr val="000000"/>
                </a:solidFill>
                <a:latin typeface="Arial" panose="020B0604020202020204" pitchFamily="34" charset="0"/>
                <a:ea typeface="Open Sans" pitchFamily="34" charset="-122"/>
                <a:cs typeface="Arial" panose="020B0604020202020204" pitchFamily="34" charset="0"/>
              </a:rPr>
              <a:t>SAR 206.41M</a:t>
            </a:r>
            <a:r>
              <a:rPr lang="en-US" sz="800" dirty="0">
                <a:solidFill>
                  <a:srgbClr val="000000"/>
                </a:solidFill>
                <a:latin typeface="Arial" panose="020B0604020202020204" pitchFamily="34" charset="0"/>
                <a:ea typeface="Open Sans" pitchFamily="34" charset="-122"/>
                <a:cs typeface="Arial" panose="020B0604020202020204" pitchFamily="34" charset="0"/>
              </a:rPr>
              <a:t> — the largest single revenue contribution</a:t>
            </a:r>
            <a:endParaRPr lang="en-US" sz="800" dirty="0"/>
          </a:p>
          <a:p>
            <a:pPr marL="342900" indent="-342900" algn="l">
              <a:lnSpc>
                <a:spcPct val="114000"/>
              </a:lnSpc>
              <a:buSzPct val="100000"/>
              <a:buChar char="•"/>
            </a:pPr>
            <a:r>
              <a:rPr lang="en-US" sz="800" dirty="0">
                <a:solidFill>
                  <a:srgbClr val="000000"/>
                </a:solidFill>
                <a:latin typeface="Arial" panose="020B0604020202020204" pitchFamily="34" charset="0"/>
                <a:ea typeface="Open Sans" pitchFamily="34" charset="-122"/>
                <a:cs typeface="Arial" panose="020B0604020202020204" pitchFamily="34" charset="0"/>
              </a:rPr>
              <a:t>Gold division generated approximately </a:t>
            </a:r>
            <a:r>
              <a:rPr lang="en-US" sz="800" b="1" dirty="0">
                <a:solidFill>
                  <a:srgbClr val="000000"/>
                </a:solidFill>
                <a:latin typeface="Arial" panose="020B0604020202020204" pitchFamily="34" charset="0"/>
                <a:ea typeface="Open Sans" pitchFamily="34" charset="-122"/>
                <a:cs typeface="Arial" panose="020B0604020202020204" pitchFamily="34" charset="0"/>
              </a:rPr>
              <a:t>SAR 321.95M</a:t>
            </a:r>
            <a:r>
              <a:rPr lang="en-US" sz="800" dirty="0">
                <a:solidFill>
                  <a:srgbClr val="000000"/>
                </a:solidFill>
                <a:latin typeface="Arial" panose="020B0604020202020204" pitchFamily="34" charset="0"/>
                <a:ea typeface="Open Sans" pitchFamily="34" charset="-122"/>
                <a:cs typeface="Arial" panose="020B0604020202020204" pitchFamily="34" charset="0"/>
              </a:rPr>
              <a:t>, representing the dominant share of total revenue</a:t>
            </a:r>
            <a:endParaRPr lang="en-US" sz="800" dirty="0"/>
          </a:p>
          <a:p>
            <a:pPr marL="342900" indent="-342900" algn="l">
              <a:lnSpc>
                <a:spcPct val="114000"/>
              </a:lnSpc>
              <a:buSzPct val="100000"/>
              <a:buChar char="•"/>
            </a:pPr>
            <a:r>
              <a:rPr lang="en-US" sz="800" dirty="0">
                <a:solidFill>
                  <a:srgbClr val="000000"/>
                </a:solidFill>
                <a:latin typeface="Arial" panose="020B0604020202020204" pitchFamily="34" charset="0"/>
                <a:ea typeface="Open Sans" pitchFamily="34" charset="-122"/>
                <a:cs typeface="Arial" panose="020B0604020202020204" pitchFamily="34" charset="0"/>
              </a:rPr>
              <a:t>Branch 16 was the highest revenue contributor at approximately </a:t>
            </a:r>
            <a:r>
              <a:rPr lang="en-US" sz="800" b="1" dirty="0">
                <a:solidFill>
                  <a:srgbClr val="000000"/>
                </a:solidFill>
                <a:latin typeface="Arial" panose="020B0604020202020204" pitchFamily="34" charset="0"/>
                <a:ea typeface="Open Sans" pitchFamily="34" charset="-122"/>
                <a:cs typeface="Arial" panose="020B0604020202020204" pitchFamily="34" charset="0"/>
              </a:rPr>
              <a:t>SAR 37M</a:t>
            </a:r>
            <a:endParaRPr lang="en-US" sz="800" dirty="0"/>
          </a:p>
          <a:p>
            <a:pPr marL="342900" indent="-342900" algn="l">
              <a:lnSpc>
                <a:spcPct val="114000"/>
              </a:lnSpc>
              <a:buSzPct val="100000"/>
              <a:buChar char="•"/>
            </a:pPr>
            <a:r>
              <a:rPr lang="en-US" sz="800" dirty="0">
                <a:solidFill>
                  <a:srgbClr val="000000"/>
                </a:solidFill>
                <a:latin typeface="Arial" panose="020B0604020202020204" pitchFamily="34" charset="0"/>
                <a:ea typeface="Open Sans" pitchFamily="34" charset="-122"/>
                <a:cs typeface="Arial" panose="020B0604020202020204" pitchFamily="34" charset="0"/>
              </a:rPr>
              <a:t>Revenue growth versus last year was </a:t>
            </a:r>
            <a:r>
              <a:rPr lang="en-US" sz="800" b="1" dirty="0">
                <a:solidFill>
                  <a:srgbClr val="000000"/>
                </a:solidFill>
                <a:latin typeface="Arial" panose="020B0604020202020204" pitchFamily="34" charset="0"/>
                <a:ea typeface="Open Sans" pitchFamily="34" charset="-122"/>
                <a:cs typeface="Arial" panose="020B0604020202020204" pitchFamily="34" charset="0"/>
              </a:rPr>
              <a:t>4.19%</a:t>
            </a:r>
            <a:endParaRPr lang="en-US" sz="800" dirty="0"/>
          </a:p>
          <a:p>
            <a:pPr marL="342900" indent="-342900" algn="l">
              <a:lnSpc>
                <a:spcPct val="114000"/>
              </a:lnSpc>
              <a:buSzPct val="100000"/>
              <a:buChar char="•"/>
            </a:pPr>
            <a:r>
              <a:rPr lang="en-US" sz="800" dirty="0">
                <a:solidFill>
                  <a:srgbClr val="000000"/>
                </a:solidFill>
                <a:latin typeface="Arial" panose="020B0604020202020204" pitchFamily="34" charset="0"/>
                <a:ea typeface="Open Sans" pitchFamily="34" charset="-122"/>
                <a:cs typeface="Arial" panose="020B0604020202020204" pitchFamily="34" charset="0"/>
              </a:rPr>
              <a:t>Monthly revenue trend shows strong performance in early 2026</a:t>
            </a:r>
            <a:endParaRPr lang="en-US" sz="800" dirty="0"/>
          </a:p>
        </p:txBody>
      </p:sp>
      <p:sp>
        <p:nvSpPr>
          <p:cNvPr id="27" name="Text 25"/>
          <p:cNvSpPr/>
          <p:nvPr/>
        </p:nvSpPr>
        <p:spPr>
          <a:xfrm>
            <a:off x="4009550" y="3561307"/>
            <a:ext cx="1888629" cy="136252"/>
          </a:xfrm>
          <a:prstGeom prst="rect">
            <a:avLst/>
          </a:prstGeom>
          <a:noFill/>
          <a:ln/>
        </p:spPr>
        <p:txBody>
          <a:bodyPr wrap="none" lIns="0" tIns="0" rIns="0" bIns="0" rtlCol="0" anchor="t"/>
          <a:lstStyle/>
          <a:p>
            <a:pPr marL="0" indent="0" algn="l">
              <a:lnSpc>
                <a:spcPct val="104000"/>
              </a:lnSpc>
              <a:buNone/>
            </a:pPr>
            <a:r>
              <a:rPr lang="en-US" sz="850" dirty="0">
                <a:solidFill>
                  <a:srgbClr val="FEFEFE"/>
                </a:solidFill>
                <a:latin typeface="Arial" panose="020B0604020202020204" pitchFamily="34" charset="0"/>
                <a:ea typeface="Instrument Sans Medium" pitchFamily="34" charset="-122"/>
                <a:cs typeface="Arial" panose="020B0604020202020204" pitchFamily="34" charset="0"/>
              </a:rPr>
              <a:t>Business Recommendations</a:t>
            </a:r>
            <a:endParaRPr lang="en-US" sz="850" dirty="0"/>
          </a:p>
        </p:txBody>
      </p:sp>
      <p:sp>
        <p:nvSpPr>
          <p:cNvPr id="28" name="Text 26"/>
          <p:cNvSpPr/>
          <p:nvPr/>
        </p:nvSpPr>
        <p:spPr>
          <a:xfrm>
            <a:off x="4009550" y="3758877"/>
            <a:ext cx="3467994" cy="741240"/>
          </a:xfrm>
          <a:prstGeom prst="rect">
            <a:avLst/>
          </a:prstGeom>
          <a:noFill/>
          <a:ln/>
        </p:spPr>
        <p:txBody>
          <a:bodyPr wrap="square" lIns="0" tIns="0" rIns="0" bIns="0" rtlCol="0" anchor="t">
            <a:normAutofit/>
          </a:bodyPr>
          <a:lstStyle/>
          <a:p>
            <a:pPr marL="342900" indent="-342900" algn="l">
              <a:lnSpc>
                <a:spcPct val="114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Increase inventory allocation for 22K products to capture sustained demand</a:t>
            </a:r>
            <a:endParaRPr lang="en-US" sz="900" dirty="0"/>
          </a:p>
          <a:p>
            <a:pPr marL="342900" indent="-342900" algn="l">
              <a:lnSpc>
                <a:spcPct val="114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Replicate sales strategies from top-performing branches across the network</a:t>
            </a:r>
            <a:endParaRPr lang="en-US" sz="900" dirty="0"/>
          </a:p>
        </p:txBody>
      </p:sp>
    </p:spTree>
    <p:extLst>
      <p:ext uri="{BB962C8B-B14F-4D97-AF65-F5344CB8AC3E}">
        <p14:creationId xmlns:p14="http://schemas.microsoft.com/office/powerpoint/2010/main" val="111328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44240" y="178966"/>
            <a:ext cx="4283794" cy="320948"/>
          </a:xfrm>
          <a:prstGeom prst="rect">
            <a:avLst/>
          </a:prstGeom>
          <a:noFill/>
          <a:ln/>
        </p:spPr>
        <p:txBody>
          <a:bodyPr wrap="none" lIns="0" tIns="0" rIns="0" bIns="0" rtlCol="0" anchor="t"/>
          <a:lstStyle/>
          <a:p>
            <a:pPr marL="0" indent="0" algn="l">
              <a:lnSpc>
                <a:spcPct val="104000"/>
              </a:lnSpc>
              <a:buNone/>
            </a:pPr>
            <a:r>
              <a:rPr lang="en-US" sz="200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Branch</a:t>
            </a:r>
            <a:r>
              <a:rPr lang="en-US" sz="2000" b="1" dirty="0">
                <a:solidFill>
                  <a:srgbClr val="FEFEFE"/>
                </a:solidFill>
                <a:latin typeface="Arial" panose="020B0604020202020204" pitchFamily="34" charset="0"/>
                <a:ea typeface="Instrument Sans Medium" pitchFamily="34" charset="-122"/>
                <a:cs typeface="Arial" panose="020B0604020202020204" pitchFamily="34" charset="0"/>
              </a:rPr>
              <a:t> </a:t>
            </a:r>
            <a:r>
              <a:rPr lang="en-US" sz="200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Performance</a:t>
            </a:r>
            <a:r>
              <a:rPr lang="en-US" sz="2000" b="1" dirty="0">
                <a:solidFill>
                  <a:srgbClr val="FEFEFE"/>
                </a:solidFill>
                <a:latin typeface="Arial" panose="020B0604020202020204" pitchFamily="34" charset="0"/>
                <a:ea typeface="Instrument Sans Medium" pitchFamily="34" charset="-122"/>
                <a:cs typeface="Arial" panose="020B0604020202020204" pitchFamily="34" charset="0"/>
              </a:rPr>
              <a:t> </a:t>
            </a:r>
            <a:r>
              <a:rPr lang="en-US" sz="200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Dashboard</a:t>
            </a:r>
            <a:endParaRPr lang="en-US" sz="2000" b="1" dirty="0">
              <a:solidFill>
                <a:schemeClr val="accent4">
                  <a:lumMod val="60000"/>
                  <a:lumOff val="40000"/>
                </a:schemeClr>
              </a:solidFill>
            </a:endParaRPr>
          </a:p>
        </p:txBody>
      </p:sp>
      <p:sp>
        <p:nvSpPr>
          <p:cNvPr id="5" name="Text 3"/>
          <p:cNvSpPr/>
          <p:nvPr/>
        </p:nvSpPr>
        <p:spPr>
          <a:xfrm>
            <a:off x="521643" y="1044699"/>
            <a:ext cx="8100640"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Branch-level analysis reveals significant performance variation across the network. Branch 16 leads revenue generation, while top salespeople drive disproportionate value — creating clear benchmarks for operational improvement.</a:t>
            </a:r>
            <a:endParaRPr lang="en-US" sz="800" dirty="0"/>
          </a:p>
        </p:txBody>
      </p:sp>
      <p:sp>
        <p:nvSpPr>
          <p:cNvPr id="6" name="Shape 4"/>
          <p:cNvSpPr/>
          <p:nvPr/>
        </p:nvSpPr>
        <p:spPr>
          <a:xfrm>
            <a:off x="521643" y="1440731"/>
            <a:ext cx="4007793" cy="567035"/>
          </a:xfrm>
          <a:prstGeom prst="roundRect">
            <a:avLst>
              <a:gd name="adj" fmla="val 2717"/>
            </a:avLst>
          </a:prstGeom>
          <a:solidFill>
            <a:srgbClr val="3E3E3E"/>
          </a:solidFill>
          <a:ln/>
        </p:spPr>
      </p:sp>
      <p:sp>
        <p:nvSpPr>
          <p:cNvPr id="7" name="Text 5"/>
          <p:cNvSpPr/>
          <p:nvPr/>
        </p:nvSpPr>
        <p:spPr>
          <a:xfrm>
            <a:off x="624334" y="1543422"/>
            <a:ext cx="1284015" cy="160511"/>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SAR 348.3M</a:t>
            </a:r>
            <a:endParaRPr lang="en-US" sz="1000" dirty="0"/>
          </a:p>
        </p:txBody>
      </p:sp>
      <p:sp>
        <p:nvSpPr>
          <p:cNvPr id="8" name="Text 6"/>
          <p:cNvSpPr/>
          <p:nvPr/>
        </p:nvSpPr>
        <p:spPr>
          <a:xfrm>
            <a:off x="624334" y="1754907"/>
            <a:ext cx="3802410" cy="150168"/>
          </a:xfrm>
          <a:prstGeom prst="rect">
            <a:avLst/>
          </a:prstGeom>
          <a:noFill/>
          <a:ln/>
        </p:spPr>
        <p:txBody>
          <a:bodyPr wrap="none" lIns="0" tIns="0" rIns="0" bIns="0" rtlCol="0" anchor="t"/>
          <a:lstStyle/>
          <a:p>
            <a:pPr marL="0" indent="0" algn="l">
              <a:lnSpc>
                <a:spcPct val="122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Selected Branch Revenue</a:t>
            </a:r>
            <a:endParaRPr lang="en-US" sz="800" dirty="0"/>
          </a:p>
        </p:txBody>
      </p:sp>
      <p:sp>
        <p:nvSpPr>
          <p:cNvPr id="9" name="Shape 7"/>
          <p:cNvSpPr/>
          <p:nvPr/>
        </p:nvSpPr>
        <p:spPr>
          <a:xfrm>
            <a:off x="4614490" y="1440731"/>
            <a:ext cx="4007793" cy="567035"/>
          </a:xfrm>
          <a:prstGeom prst="roundRect">
            <a:avLst>
              <a:gd name="adj" fmla="val 2717"/>
            </a:avLst>
          </a:prstGeom>
          <a:solidFill>
            <a:srgbClr val="3E3E3E"/>
          </a:solidFill>
          <a:ln/>
        </p:spPr>
      </p:sp>
      <p:sp>
        <p:nvSpPr>
          <p:cNvPr id="10" name="Text 8"/>
          <p:cNvSpPr/>
          <p:nvPr/>
        </p:nvSpPr>
        <p:spPr>
          <a:xfrm>
            <a:off x="4717182" y="1543422"/>
            <a:ext cx="1284015" cy="160511"/>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2,577,238 g</a:t>
            </a:r>
            <a:endParaRPr lang="en-US" sz="1000" dirty="0"/>
          </a:p>
        </p:txBody>
      </p:sp>
      <p:sp>
        <p:nvSpPr>
          <p:cNvPr id="11" name="Text 9"/>
          <p:cNvSpPr/>
          <p:nvPr/>
        </p:nvSpPr>
        <p:spPr>
          <a:xfrm>
            <a:off x="4717182" y="1754907"/>
            <a:ext cx="3802410" cy="150168"/>
          </a:xfrm>
          <a:prstGeom prst="rect">
            <a:avLst/>
          </a:prstGeom>
          <a:noFill/>
          <a:ln/>
        </p:spPr>
        <p:txBody>
          <a:bodyPr wrap="none" lIns="0" tIns="0" rIns="0" bIns="0" rtlCol="0" anchor="t"/>
          <a:lstStyle/>
          <a:p>
            <a:pPr marL="0" indent="0" algn="l">
              <a:lnSpc>
                <a:spcPct val="122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Total Weight Sold</a:t>
            </a:r>
            <a:endParaRPr lang="en-US" sz="800" dirty="0"/>
          </a:p>
        </p:txBody>
      </p:sp>
      <p:sp>
        <p:nvSpPr>
          <p:cNvPr id="12" name="Shape 10"/>
          <p:cNvSpPr/>
          <p:nvPr/>
        </p:nvSpPr>
        <p:spPr>
          <a:xfrm>
            <a:off x="521643" y="2092821"/>
            <a:ext cx="4007793" cy="567035"/>
          </a:xfrm>
          <a:prstGeom prst="roundRect">
            <a:avLst>
              <a:gd name="adj" fmla="val 2717"/>
            </a:avLst>
          </a:prstGeom>
          <a:solidFill>
            <a:srgbClr val="3E3E3E"/>
          </a:solidFill>
          <a:ln/>
        </p:spPr>
        <p:txBody>
          <a:bodyPr/>
          <a:lstStyle/>
          <a:p>
            <a:endParaRPr lang="en-GB" dirty="0"/>
          </a:p>
        </p:txBody>
      </p:sp>
      <p:sp>
        <p:nvSpPr>
          <p:cNvPr id="13" name="Text 11"/>
          <p:cNvSpPr/>
          <p:nvPr/>
        </p:nvSpPr>
        <p:spPr>
          <a:xfrm>
            <a:off x="624334" y="2195513"/>
            <a:ext cx="1284015" cy="160511"/>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#1 / 20</a:t>
            </a:r>
            <a:endParaRPr lang="en-US" sz="1000" dirty="0"/>
          </a:p>
        </p:txBody>
      </p:sp>
      <p:sp>
        <p:nvSpPr>
          <p:cNvPr id="14" name="Text 12"/>
          <p:cNvSpPr/>
          <p:nvPr/>
        </p:nvSpPr>
        <p:spPr>
          <a:xfrm>
            <a:off x="624334" y="2406997"/>
            <a:ext cx="3802410" cy="150168"/>
          </a:xfrm>
          <a:prstGeom prst="rect">
            <a:avLst/>
          </a:prstGeom>
          <a:noFill/>
          <a:ln/>
        </p:spPr>
        <p:txBody>
          <a:bodyPr wrap="none" lIns="0" tIns="0" rIns="0" bIns="0" rtlCol="0" anchor="t"/>
          <a:lstStyle/>
          <a:p>
            <a:pPr marL="0" indent="0" algn="l">
              <a:lnSpc>
                <a:spcPct val="122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Branch Rank</a:t>
            </a:r>
            <a:endParaRPr lang="en-US" sz="800" dirty="0"/>
          </a:p>
        </p:txBody>
      </p:sp>
      <p:sp>
        <p:nvSpPr>
          <p:cNvPr id="15" name="Shape 13"/>
          <p:cNvSpPr/>
          <p:nvPr/>
        </p:nvSpPr>
        <p:spPr>
          <a:xfrm>
            <a:off x="4614490" y="2092821"/>
            <a:ext cx="4007793" cy="567035"/>
          </a:xfrm>
          <a:prstGeom prst="roundRect">
            <a:avLst>
              <a:gd name="adj" fmla="val 2717"/>
            </a:avLst>
          </a:prstGeom>
          <a:solidFill>
            <a:srgbClr val="3E3E3E"/>
          </a:solidFill>
          <a:ln/>
        </p:spPr>
      </p:sp>
      <p:sp>
        <p:nvSpPr>
          <p:cNvPr id="16" name="Text 14"/>
          <p:cNvSpPr/>
          <p:nvPr/>
        </p:nvSpPr>
        <p:spPr>
          <a:xfrm>
            <a:off x="4717182" y="2195513"/>
            <a:ext cx="1284015" cy="160511"/>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SAR 5,675.43</a:t>
            </a:r>
            <a:endParaRPr lang="en-US" sz="1000" dirty="0"/>
          </a:p>
        </p:txBody>
      </p:sp>
      <p:sp>
        <p:nvSpPr>
          <p:cNvPr id="17" name="Text 15"/>
          <p:cNvSpPr/>
          <p:nvPr/>
        </p:nvSpPr>
        <p:spPr>
          <a:xfrm>
            <a:off x="4717182" y="2406997"/>
            <a:ext cx="3802410" cy="150168"/>
          </a:xfrm>
          <a:prstGeom prst="rect">
            <a:avLst/>
          </a:prstGeom>
          <a:noFill/>
          <a:ln/>
        </p:spPr>
        <p:txBody>
          <a:bodyPr wrap="none" lIns="0" tIns="0" rIns="0" bIns="0" rtlCol="0" anchor="t"/>
          <a:lstStyle/>
          <a:p>
            <a:pPr marL="0" indent="0" algn="l">
              <a:lnSpc>
                <a:spcPct val="122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Average Transaction Value</a:t>
            </a:r>
            <a:endParaRPr lang="en-US" sz="800" dirty="0"/>
          </a:p>
        </p:txBody>
      </p:sp>
      <p:sp>
        <p:nvSpPr>
          <p:cNvPr id="18" name="Text 16"/>
          <p:cNvSpPr/>
          <p:nvPr/>
        </p:nvSpPr>
        <p:spPr>
          <a:xfrm>
            <a:off x="521643" y="2840608"/>
            <a:ext cx="2060153" cy="160511"/>
          </a:xfrm>
          <a:prstGeom prst="rect">
            <a:avLst/>
          </a:prstGeom>
          <a:noFill/>
          <a:ln/>
        </p:spPr>
        <p:txBody>
          <a:bodyPr wrap="none" lIns="0" tIns="0" rIns="0" bIns="0" rtlCol="0" anchor="t"/>
          <a:lstStyle/>
          <a:p>
            <a:pPr marL="0" indent="0" algn="l">
              <a:lnSpc>
                <a:spcPct val="104000"/>
              </a:lnSpc>
              <a:buNone/>
            </a:pPr>
            <a:r>
              <a:rPr lang="en-US" sz="1000" dirty="0">
                <a:solidFill>
                  <a:srgbClr val="FEFEFE"/>
                </a:solidFill>
                <a:latin typeface="Arial" panose="020B0604020202020204" pitchFamily="34" charset="0"/>
                <a:ea typeface="Instrument Sans Medium" pitchFamily="34" charset="-122"/>
                <a:cs typeface="Arial" panose="020B0604020202020204" pitchFamily="34" charset="0"/>
              </a:rPr>
              <a:t>Branch &amp; Payment Insights</a:t>
            </a:r>
            <a:endParaRPr lang="en-US" sz="1000" dirty="0"/>
          </a:p>
        </p:txBody>
      </p:sp>
      <p:sp>
        <p:nvSpPr>
          <p:cNvPr id="19" name="Text 17"/>
          <p:cNvSpPr/>
          <p:nvPr/>
        </p:nvSpPr>
        <p:spPr>
          <a:xfrm>
            <a:off x="521643" y="3086174"/>
            <a:ext cx="3924970" cy="960537"/>
          </a:xfrm>
          <a:prstGeom prst="rect">
            <a:avLst/>
          </a:prstGeom>
          <a:noFill/>
          <a:ln/>
        </p:spPr>
        <p:txBody>
          <a:bodyPr wrap="square" lIns="0" tIns="0" rIns="0" bIns="0" rtlCol="0" anchor="t">
            <a:normAutofit/>
          </a:bodyPr>
          <a:lstStyle/>
          <a:p>
            <a:pPr marL="342900" indent="-342900" algn="l">
              <a:lnSpc>
                <a:spcPct val="122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Branch 16 generated approximately </a:t>
            </a:r>
            <a:r>
              <a:rPr lang="en-US" sz="800" b="1" dirty="0">
                <a:solidFill>
                  <a:srgbClr val="BFBFBF"/>
                </a:solidFill>
                <a:latin typeface="Arial" panose="020B0604020202020204" pitchFamily="34" charset="0"/>
                <a:ea typeface="Open Sans" pitchFamily="34" charset="-122"/>
                <a:cs typeface="Arial" panose="020B0604020202020204" pitchFamily="34" charset="0"/>
              </a:rPr>
              <a:t>SAR 37M</a:t>
            </a:r>
            <a:r>
              <a:rPr lang="en-US" sz="800" dirty="0">
                <a:solidFill>
                  <a:srgbClr val="BFBFBF"/>
                </a:solidFill>
                <a:latin typeface="Arial" panose="020B0604020202020204" pitchFamily="34" charset="0"/>
                <a:ea typeface="Open Sans" pitchFamily="34" charset="-122"/>
                <a:cs typeface="Arial" panose="020B0604020202020204" pitchFamily="34" charset="0"/>
              </a:rPr>
              <a:t> in revenue — the highest among all 20 branches</a:t>
            </a:r>
            <a:endParaRPr lang="en-US" sz="800" dirty="0"/>
          </a:p>
          <a:p>
            <a:pPr marL="342900" indent="-342900" algn="l">
              <a:lnSpc>
                <a:spcPct val="122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Branch 18 demonstrated strong average transaction values, indicating premium customer engagement</a:t>
            </a:r>
            <a:endParaRPr lang="en-US" sz="800" dirty="0"/>
          </a:p>
          <a:p>
            <a:pPr marL="342900" indent="-342900" algn="l">
              <a:lnSpc>
                <a:spcPct val="122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Cash accounts for approximately </a:t>
            </a:r>
            <a:r>
              <a:rPr lang="en-US" sz="800" b="1" dirty="0">
                <a:solidFill>
                  <a:srgbClr val="BFBFBF"/>
                </a:solidFill>
                <a:latin typeface="Arial" panose="020B0604020202020204" pitchFamily="34" charset="0"/>
                <a:ea typeface="Open Sans" pitchFamily="34" charset="-122"/>
                <a:cs typeface="Arial" panose="020B0604020202020204" pitchFamily="34" charset="0"/>
              </a:rPr>
              <a:t>59.5%</a:t>
            </a:r>
            <a:r>
              <a:rPr lang="en-US" sz="800" dirty="0">
                <a:solidFill>
                  <a:srgbClr val="BFBFBF"/>
                </a:solidFill>
                <a:latin typeface="Arial" panose="020B0604020202020204" pitchFamily="34" charset="0"/>
                <a:ea typeface="Open Sans" pitchFamily="34" charset="-122"/>
                <a:cs typeface="Arial" panose="020B0604020202020204" pitchFamily="34" charset="0"/>
              </a:rPr>
              <a:t> of all payment methods, underscoring the continued dominance of physical currency</a:t>
            </a:r>
            <a:endParaRPr lang="en-US" sz="800" dirty="0"/>
          </a:p>
        </p:txBody>
      </p:sp>
      <p:sp>
        <p:nvSpPr>
          <p:cNvPr id="20" name="Shape 18"/>
          <p:cNvSpPr/>
          <p:nvPr/>
        </p:nvSpPr>
        <p:spPr>
          <a:xfrm>
            <a:off x="4628034" y="2755553"/>
            <a:ext cx="4072905" cy="1320924"/>
          </a:xfrm>
          <a:prstGeom prst="roundRect">
            <a:avLst>
              <a:gd name="adj" fmla="val 1167"/>
            </a:avLst>
          </a:prstGeom>
          <a:solidFill>
            <a:srgbClr val="F5F547"/>
          </a:solidFill>
          <a:ln/>
        </p:spPr>
      </p:sp>
      <p:sp>
        <p:nvSpPr>
          <p:cNvPr id="21" name="Text 19"/>
          <p:cNvSpPr/>
          <p:nvPr/>
        </p:nvSpPr>
        <p:spPr>
          <a:xfrm>
            <a:off x="4730725" y="2840608"/>
            <a:ext cx="1970559" cy="160511"/>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Arial" panose="020B0604020202020204" pitchFamily="34" charset="0"/>
                <a:ea typeface="Instrument Sans Medium" pitchFamily="34" charset="-122"/>
                <a:cs typeface="Arial" panose="020B0604020202020204" pitchFamily="34" charset="0"/>
              </a:rPr>
              <a:t>Top Salesperson — ID 103</a:t>
            </a:r>
            <a:endParaRPr lang="en-US" sz="1000" dirty="0"/>
          </a:p>
        </p:txBody>
      </p:sp>
      <p:sp>
        <p:nvSpPr>
          <p:cNvPr id="22" name="Text 20"/>
          <p:cNvSpPr/>
          <p:nvPr/>
        </p:nvSpPr>
        <p:spPr>
          <a:xfrm>
            <a:off x="4730725" y="3086174"/>
            <a:ext cx="3867522" cy="510034"/>
          </a:xfrm>
          <a:prstGeom prst="rect">
            <a:avLst/>
          </a:prstGeom>
          <a:noFill/>
          <a:ln/>
        </p:spPr>
        <p:txBody>
          <a:bodyPr wrap="square" lIns="0" tIns="0" rIns="0" bIns="0" rtlCol="0" anchor="t">
            <a:normAutofit/>
          </a:bodyPr>
          <a:lstStyle/>
          <a:p>
            <a:pPr marL="342900" indent="-342900" algn="l">
              <a:lnSpc>
                <a:spcPct val="122000"/>
              </a:lnSpc>
              <a:buSzPct val="100000"/>
              <a:buChar char="•"/>
            </a:pPr>
            <a:r>
              <a:rPr lang="en-US" sz="800" dirty="0">
                <a:solidFill>
                  <a:srgbClr val="000000"/>
                </a:solidFill>
                <a:latin typeface="Arial" panose="020B0604020202020204" pitchFamily="34" charset="0"/>
                <a:ea typeface="Open Sans" pitchFamily="34" charset="-122"/>
                <a:cs typeface="Arial" panose="020B0604020202020204" pitchFamily="34" charset="0"/>
              </a:rPr>
              <a:t>Revenue: </a:t>
            </a:r>
            <a:r>
              <a:rPr lang="en-US" sz="800" b="1" dirty="0">
                <a:solidFill>
                  <a:srgbClr val="000000"/>
                </a:solidFill>
                <a:latin typeface="Arial" panose="020B0604020202020204" pitchFamily="34" charset="0"/>
                <a:ea typeface="Open Sans" pitchFamily="34" charset="-122"/>
                <a:cs typeface="Arial" panose="020B0604020202020204" pitchFamily="34" charset="0"/>
              </a:rPr>
              <a:t>SAR 27.3M</a:t>
            </a:r>
            <a:endParaRPr lang="en-US" sz="800" dirty="0"/>
          </a:p>
          <a:p>
            <a:pPr marL="342900" indent="-342900" algn="l">
              <a:lnSpc>
                <a:spcPct val="122000"/>
              </a:lnSpc>
              <a:buSzPct val="100000"/>
              <a:buChar char="•"/>
            </a:pPr>
            <a:r>
              <a:rPr lang="en-US" sz="800" dirty="0">
                <a:solidFill>
                  <a:srgbClr val="000000"/>
                </a:solidFill>
                <a:latin typeface="Arial" panose="020B0604020202020204" pitchFamily="34" charset="0"/>
                <a:ea typeface="Open Sans" pitchFamily="34" charset="-122"/>
                <a:cs typeface="Arial" panose="020B0604020202020204" pitchFamily="34" charset="0"/>
              </a:rPr>
              <a:t>Weight Sold: </a:t>
            </a:r>
            <a:r>
              <a:rPr lang="en-US" sz="800" b="1" dirty="0">
                <a:solidFill>
                  <a:srgbClr val="000000"/>
                </a:solidFill>
                <a:latin typeface="Arial" panose="020B0604020202020204" pitchFamily="34" charset="0"/>
                <a:ea typeface="Open Sans" pitchFamily="34" charset="-122"/>
                <a:cs typeface="Arial" panose="020B0604020202020204" pitchFamily="34" charset="0"/>
              </a:rPr>
              <a:t>271,931 g</a:t>
            </a:r>
            <a:endParaRPr lang="en-US" sz="800" dirty="0"/>
          </a:p>
          <a:p>
            <a:pPr marL="342900" indent="-342900" algn="l">
              <a:lnSpc>
                <a:spcPct val="122000"/>
              </a:lnSpc>
              <a:buSzPct val="100000"/>
              <a:buChar char="•"/>
            </a:pPr>
            <a:r>
              <a:rPr lang="en-US" sz="800" dirty="0">
                <a:solidFill>
                  <a:srgbClr val="000000"/>
                </a:solidFill>
                <a:latin typeface="Arial" panose="020B0604020202020204" pitchFamily="34" charset="0"/>
                <a:ea typeface="Open Sans" pitchFamily="34" charset="-122"/>
                <a:cs typeface="Arial" panose="020B0604020202020204" pitchFamily="34" charset="0"/>
              </a:rPr>
              <a:t>Transactions: </a:t>
            </a:r>
            <a:r>
              <a:rPr lang="en-US" sz="800" b="1" dirty="0">
                <a:solidFill>
                  <a:srgbClr val="000000"/>
                </a:solidFill>
                <a:latin typeface="Arial" panose="020B0604020202020204" pitchFamily="34" charset="0"/>
                <a:ea typeface="Open Sans" pitchFamily="34" charset="-122"/>
                <a:cs typeface="Arial" panose="020B0604020202020204" pitchFamily="34" charset="0"/>
              </a:rPr>
              <a:t>4,483</a:t>
            </a:r>
            <a:endParaRPr lang="en-US" sz="800" dirty="0"/>
          </a:p>
        </p:txBody>
      </p:sp>
      <p:sp>
        <p:nvSpPr>
          <p:cNvPr id="23" name="Text 21"/>
          <p:cNvSpPr/>
          <p:nvPr/>
        </p:nvSpPr>
        <p:spPr>
          <a:xfrm>
            <a:off x="4730725" y="3672706"/>
            <a:ext cx="3867522"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000000"/>
                </a:solidFill>
                <a:latin typeface="Arial" panose="020B0604020202020204" pitchFamily="34" charset="0"/>
                <a:ea typeface="Open Sans" pitchFamily="34" charset="-122"/>
                <a:cs typeface="Arial" panose="020B0604020202020204" pitchFamily="34" charset="0"/>
              </a:rPr>
              <a:t>Salesperson 103 generated the highest individual revenue across all branches — a clear benchmark for peer performance.</a:t>
            </a:r>
            <a:endParaRPr lang="en-US" sz="800" dirty="0"/>
          </a:p>
        </p:txBody>
      </p:sp>
      <p:sp>
        <p:nvSpPr>
          <p:cNvPr id="24" name="Shape 22"/>
          <p:cNvSpPr/>
          <p:nvPr/>
        </p:nvSpPr>
        <p:spPr>
          <a:xfrm>
            <a:off x="521643" y="4172173"/>
            <a:ext cx="8100640" cy="504676"/>
          </a:xfrm>
          <a:prstGeom prst="roundRect">
            <a:avLst>
              <a:gd name="adj" fmla="val 3053"/>
            </a:avLst>
          </a:prstGeom>
          <a:solidFill>
            <a:srgbClr val="183A13"/>
          </a:solidFill>
          <a:ln/>
        </p:spPr>
      </p:sp>
      <p:pic>
        <p:nvPicPr>
          <p:cNvPr id="25" name="Image 0" descr="preencoded.png"/>
          <p:cNvPicPr>
            <a:picLocks noChangeAspect="1"/>
          </p:cNvPicPr>
          <p:nvPr/>
        </p:nvPicPr>
        <p:blipFill>
          <a:blip r:embed="rId3"/>
          <a:stretch>
            <a:fillRect/>
          </a:stretch>
        </p:blipFill>
        <p:spPr>
          <a:xfrm>
            <a:off x="624334" y="4310658"/>
            <a:ext cx="128364" cy="102691"/>
          </a:xfrm>
          <a:prstGeom prst="rect">
            <a:avLst/>
          </a:prstGeom>
        </p:spPr>
      </p:pic>
      <p:sp>
        <p:nvSpPr>
          <p:cNvPr id="26" name="Text 23"/>
          <p:cNvSpPr/>
          <p:nvPr/>
        </p:nvSpPr>
        <p:spPr>
          <a:xfrm>
            <a:off x="855390" y="4274344"/>
            <a:ext cx="7664202" cy="300335"/>
          </a:xfrm>
          <a:prstGeom prst="rect">
            <a:avLst/>
          </a:prstGeom>
          <a:noFill/>
          <a:ln/>
        </p:spPr>
        <p:txBody>
          <a:bodyPr wrap="square" lIns="0" tIns="0" rIns="0" bIns="0" rtlCol="0" anchor="t">
            <a:normAutofit/>
          </a:bodyPr>
          <a:lstStyle/>
          <a:p>
            <a:pPr marL="0" indent="0" algn="l">
              <a:lnSpc>
                <a:spcPct val="122000"/>
              </a:lnSpc>
              <a:buNone/>
            </a:pPr>
            <a:r>
              <a:rPr lang="en-US" sz="800" b="1" dirty="0">
                <a:solidFill>
                  <a:srgbClr val="FFFFFF"/>
                </a:solidFill>
                <a:latin typeface="Arial" panose="020B0604020202020204" pitchFamily="34" charset="0"/>
                <a:ea typeface="Open Sans" pitchFamily="34" charset="-122"/>
                <a:cs typeface="Arial" panose="020B0604020202020204" pitchFamily="34" charset="0"/>
              </a:rPr>
              <a:t>Recommendation:</a:t>
            </a:r>
            <a:r>
              <a:rPr lang="en-US" sz="800" dirty="0">
                <a:solidFill>
                  <a:srgbClr val="FFFFFF"/>
                </a:solidFill>
                <a:latin typeface="Arial" panose="020B0604020202020204" pitchFamily="34" charset="0"/>
                <a:ea typeface="Open Sans" pitchFamily="34" charset="-122"/>
                <a:cs typeface="Arial" panose="020B0604020202020204" pitchFamily="34" charset="0"/>
              </a:rPr>
              <a:t> Benchmark Branch 16 operations and replicate best practices. Deploy targeted training programs for lower-performing branches to close the performance gap.</a:t>
            </a:r>
            <a:endParaRPr lang="en-US" sz="800" dirty="0"/>
          </a:p>
        </p:txBody>
      </p:sp>
    </p:spTree>
    <p:extLst>
      <p:ext uri="{BB962C8B-B14F-4D97-AF65-F5344CB8AC3E}">
        <p14:creationId xmlns:p14="http://schemas.microsoft.com/office/powerpoint/2010/main" val="4001581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52029" y="194727"/>
            <a:ext cx="4273376" cy="375493"/>
          </a:xfrm>
          <a:prstGeom prst="rect">
            <a:avLst/>
          </a:prstGeom>
          <a:noFill/>
          <a:ln/>
        </p:spPr>
        <p:txBody>
          <a:bodyPr wrap="none" lIns="0" tIns="0" rIns="0" bIns="0" rtlCol="0" anchor="t"/>
          <a:lstStyle/>
          <a:p>
            <a:pPr marL="0" indent="0" algn="l">
              <a:lnSpc>
                <a:spcPct val="104000"/>
              </a:lnSpc>
              <a:buNone/>
            </a:pPr>
            <a:r>
              <a:rPr lang="en-US" sz="235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Sales &amp; Product Dashboard</a:t>
            </a:r>
            <a:endParaRPr lang="en-US" sz="2350" b="1" dirty="0">
              <a:solidFill>
                <a:schemeClr val="accent4">
                  <a:lumMod val="60000"/>
                  <a:lumOff val="40000"/>
                </a:schemeClr>
              </a:solidFill>
            </a:endParaRPr>
          </a:p>
        </p:txBody>
      </p:sp>
      <p:sp>
        <p:nvSpPr>
          <p:cNvPr id="5" name="Text 3"/>
          <p:cNvSpPr/>
          <p:nvPr/>
        </p:nvSpPr>
        <p:spPr>
          <a:xfrm>
            <a:off x="496119" y="994871"/>
            <a:ext cx="8151763"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BFBFBF"/>
                </a:solidFill>
                <a:latin typeface="Arial" panose="020B0604020202020204" pitchFamily="34" charset="0"/>
                <a:ea typeface="Open Sans" pitchFamily="34" charset="-122"/>
                <a:cs typeface="Arial" panose="020B0604020202020204" pitchFamily="34" charset="0"/>
              </a:rPr>
              <a:t>Product-level analysis reveals a concentrated revenue structure. Gold Bars dominate sales, while a small number of high-value SKUs generate the majority of business revenue — presenting clear inventory optimization opportunities.</a:t>
            </a:r>
            <a:endParaRPr lang="en-US" sz="900" dirty="0"/>
          </a:p>
        </p:txBody>
      </p:sp>
      <p:pic>
        <p:nvPicPr>
          <p:cNvPr id="6" name="Image 0" descr="preencoded.png"/>
          <p:cNvPicPr>
            <a:picLocks noChangeAspect="1"/>
          </p:cNvPicPr>
          <p:nvPr/>
        </p:nvPicPr>
        <p:blipFill>
          <a:blip r:embed="rId3"/>
          <a:stretch>
            <a:fillRect/>
          </a:stretch>
        </p:blipFill>
        <p:spPr>
          <a:xfrm>
            <a:off x="496119" y="1827014"/>
            <a:ext cx="3929286" cy="2828255"/>
          </a:xfrm>
          <a:prstGeom prst="rect">
            <a:avLst/>
          </a:prstGeom>
        </p:spPr>
      </p:pic>
      <p:sp>
        <p:nvSpPr>
          <p:cNvPr id="7" name="Text 4"/>
          <p:cNvSpPr/>
          <p:nvPr/>
        </p:nvSpPr>
        <p:spPr>
          <a:xfrm>
            <a:off x="4723358" y="1812503"/>
            <a:ext cx="1959322" cy="187747"/>
          </a:xfrm>
          <a:prstGeom prst="rect">
            <a:avLst/>
          </a:prstGeom>
          <a:noFill/>
          <a:ln/>
        </p:spPr>
        <p:txBody>
          <a:bodyPr wrap="none" lIns="0" tIns="0" rIns="0" bIns="0" rtlCol="0" anchor="t"/>
          <a:lstStyle/>
          <a:p>
            <a:pPr marL="0" indent="0" algn="l">
              <a:lnSpc>
                <a:spcPct val="104000"/>
              </a:lnSpc>
              <a:buNone/>
            </a:pPr>
            <a:r>
              <a:rPr lang="en-US" sz="1150" dirty="0">
                <a:solidFill>
                  <a:srgbClr val="FEFEFE"/>
                </a:solidFill>
                <a:latin typeface="Arial" panose="020B0604020202020204" pitchFamily="34" charset="0"/>
                <a:ea typeface="Instrument Sans Medium" pitchFamily="34" charset="-122"/>
                <a:cs typeface="Arial" panose="020B0604020202020204" pitchFamily="34" charset="0"/>
              </a:rPr>
              <a:t>Key Product Insights</a:t>
            </a:r>
            <a:endParaRPr lang="en-US" sz="1150" dirty="0"/>
          </a:p>
        </p:txBody>
      </p:sp>
      <p:sp>
        <p:nvSpPr>
          <p:cNvPr id="8" name="Text 5"/>
          <p:cNvSpPr/>
          <p:nvPr/>
        </p:nvSpPr>
        <p:spPr>
          <a:xfrm>
            <a:off x="4723358" y="2116634"/>
            <a:ext cx="3929286" cy="1487463"/>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Gold Bars generate the highest revenue at </a:t>
            </a:r>
            <a:r>
              <a:rPr lang="en-US" sz="900" b="1" dirty="0">
                <a:solidFill>
                  <a:srgbClr val="BFBFBF"/>
                </a:solidFill>
                <a:latin typeface="Arial" panose="020B0604020202020204" pitchFamily="34" charset="0"/>
                <a:ea typeface="Open Sans" pitchFamily="34" charset="-122"/>
                <a:cs typeface="Arial" panose="020B0604020202020204" pitchFamily="34" charset="0"/>
              </a:rPr>
              <a:t>SAR 100M</a:t>
            </a:r>
            <a:endParaRPr lang="en-US" sz="900" dirty="0"/>
          </a:p>
          <a:p>
            <a:pPr marL="342900" indent="-342900" algn="l">
              <a:lnSpc>
                <a:spcPct val="131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Chains contribute approximately </a:t>
            </a:r>
            <a:r>
              <a:rPr lang="en-US" sz="900" b="1" dirty="0">
                <a:solidFill>
                  <a:srgbClr val="BFBFBF"/>
                </a:solidFill>
                <a:latin typeface="Arial" panose="020B0604020202020204" pitchFamily="34" charset="0"/>
                <a:ea typeface="Open Sans" pitchFamily="34" charset="-122"/>
                <a:cs typeface="Arial" panose="020B0604020202020204" pitchFamily="34" charset="0"/>
              </a:rPr>
              <a:t>18.4%</a:t>
            </a:r>
            <a:r>
              <a:rPr lang="en-US" sz="900" dirty="0">
                <a:solidFill>
                  <a:srgbClr val="BFBFBF"/>
                </a:solidFill>
                <a:latin typeface="Arial" panose="020B0604020202020204" pitchFamily="34" charset="0"/>
                <a:ea typeface="Open Sans" pitchFamily="34" charset="-122"/>
                <a:cs typeface="Arial" panose="020B0604020202020204" pitchFamily="34" charset="0"/>
              </a:rPr>
              <a:t> of total revenue at SAR 57M</a:t>
            </a:r>
            <a:endParaRPr lang="en-US" sz="900" dirty="0"/>
          </a:p>
          <a:p>
            <a:pPr marL="342900" indent="-342900" algn="l">
              <a:lnSpc>
                <a:spcPct val="131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Top five products account for a substantial share of total revenue</a:t>
            </a:r>
            <a:endParaRPr lang="en-US" sz="900" dirty="0"/>
          </a:p>
          <a:p>
            <a:pPr marL="342900" indent="-342900" algn="l">
              <a:lnSpc>
                <a:spcPct val="131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Average making rate of </a:t>
            </a:r>
            <a:r>
              <a:rPr lang="en-US" sz="900" b="1" dirty="0">
                <a:solidFill>
                  <a:srgbClr val="BFBFBF"/>
                </a:solidFill>
                <a:latin typeface="Arial" panose="020B0604020202020204" pitchFamily="34" charset="0"/>
                <a:ea typeface="Open Sans" pitchFamily="34" charset="-122"/>
                <a:cs typeface="Arial" panose="020B0604020202020204" pitchFamily="34" charset="0"/>
              </a:rPr>
              <a:t>11.50</a:t>
            </a:r>
            <a:r>
              <a:rPr lang="en-US" sz="900" dirty="0">
                <a:solidFill>
                  <a:srgbClr val="BFBFBF"/>
                </a:solidFill>
                <a:latin typeface="Arial" panose="020B0604020202020204" pitchFamily="34" charset="0"/>
                <a:ea typeface="Open Sans" pitchFamily="34" charset="-122"/>
                <a:cs typeface="Arial" panose="020B0604020202020204" pitchFamily="34" charset="0"/>
              </a:rPr>
              <a:t> drives </a:t>
            </a:r>
            <a:r>
              <a:rPr lang="en-US" sz="900" b="1" dirty="0">
                <a:solidFill>
                  <a:srgbClr val="BFBFBF"/>
                </a:solidFill>
                <a:latin typeface="Arial" panose="020B0604020202020204" pitchFamily="34" charset="0"/>
                <a:ea typeface="Open Sans" pitchFamily="34" charset="-122"/>
                <a:cs typeface="Arial" panose="020B0604020202020204" pitchFamily="34" charset="0"/>
              </a:rPr>
              <a:t>SAR 29.63M</a:t>
            </a:r>
            <a:r>
              <a:rPr lang="en-US" sz="900" dirty="0">
                <a:solidFill>
                  <a:srgbClr val="BFBFBF"/>
                </a:solidFill>
                <a:latin typeface="Arial" panose="020B0604020202020204" pitchFamily="34" charset="0"/>
                <a:ea typeface="Open Sans" pitchFamily="34" charset="-122"/>
                <a:cs typeface="Arial" panose="020B0604020202020204" pitchFamily="34" charset="0"/>
              </a:rPr>
              <a:t> in making revenue</a:t>
            </a:r>
            <a:endParaRPr lang="en-US" sz="900" dirty="0"/>
          </a:p>
          <a:p>
            <a:pPr marL="342900" indent="-342900" algn="l">
              <a:lnSpc>
                <a:spcPct val="131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Overall discount rate stands at </a:t>
            </a:r>
            <a:r>
              <a:rPr lang="en-US" sz="900" b="1" dirty="0">
                <a:solidFill>
                  <a:srgbClr val="BFBFBF"/>
                </a:solidFill>
                <a:latin typeface="Arial" panose="020B0604020202020204" pitchFamily="34" charset="0"/>
                <a:ea typeface="Open Sans" pitchFamily="34" charset="-122"/>
                <a:cs typeface="Arial" panose="020B0604020202020204" pitchFamily="34" charset="0"/>
              </a:rPr>
              <a:t>11.11%</a:t>
            </a:r>
            <a:endParaRPr lang="en-US" sz="900" dirty="0"/>
          </a:p>
        </p:txBody>
      </p:sp>
      <p:sp>
        <p:nvSpPr>
          <p:cNvPr id="9" name="Shape 6"/>
          <p:cNvSpPr/>
          <p:nvPr/>
        </p:nvSpPr>
        <p:spPr>
          <a:xfrm>
            <a:off x="4723358" y="3734991"/>
            <a:ext cx="3929286" cy="837084"/>
          </a:xfrm>
          <a:prstGeom prst="roundRect">
            <a:avLst>
              <a:gd name="adj" fmla="val 2153"/>
            </a:avLst>
          </a:prstGeom>
          <a:solidFill>
            <a:srgbClr val="022349"/>
          </a:solidFill>
          <a:ln/>
        </p:spPr>
      </p:sp>
      <p:pic>
        <p:nvPicPr>
          <p:cNvPr id="10" name="Image 1" descr="preencoded.png"/>
          <p:cNvPicPr>
            <a:picLocks noChangeAspect="1"/>
          </p:cNvPicPr>
          <p:nvPr/>
        </p:nvPicPr>
        <p:blipFill>
          <a:blip r:embed="rId4"/>
          <a:stretch>
            <a:fillRect/>
          </a:stretch>
        </p:blipFill>
        <p:spPr>
          <a:xfrm>
            <a:off x="4843463" y="3918049"/>
            <a:ext cx="150168" cy="120104"/>
          </a:xfrm>
          <a:prstGeom prst="rect">
            <a:avLst/>
          </a:prstGeom>
        </p:spPr>
      </p:pic>
      <p:sp>
        <p:nvSpPr>
          <p:cNvPr id="11" name="Text 7"/>
          <p:cNvSpPr/>
          <p:nvPr/>
        </p:nvSpPr>
        <p:spPr>
          <a:xfrm>
            <a:off x="5113734" y="3869680"/>
            <a:ext cx="3418805" cy="567705"/>
          </a:xfrm>
          <a:prstGeom prst="rect">
            <a:avLst/>
          </a:prstGeom>
          <a:noFill/>
          <a:ln/>
        </p:spPr>
        <p:txBody>
          <a:bodyPr wrap="square" lIns="0" tIns="0" rIns="0" bIns="0" rtlCol="0" anchor="t">
            <a:normAutofit/>
          </a:bodyPr>
          <a:lstStyle/>
          <a:p>
            <a:pPr marL="0" indent="0" algn="l">
              <a:lnSpc>
                <a:spcPct val="131000"/>
              </a:lnSpc>
              <a:buNone/>
            </a:pPr>
            <a:r>
              <a:rPr lang="en-US" sz="900" b="1" dirty="0">
                <a:solidFill>
                  <a:srgbClr val="FFFFFF"/>
                </a:solidFill>
                <a:latin typeface="Arial" panose="020B0604020202020204" pitchFamily="34" charset="0"/>
                <a:ea typeface="Open Sans" pitchFamily="34" charset="-122"/>
                <a:cs typeface="Arial" panose="020B0604020202020204" pitchFamily="34" charset="0"/>
              </a:rPr>
              <a:t>Recommendation:</a:t>
            </a:r>
            <a:r>
              <a:rPr lang="en-US" sz="900" dirty="0">
                <a:solidFill>
                  <a:srgbClr val="FFFFFF"/>
                </a:solidFill>
                <a:latin typeface="Arial" panose="020B0604020202020204" pitchFamily="34" charset="0"/>
                <a:ea typeface="Open Sans" pitchFamily="34" charset="-122"/>
                <a:cs typeface="Arial" panose="020B0604020202020204" pitchFamily="34" charset="0"/>
              </a:rPr>
              <a:t> Increase stock levels for Gold Bars and Chains. Review and rationalize low-performing product lines to improve inventory efficiency.</a:t>
            </a:r>
            <a:endParaRPr lang="en-US" sz="900" dirty="0"/>
          </a:p>
        </p:txBody>
      </p:sp>
    </p:spTree>
    <p:extLst>
      <p:ext uri="{BB962C8B-B14F-4D97-AF65-F5344CB8AC3E}">
        <p14:creationId xmlns:p14="http://schemas.microsoft.com/office/powerpoint/2010/main" val="3174980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02362" y="226108"/>
            <a:ext cx="4383732" cy="314920"/>
          </a:xfrm>
          <a:prstGeom prst="rect">
            <a:avLst/>
          </a:prstGeom>
          <a:noFill/>
          <a:ln/>
        </p:spPr>
        <p:txBody>
          <a:bodyPr wrap="none" lIns="0" tIns="0" rIns="0" bIns="0" rtlCol="0" anchor="t"/>
          <a:lstStyle/>
          <a:p>
            <a:pPr marL="0" indent="0" algn="l">
              <a:lnSpc>
                <a:spcPct val="104000"/>
              </a:lnSpc>
              <a:buNone/>
            </a:pPr>
            <a:r>
              <a:rPr lang="en-US" sz="195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Customer Intelligence Dashboard</a:t>
            </a:r>
            <a:endParaRPr lang="en-US" sz="1950" b="1" dirty="0">
              <a:solidFill>
                <a:schemeClr val="accent4">
                  <a:lumMod val="60000"/>
                  <a:lumOff val="40000"/>
                </a:schemeClr>
              </a:solidFill>
            </a:endParaRPr>
          </a:p>
        </p:txBody>
      </p:sp>
      <p:sp>
        <p:nvSpPr>
          <p:cNvPr id="5" name="Text 3"/>
          <p:cNvSpPr/>
          <p:nvPr/>
        </p:nvSpPr>
        <p:spPr>
          <a:xfrm>
            <a:off x="442056" y="718858"/>
            <a:ext cx="7947794" cy="445126"/>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BFBFBF"/>
                </a:solidFill>
                <a:latin typeface="Arial" panose="020B0604020202020204" pitchFamily="34" charset="0"/>
                <a:ea typeface="Open Sans" pitchFamily="34" charset="-122"/>
                <a:cs typeface="Arial" panose="020B0604020202020204" pitchFamily="34" charset="0"/>
              </a:rPr>
              <a:t>The customer base is overwhelmingly composed of first-time buyers, revealing a significant untapped retention opportunity. With over 41K one-time customers, even modest improvements in repeat purchase rates could materially impact long-term revenue.</a:t>
            </a:r>
            <a:endParaRPr lang="en-US" sz="900" dirty="0"/>
          </a:p>
        </p:txBody>
      </p:sp>
      <p:sp>
        <p:nvSpPr>
          <p:cNvPr id="6" name="Text 4"/>
          <p:cNvSpPr/>
          <p:nvPr/>
        </p:nvSpPr>
        <p:spPr>
          <a:xfrm>
            <a:off x="598066" y="1482328"/>
            <a:ext cx="2581052" cy="332631"/>
          </a:xfrm>
          <a:prstGeom prst="rect">
            <a:avLst/>
          </a:prstGeom>
          <a:noFill/>
          <a:ln/>
        </p:spPr>
        <p:txBody>
          <a:bodyPr wrap="none" lIns="0" tIns="0" rIns="0" bIns="0" rtlCol="0" anchor="t"/>
          <a:lstStyle/>
          <a:p>
            <a:pPr marL="0" indent="0" algn="ctr">
              <a:lnSpc>
                <a:spcPct val="83000"/>
              </a:lnSpc>
              <a:buNone/>
            </a:pPr>
            <a:r>
              <a:rPr lang="en-US" sz="2600" dirty="0">
                <a:solidFill>
                  <a:srgbClr val="BFBFBF"/>
                </a:solidFill>
                <a:latin typeface="Arial" panose="020B0604020202020204" pitchFamily="34" charset="0"/>
                <a:ea typeface="Instrument Sans Medium" pitchFamily="34" charset="-122"/>
                <a:cs typeface="Arial" panose="020B0604020202020204" pitchFamily="34" charset="0"/>
              </a:rPr>
              <a:t>45.62K</a:t>
            </a:r>
            <a:endParaRPr lang="en-US" sz="2600" dirty="0"/>
          </a:p>
        </p:txBody>
      </p:sp>
      <p:sp>
        <p:nvSpPr>
          <p:cNvPr id="7" name="Text 5"/>
          <p:cNvSpPr/>
          <p:nvPr/>
        </p:nvSpPr>
        <p:spPr>
          <a:xfrm>
            <a:off x="1258639" y="1926729"/>
            <a:ext cx="1259830" cy="157460"/>
          </a:xfrm>
          <a:prstGeom prst="rect">
            <a:avLst/>
          </a:prstGeom>
          <a:noFill/>
          <a:ln/>
        </p:spPr>
        <p:txBody>
          <a:bodyPr wrap="none" lIns="0" tIns="0" rIns="0" bIns="0" rtlCol="0" anchor="t"/>
          <a:lstStyle/>
          <a:p>
            <a:pPr marL="0" indent="0" algn="ctr">
              <a:lnSpc>
                <a:spcPct val="104000"/>
              </a:lnSpc>
              <a:buNone/>
            </a:pPr>
            <a:r>
              <a:rPr lang="en-US" sz="950" dirty="0">
                <a:solidFill>
                  <a:srgbClr val="BFBFBF"/>
                </a:solidFill>
                <a:latin typeface="Arial" panose="020B0604020202020204" pitchFamily="34" charset="0"/>
                <a:ea typeface="Instrument Sans Medium" pitchFamily="34" charset="-122"/>
                <a:cs typeface="Arial" panose="020B0604020202020204" pitchFamily="34" charset="0"/>
              </a:rPr>
              <a:t>Total Customers</a:t>
            </a:r>
            <a:endParaRPr lang="en-US" sz="950" dirty="0"/>
          </a:p>
        </p:txBody>
      </p:sp>
      <p:sp>
        <p:nvSpPr>
          <p:cNvPr id="8" name="Text 6"/>
          <p:cNvSpPr/>
          <p:nvPr/>
        </p:nvSpPr>
        <p:spPr>
          <a:xfrm>
            <a:off x="598066" y="2133302"/>
            <a:ext cx="2581052" cy="146075"/>
          </a:xfrm>
          <a:prstGeom prst="rect">
            <a:avLst/>
          </a:prstGeom>
          <a:noFill/>
          <a:ln/>
        </p:spPr>
        <p:txBody>
          <a:bodyPr wrap="none" lIns="0" tIns="0" rIns="0" bIns="0" rtlCol="0" anchor="t"/>
          <a:lstStyle/>
          <a:p>
            <a:pPr marL="0" indent="0" algn="ctr">
              <a:lnSpc>
                <a:spcPct val="121000"/>
              </a:lnSpc>
              <a:buNone/>
            </a:pPr>
            <a:r>
              <a:rPr lang="en-US" sz="750" dirty="0">
                <a:solidFill>
                  <a:srgbClr val="BFBFBF"/>
                </a:solidFill>
                <a:latin typeface="Arial" panose="020B0604020202020204" pitchFamily="34" charset="0"/>
                <a:ea typeface="Open Sans" pitchFamily="34" charset="-122"/>
                <a:cs typeface="Arial" panose="020B0604020202020204" pitchFamily="34" charset="0"/>
              </a:rPr>
              <a:t>Across all branches</a:t>
            </a:r>
            <a:endParaRPr lang="en-US" sz="750" dirty="0"/>
          </a:p>
        </p:txBody>
      </p:sp>
      <p:sp>
        <p:nvSpPr>
          <p:cNvPr id="9" name="Text 7"/>
          <p:cNvSpPr/>
          <p:nvPr/>
        </p:nvSpPr>
        <p:spPr>
          <a:xfrm>
            <a:off x="3281437" y="1482328"/>
            <a:ext cx="2581052" cy="332631"/>
          </a:xfrm>
          <a:prstGeom prst="rect">
            <a:avLst/>
          </a:prstGeom>
          <a:noFill/>
          <a:ln/>
        </p:spPr>
        <p:txBody>
          <a:bodyPr wrap="none" lIns="0" tIns="0" rIns="0" bIns="0" rtlCol="0" anchor="t"/>
          <a:lstStyle/>
          <a:p>
            <a:pPr marL="0" indent="0" algn="ctr">
              <a:lnSpc>
                <a:spcPct val="83000"/>
              </a:lnSpc>
              <a:buNone/>
            </a:pPr>
            <a:r>
              <a:rPr lang="en-US" sz="2600" dirty="0">
                <a:solidFill>
                  <a:srgbClr val="BFBFBF"/>
                </a:solidFill>
                <a:latin typeface="Arial" panose="020B0604020202020204" pitchFamily="34" charset="0"/>
                <a:ea typeface="Instrument Sans Medium" pitchFamily="34" charset="-122"/>
                <a:cs typeface="Arial" panose="020B0604020202020204" pitchFamily="34" charset="0"/>
              </a:rPr>
              <a:t>41.40K</a:t>
            </a:r>
            <a:endParaRPr lang="en-US" sz="2600" dirty="0"/>
          </a:p>
        </p:txBody>
      </p:sp>
      <p:sp>
        <p:nvSpPr>
          <p:cNvPr id="10" name="Text 8"/>
          <p:cNvSpPr/>
          <p:nvPr/>
        </p:nvSpPr>
        <p:spPr>
          <a:xfrm>
            <a:off x="3942011" y="1926729"/>
            <a:ext cx="1259830" cy="157460"/>
          </a:xfrm>
          <a:prstGeom prst="rect">
            <a:avLst/>
          </a:prstGeom>
          <a:noFill/>
          <a:ln/>
        </p:spPr>
        <p:txBody>
          <a:bodyPr wrap="none" lIns="0" tIns="0" rIns="0" bIns="0" rtlCol="0" anchor="t"/>
          <a:lstStyle/>
          <a:p>
            <a:pPr marL="0" indent="0" algn="ctr">
              <a:lnSpc>
                <a:spcPct val="104000"/>
              </a:lnSpc>
              <a:buNone/>
            </a:pPr>
            <a:r>
              <a:rPr lang="en-US" sz="950" dirty="0">
                <a:solidFill>
                  <a:srgbClr val="BFBFBF"/>
                </a:solidFill>
                <a:latin typeface="Arial" panose="020B0604020202020204" pitchFamily="34" charset="0"/>
                <a:ea typeface="Instrument Sans Medium" pitchFamily="34" charset="-122"/>
                <a:cs typeface="Arial" panose="020B0604020202020204" pitchFamily="34" charset="0"/>
              </a:rPr>
              <a:t>New Customers</a:t>
            </a:r>
            <a:endParaRPr lang="en-US" sz="950" dirty="0"/>
          </a:p>
        </p:txBody>
      </p:sp>
      <p:sp>
        <p:nvSpPr>
          <p:cNvPr id="11" name="Text 9"/>
          <p:cNvSpPr/>
          <p:nvPr/>
        </p:nvSpPr>
        <p:spPr>
          <a:xfrm>
            <a:off x="3281437" y="2133302"/>
            <a:ext cx="2581052" cy="146075"/>
          </a:xfrm>
          <a:prstGeom prst="rect">
            <a:avLst/>
          </a:prstGeom>
          <a:noFill/>
          <a:ln/>
        </p:spPr>
        <p:txBody>
          <a:bodyPr wrap="none" lIns="0" tIns="0" rIns="0" bIns="0" rtlCol="0" anchor="t"/>
          <a:lstStyle/>
          <a:p>
            <a:pPr marL="0" indent="0" algn="ctr">
              <a:lnSpc>
                <a:spcPct val="121000"/>
              </a:lnSpc>
              <a:buNone/>
            </a:pPr>
            <a:r>
              <a:rPr lang="en-US" sz="750" dirty="0">
                <a:solidFill>
                  <a:srgbClr val="BFBFBF"/>
                </a:solidFill>
                <a:latin typeface="Arial" panose="020B0604020202020204" pitchFamily="34" charset="0"/>
                <a:ea typeface="Open Sans" pitchFamily="34" charset="-122"/>
                <a:cs typeface="Arial" panose="020B0604020202020204" pitchFamily="34" charset="0"/>
              </a:rPr>
              <a:t>First-time buyers this period</a:t>
            </a:r>
            <a:endParaRPr lang="en-US" sz="750" dirty="0"/>
          </a:p>
        </p:txBody>
      </p:sp>
      <p:sp>
        <p:nvSpPr>
          <p:cNvPr id="12" name="Text 10"/>
          <p:cNvSpPr/>
          <p:nvPr/>
        </p:nvSpPr>
        <p:spPr>
          <a:xfrm>
            <a:off x="5964808" y="1482328"/>
            <a:ext cx="2581052" cy="332631"/>
          </a:xfrm>
          <a:prstGeom prst="rect">
            <a:avLst/>
          </a:prstGeom>
          <a:noFill/>
          <a:ln/>
        </p:spPr>
        <p:txBody>
          <a:bodyPr wrap="none" lIns="0" tIns="0" rIns="0" bIns="0" rtlCol="0" anchor="t"/>
          <a:lstStyle/>
          <a:p>
            <a:pPr marL="0" indent="0" algn="ctr">
              <a:lnSpc>
                <a:spcPct val="83000"/>
              </a:lnSpc>
              <a:buNone/>
            </a:pPr>
            <a:r>
              <a:rPr lang="en-US" sz="2600" dirty="0">
                <a:solidFill>
                  <a:srgbClr val="BFBFBF"/>
                </a:solidFill>
                <a:latin typeface="Arial" panose="020B0604020202020204" pitchFamily="34" charset="0"/>
                <a:ea typeface="Instrument Sans Medium" pitchFamily="34" charset="-122"/>
                <a:cs typeface="Arial" panose="020B0604020202020204" pitchFamily="34" charset="0"/>
              </a:rPr>
              <a:t>4.22K</a:t>
            </a:r>
            <a:endParaRPr lang="en-US" sz="2600" dirty="0"/>
          </a:p>
        </p:txBody>
      </p:sp>
      <p:sp>
        <p:nvSpPr>
          <p:cNvPr id="13" name="Text 11"/>
          <p:cNvSpPr/>
          <p:nvPr/>
        </p:nvSpPr>
        <p:spPr>
          <a:xfrm>
            <a:off x="6625382" y="1926729"/>
            <a:ext cx="1259830" cy="157460"/>
          </a:xfrm>
          <a:prstGeom prst="rect">
            <a:avLst/>
          </a:prstGeom>
          <a:noFill/>
          <a:ln/>
        </p:spPr>
        <p:txBody>
          <a:bodyPr wrap="none" lIns="0" tIns="0" rIns="0" bIns="0" rtlCol="0" anchor="t"/>
          <a:lstStyle/>
          <a:p>
            <a:pPr marL="0" indent="0" algn="ctr">
              <a:lnSpc>
                <a:spcPct val="104000"/>
              </a:lnSpc>
              <a:buNone/>
            </a:pPr>
            <a:r>
              <a:rPr lang="en-US" sz="950" dirty="0">
                <a:solidFill>
                  <a:srgbClr val="BFBFBF"/>
                </a:solidFill>
                <a:latin typeface="Arial" panose="020B0604020202020204" pitchFamily="34" charset="0"/>
                <a:ea typeface="Instrument Sans Medium" pitchFamily="34" charset="-122"/>
                <a:cs typeface="Arial" panose="020B0604020202020204" pitchFamily="34" charset="0"/>
              </a:rPr>
              <a:t>Returning Customers</a:t>
            </a:r>
            <a:endParaRPr lang="en-US" sz="950" dirty="0"/>
          </a:p>
        </p:txBody>
      </p:sp>
      <p:sp>
        <p:nvSpPr>
          <p:cNvPr id="14" name="Text 12"/>
          <p:cNvSpPr/>
          <p:nvPr/>
        </p:nvSpPr>
        <p:spPr>
          <a:xfrm>
            <a:off x="5964808" y="2133302"/>
            <a:ext cx="2581052" cy="146075"/>
          </a:xfrm>
          <a:prstGeom prst="rect">
            <a:avLst/>
          </a:prstGeom>
          <a:noFill/>
          <a:ln/>
        </p:spPr>
        <p:txBody>
          <a:bodyPr wrap="none" lIns="0" tIns="0" rIns="0" bIns="0" rtlCol="0" anchor="t"/>
          <a:lstStyle/>
          <a:p>
            <a:pPr marL="0" indent="0" algn="ctr">
              <a:lnSpc>
                <a:spcPct val="121000"/>
              </a:lnSpc>
              <a:buNone/>
            </a:pPr>
            <a:r>
              <a:rPr lang="en-US" sz="750" dirty="0">
                <a:solidFill>
                  <a:srgbClr val="BFBFBF"/>
                </a:solidFill>
                <a:latin typeface="Arial" panose="020B0604020202020204" pitchFamily="34" charset="0"/>
                <a:ea typeface="Open Sans" pitchFamily="34" charset="-122"/>
                <a:cs typeface="Arial" panose="020B0604020202020204" pitchFamily="34" charset="0"/>
              </a:rPr>
              <a:t>Repeat purchasers</a:t>
            </a:r>
            <a:endParaRPr lang="en-US" sz="750" dirty="0"/>
          </a:p>
        </p:txBody>
      </p:sp>
      <p:sp>
        <p:nvSpPr>
          <p:cNvPr id="15" name="Text 13"/>
          <p:cNvSpPr/>
          <p:nvPr/>
        </p:nvSpPr>
        <p:spPr>
          <a:xfrm>
            <a:off x="1939751" y="2493466"/>
            <a:ext cx="2581052" cy="332631"/>
          </a:xfrm>
          <a:prstGeom prst="rect">
            <a:avLst/>
          </a:prstGeom>
          <a:noFill/>
          <a:ln/>
        </p:spPr>
        <p:txBody>
          <a:bodyPr wrap="none" lIns="0" tIns="0" rIns="0" bIns="0" rtlCol="0" anchor="t"/>
          <a:lstStyle/>
          <a:p>
            <a:pPr marL="0" indent="0" algn="ctr">
              <a:lnSpc>
                <a:spcPct val="83000"/>
              </a:lnSpc>
              <a:buNone/>
            </a:pPr>
            <a:r>
              <a:rPr lang="en-US" sz="2600" dirty="0">
                <a:solidFill>
                  <a:srgbClr val="BFBFBF"/>
                </a:solidFill>
                <a:latin typeface="Arial" panose="020B0604020202020204" pitchFamily="34" charset="0"/>
                <a:ea typeface="Instrument Sans Medium" pitchFamily="34" charset="-122"/>
                <a:cs typeface="Arial" panose="020B0604020202020204" pitchFamily="34" charset="0"/>
              </a:rPr>
              <a:t>9.25%</a:t>
            </a:r>
            <a:endParaRPr lang="en-US" sz="2600" dirty="0"/>
          </a:p>
        </p:txBody>
      </p:sp>
      <p:sp>
        <p:nvSpPr>
          <p:cNvPr id="16" name="Text 14"/>
          <p:cNvSpPr/>
          <p:nvPr/>
        </p:nvSpPr>
        <p:spPr>
          <a:xfrm>
            <a:off x="2591098" y="2937867"/>
            <a:ext cx="1278359" cy="157460"/>
          </a:xfrm>
          <a:prstGeom prst="rect">
            <a:avLst/>
          </a:prstGeom>
          <a:noFill/>
          <a:ln/>
        </p:spPr>
        <p:txBody>
          <a:bodyPr wrap="none" lIns="0" tIns="0" rIns="0" bIns="0" rtlCol="0" anchor="t"/>
          <a:lstStyle/>
          <a:p>
            <a:pPr marL="0" indent="0" algn="ctr">
              <a:lnSpc>
                <a:spcPct val="104000"/>
              </a:lnSpc>
              <a:buNone/>
            </a:pPr>
            <a:r>
              <a:rPr lang="en-US" sz="950" dirty="0">
                <a:solidFill>
                  <a:srgbClr val="BFBFBF"/>
                </a:solidFill>
                <a:latin typeface="Arial" panose="020B0604020202020204" pitchFamily="34" charset="0"/>
                <a:ea typeface="Instrument Sans Medium" pitchFamily="34" charset="-122"/>
                <a:cs typeface="Arial" panose="020B0604020202020204" pitchFamily="34" charset="0"/>
              </a:rPr>
              <a:t>Repeat Purchase Rate</a:t>
            </a:r>
            <a:endParaRPr lang="en-US" sz="950" dirty="0"/>
          </a:p>
        </p:txBody>
      </p:sp>
      <p:sp>
        <p:nvSpPr>
          <p:cNvPr id="17" name="Text 15"/>
          <p:cNvSpPr/>
          <p:nvPr/>
        </p:nvSpPr>
        <p:spPr>
          <a:xfrm>
            <a:off x="1939751" y="3144441"/>
            <a:ext cx="2581052" cy="146075"/>
          </a:xfrm>
          <a:prstGeom prst="rect">
            <a:avLst/>
          </a:prstGeom>
          <a:noFill/>
          <a:ln/>
        </p:spPr>
        <p:txBody>
          <a:bodyPr wrap="none" lIns="0" tIns="0" rIns="0" bIns="0" rtlCol="0" anchor="t"/>
          <a:lstStyle/>
          <a:p>
            <a:pPr marL="0" indent="0" algn="ctr">
              <a:lnSpc>
                <a:spcPct val="121000"/>
              </a:lnSpc>
              <a:buNone/>
            </a:pPr>
            <a:r>
              <a:rPr lang="en-US" sz="750" dirty="0">
                <a:solidFill>
                  <a:srgbClr val="BFBFBF"/>
                </a:solidFill>
                <a:latin typeface="Arial" panose="020B0604020202020204" pitchFamily="34" charset="0"/>
                <a:ea typeface="Open Sans" pitchFamily="34" charset="-122"/>
                <a:cs typeface="Arial" panose="020B0604020202020204" pitchFamily="34" charset="0"/>
              </a:rPr>
              <a:t>Significant room for improvement</a:t>
            </a:r>
            <a:endParaRPr lang="en-US" sz="750" dirty="0"/>
          </a:p>
        </p:txBody>
      </p:sp>
      <p:sp>
        <p:nvSpPr>
          <p:cNvPr id="18" name="Text 16"/>
          <p:cNvSpPr/>
          <p:nvPr/>
        </p:nvSpPr>
        <p:spPr>
          <a:xfrm>
            <a:off x="4623122" y="2493466"/>
            <a:ext cx="2581052" cy="332631"/>
          </a:xfrm>
          <a:prstGeom prst="rect">
            <a:avLst/>
          </a:prstGeom>
          <a:noFill/>
          <a:ln/>
        </p:spPr>
        <p:txBody>
          <a:bodyPr wrap="none" lIns="0" tIns="0" rIns="0" bIns="0" rtlCol="0" anchor="t"/>
          <a:lstStyle/>
          <a:p>
            <a:pPr marL="0" indent="0" algn="ctr">
              <a:lnSpc>
                <a:spcPct val="83000"/>
              </a:lnSpc>
              <a:buNone/>
            </a:pPr>
            <a:r>
              <a:rPr lang="en-US" sz="2600" dirty="0">
                <a:solidFill>
                  <a:srgbClr val="BFBFBF"/>
                </a:solidFill>
                <a:latin typeface="Arial" panose="020B0604020202020204" pitchFamily="34" charset="0"/>
                <a:ea typeface="Instrument Sans Medium" pitchFamily="34" charset="-122"/>
                <a:cs typeface="Arial" panose="020B0604020202020204" pitchFamily="34" charset="0"/>
              </a:rPr>
              <a:t>SAR 7.63K</a:t>
            </a:r>
            <a:endParaRPr lang="en-US" sz="2600" dirty="0"/>
          </a:p>
        </p:txBody>
      </p:sp>
      <p:sp>
        <p:nvSpPr>
          <p:cNvPr id="19" name="Text 17"/>
          <p:cNvSpPr/>
          <p:nvPr/>
        </p:nvSpPr>
        <p:spPr>
          <a:xfrm>
            <a:off x="5283696" y="2937867"/>
            <a:ext cx="1259830" cy="157460"/>
          </a:xfrm>
          <a:prstGeom prst="rect">
            <a:avLst/>
          </a:prstGeom>
          <a:noFill/>
          <a:ln/>
        </p:spPr>
        <p:txBody>
          <a:bodyPr wrap="none" lIns="0" tIns="0" rIns="0" bIns="0" rtlCol="0" anchor="t"/>
          <a:lstStyle/>
          <a:p>
            <a:pPr marL="0" indent="0" algn="ctr">
              <a:lnSpc>
                <a:spcPct val="104000"/>
              </a:lnSpc>
              <a:buNone/>
            </a:pPr>
            <a:r>
              <a:rPr lang="en-US" sz="950" dirty="0">
                <a:solidFill>
                  <a:srgbClr val="BFBFBF"/>
                </a:solidFill>
                <a:latin typeface="Arial" panose="020B0604020202020204" pitchFamily="34" charset="0"/>
                <a:ea typeface="Instrument Sans Medium" pitchFamily="34" charset="-122"/>
                <a:cs typeface="Arial" panose="020B0604020202020204" pitchFamily="34" charset="0"/>
              </a:rPr>
              <a:t>Avg. Customer LTV</a:t>
            </a:r>
            <a:endParaRPr lang="en-US" sz="950" dirty="0"/>
          </a:p>
        </p:txBody>
      </p:sp>
      <p:sp>
        <p:nvSpPr>
          <p:cNvPr id="20" name="Text 18"/>
          <p:cNvSpPr/>
          <p:nvPr/>
        </p:nvSpPr>
        <p:spPr>
          <a:xfrm>
            <a:off x="4623122" y="3144441"/>
            <a:ext cx="2581052" cy="146075"/>
          </a:xfrm>
          <a:prstGeom prst="rect">
            <a:avLst/>
          </a:prstGeom>
          <a:noFill/>
          <a:ln/>
        </p:spPr>
        <p:txBody>
          <a:bodyPr wrap="none" lIns="0" tIns="0" rIns="0" bIns="0" rtlCol="0" anchor="t"/>
          <a:lstStyle/>
          <a:p>
            <a:pPr marL="0" indent="0" algn="ctr">
              <a:lnSpc>
                <a:spcPct val="121000"/>
              </a:lnSpc>
              <a:buNone/>
            </a:pPr>
            <a:r>
              <a:rPr lang="en-US" sz="750" dirty="0">
                <a:solidFill>
                  <a:srgbClr val="BFBFBF"/>
                </a:solidFill>
                <a:latin typeface="Arial" panose="020B0604020202020204" pitchFamily="34" charset="0"/>
                <a:ea typeface="Open Sans" pitchFamily="34" charset="-122"/>
                <a:cs typeface="Arial" panose="020B0604020202020204" pitchFamily="34" charset="0"/>
              </a:rPr>
              <a:t>Current average lifetime value</a:t>
            </a:r>
            <a:endParaRPr lang="en-US" sz="750" dirty="0"/>
          </a:p>
        </p:txBody>
      </p:sp>
      <p:pic>
        <p:nvPicPr>
          <p:cNvPr id="2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3778" y="3382640"/>
            <a:ext cx="3947220" cy="1370409"/>
          </a:xfrm>
          <a:prstGeom prst="rect">
            <a:avLst/>
          </a:prstGeom>
        </p:spPr>
      </p:pic>
      <p:sp>
        <p:nvSpPr>
          <p:cNvPr id="22" name="Text 19"/>
          <p:cNvSpPr/>
          <p:nvPr/>
        </p:nvSpPr>
        <p:spPr>
          <a:xfrm>
            <a:off x="755972" y="3497684"/>
            <a:ext cx="2348136" cy="157460"/>
          </a:xfrm>
          <a:prstGeom prst="rect">
            <a:avLst/>
          </a:prstGeom>
          <a:noFill/>
          <a:ln/>
        </p:spPr>
        <p:txBody>
          <a:bodyPr wrap="none" lIns="0" tIns="0" rIns="0" bIns="0" rtlCol="0" anchor="t"/>
          <a:lstStyle/>
          <a:p>
            <a:pPr marL="0" indent="0" algn="l">
              <a:lnSpc>
                <a:spcPct val="104000"/>
              </a:lnSpc>
              <a:buNone/>
            </a:pPr>
            <a:r>
              <a:rPr lang="en-US" sz="950" dirty="0">
                <a:solidFill>
                  <a:srgbClr val="BFBFBF"/>
                </a:solidFill>
                <a:latin typeface="Arial" panose="020B0604020202020204" pitchFamily="34" charset="0"/>
                <a:ea typeface="Instrument Sans Medium" pitchFamily="34" charset="-122"/>
                <a:cs typeface="Arial" panose="020B0604020202020204" pitchFamily="34" charset="0"/>
              </a:rPr>
              <a:t>Key Insight: New Customer Dependency</a:t>
            </a:r>
            <a:endParaRPr lang="en-US" sz="950" dirty="0"/>
          </a:p>
        </p:txBody>
      </p:sp>
      <p:sp>
        <p:nvSpPr>
          <p:cNvPr id="23" name="Text 20"/>
          <p:cNvSpPr/>
          <p:nvPr/>
        </p:nvSpPr>
        <p:spPr>
          <a:xfrm>
            <a:off x="755972" y="3704258"/>
            <a:ext cx="3659981" cy="584299"/>
          </a:xfrm>
          <a:prstGeom prst="rect">
            <a:avLst/>
          </a:prstGeom>
          <a:noFill/>
          <a:ln/>
        </p:spPr>
        <p:txBody>
          <a:bodyPr wrap="square" lIns="0" tIns="0" rIns="0" bIns="0" rtlCol="0" anchor="t">
            <a:normAutofit/>
          </a:bodyPr>
          <a:lstStyle/>
          <a:p>
            <a:pPr marL="0" indent="0" algn="l">
              <a:lnSpc>
                <a:spcPct val="121000"/>
              </a:lnSpc>
              <a:buNone/>
            </a:pPr>
            <a:r>
              <a:rPr lang="en-US" sz="750" dirty="0">
                <a:solidFill>
                  <a:srgbClr val="BFBFBF"/>
                </a:solidFill>
                <a:latin typeface="Arial" panose="020B0604020202020204" pitchFamily="34" charset="0"/>
                <a:ea typeface="Open Sans" pitchFamily="34" charset="-122"/>
                <a:cs typeface="Arial" panose="020B0604020202020204" pitchFamily="34" charset="0"/>
              </a:rPr>
              <a:t>One-time customers account for approximately </a:t>
            </a:r>
            <a:r>
              <a:rPr lang="en-US" sz="750" b="1" dirty="0">
                <a:solidFill>
                  <a:srgbClr val="BFBFBF"/>
                </a:solidFill>
                <a:latin typeface="Arial" panose="020B0604020202020204" pitchFamily="34" charset="0"/>
                <a:ea typeface="Open Sans" pitchFamily="34" charset="-122"/>
                <a:cs typeface="Arial" panose="020B0604020202020204" pitchFamily="34" charset="0"/>
              </a:rPr>
              <a:t>41.4K</a:t>
            </a:r>
            <a:r>
              <a:rPr lang="en-US" sz="750" dirty="0">
                <a:solidFill>
                  <a:srgbClr val="BFBFBF"/>
                </a:solidFill>
                <a:latin typeface="Arial" panose="020B0604020202020204" pitchFamily="34" charset="0"/>
                <a:ea typeface="Open Sans" pitchFamily="34" charset="-122"/>
                <a:cs typeface="Arial" panose="020B0604020202020204" pitchFamily="34" charset="0"/>
              </a:rPr>
              <a:t> of the total base. Returning customers represent only </a:t>
            </a:r>
            <a:r>
              <a:rPr lang="en-US" sz="750" b="1" dirty="0">
                <a:solidFill>
                  <a:srgbClr val="BFBFBF"/>
                </a:solidFill>
                <a:latin typeface="Arial" panose="020B0604020202020204" pitchFamily="34" charset="0"/>
                <a:ea typeface="Open Sans" pitchFamily="34" charset="-122"/>
                <a:cs typeface="Arial" panose="020B0604020202020204" pitchFamily="34" charset="0"/>
              </a:rPr>
              <a:t>4.22K</a:t>
            </a:r>
            <a:r>
              <a:rPr lang="en-US" sz="750" dirty="0">
                <a:solidFill>
                  <a:srgbClr val="BFBFBF"/>
                </a:solidFill>
                <a:latin typeface="Arial" panose="020B0604020202020204" pitchFamily="34" charset="0"/>
                <a:ea typeface="Open Sans" pitchFamily="34" charset="-122"/>
                <a:cs typeface="Arial" panose="020B0604020202020204" pitchFamily="34" charset="0"/>
              </a:rPr>
              <a:t> — just 9.25% of the customer base. Revenue is heavily dependent on continuous new customer acquisition, creating vulnerability if acquisition costs rise.</a:t>
            </a:r>
            <a:endParaRPr lang="en-US" sz="750" dirty="0"/>
          </a:p>
        </p:txBody>
      </p:sp>
      <p:pic>
        <p:nvPicPr>
          <p:cNvPr id="2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98566" y="3382640"/>
            <a:ext cx="3947294" cy="1370409"/>
          </a:xfrm>
          <a:prstGeom prst="rect">
            <a:avLst/>
          </a:prstGeom>
        </p:spPr>
      </p:pic>
      <p:sp>
        <p:nvSpPr>
          <p:cNvPr id="25" name="Text 21"/>
          <p:cNvSpPr/>
          <p:nvPr/>
        </p:nvSpPr>
        <p:spPr>
          <a:xfrm>
            <a:off x="4770760" y="3497684"/>
            <a:ext cx="1671489" cy="157460"/>
          </a:xfrm>
          <a:prstGeom prst="rect">
            <a:avLst/>
          </a:prstGeom>
          <a:noFill/>
          <a:ln/>
        </p:spPr>
        <p:txBody>
          <a:bodyPr wrap="none" lIns="0" tIns="0" rIns="0" bIns="0" rtlCol="0" anchor="t"/>
          <a:lstStyle/>
          <a:p>
            <a:pPr marL="0" indent="0" algn="l">
              <a:lnSpc>
                <a:spcPct val="104000"/>
              </a:lnSpc>
              <a:buNone/>
            </a:pPr>
            <a:r>
              <a:rPr lang="en-US" sz="950" dirty="0">
                <a:solidFill>
                  <a:srgbClr val="BFBFBF"/>
                </a:solidFill>
                <a:latin typeface="Arial" panose="020B0604020202020204" pitchFamily="34" charset="0"/>
                <a:ea typeface="Instrument Sans Medium" pitchFamily="34" charset="-122"/>
                <a:cs typeface="Arial" panose="020B0604020202020204" pitchFamily="34" charset="0"/>
              </a:rPr>
              <a:t>Strategic Recommendations</a:t>
            </a:r>
            <a:endParaRPr lang="en-US" sz="950" dirty="0"/>
          </a:p>
        </p:txBody>
      </p:sp>
      <p:sp>
        <p:nvSpPr>
          <p:cNvPr id="26" name="Text 22"/>
          <p:cNvSpPr/>
          <p:nvPr/>
        </p:nvSpPr>
        <p:spPr>
          <a:xfrm>
            <a:off x="4770760" y="3704258"/>
            <a:ext cx="3660056" cy="933748"/>
          </a:xfrm>
          <a:prstGeom prst="rect">
            <a:avLst/>
          </a:prstGeom>
          <a:noFill/>
          <a:ln/>
        </p:spPr>
        <p:txBody>
          <a:bodyPr wrap="square" lIns="0" tIns="0" rIns="0" bIns="0" rtlCol="0" anchor="t">
            <a:normAutofit/>
          </a:bodyPr>
          <a:lstStyle/>
          <a:p>
            <a:pPr marL="342900" indent="-342900" algn="l">
              <a:lnSpc>
                <a:spcPct val="121000"/>
              </a:lnSpc>
              <a:buSzPct val="100000"/>
              <a:buChar char="•"/>
            </a:pPr>
            <a:r>
              <a:rPr lang="en-US" sz="750" dirty="0">
                <a:solidFill>
                  <a:srgbClr val="BFBFBF"/>
                </a:solidFill>
                <a:latin typeface="Arial" panose="020B0604020202020204" pitchFamily="34" charset="0"/>
                <a:ea typeface="Open Sans" pitchFamily="34" charset="-122"/>
                <a:cs typeface="Arial" panose="020B0604020202020204" pitchFamily="34" charset="0"/>
              </a:rPr>
              <a:t>Launch structured loyalty and rewards programs to incentivize repeat visits</a:t>
            </a:r>
            <a:endParaRPr lang="en-US" sz="750" dirty="0"/>
          </a:p>
          <a:p>
            <a:pPr marL="342900" indent="-342900" algn="l">
              <a:lnSpc>
                <a:spcPct val="121000"/>
              </a:lnSpc>
              <a:buSzPct val="100000"/>
              <a:buChar char="•"/>
            </a:pPr>
            <a:r>
              <a:rPr lang="en-US" sz="750" dirty="0">
                <a:solidFill>
                  <a:srgbClr val="BFBFBF"/>
                </a:solidFill>
                <a:latin typeface="Arial" panose="020B0604020202020204" pitchFamily="34" charset="0"/>
                <a:ea typeface="Open Sans" pitchFamily="34" charset="-122"/>
                <a:cs typeface="Arial" panose="020B0604020202020204" pitchFamily="34" charset="0"/>
              </a:rPr>
              <a:t>Implement targeted customer retention campaigns with personalized communication</a:t>
            </a:r>
            <a:endParaRPr lang="en-US" sz="750" dirty="0"/>
          </a:p>
          <a:p>
            <a:pPr marL="342900" indent="-342900" algn="l">
              <a:lnSpc>
                <a:spcPct val="121000"/>
              </a:lnSpc>
              <a:buSzPct val="100000"/>
              <a:buChar char="•"/>
            </a:pPr>
            <a:r>
              <a:rPr lang="en-US" sz="750" dirty="0">
                <a:solidFill>
                  <a:srgbClr val="BFBFBF"/>
                </a:solidFill>
                <a:latin typeface="Arial" panose="020B0604020202020204" pitchFamily="34" charset="0"/>
                <a:ea typeface="Open Sans" pitchFamily="34" charset="-122"/>
                <a:cs typeface="Arial" panose="020B0604020202020204" pitchFamily="34" charset="0"/>
              </a:rPr>
              <a:t>Create exclusive offers and early-access privileges for repeat buyers to increase lifetime value</a:t>
            </a:r>
            <a:endParaRPr lang="en-US" sz="750" dirty="0"/>
          </a:p>
        </p:txBody>
      </p:sp>
    </p:spTree>
    <p:extLst>
      <p:ext uri="{BB962C8B-B14F-4D97-AF65-F5344CB8AC3E}">
        <p14:creationId xmlns:p14="http://schemas.microsoft.com/office/powerpoint/2010/main" val="1597079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31315" y="163525"/>
            <a:ext cx="4676180" cy="363364"/>
          </a:xfrm>
          <a:prstGeom prst="rect">
            <a:avLst/>
          </a:prstGeom>
          <a:noFill/>
          <a:ln/>
        </p:spPr>
        <p:txBody>
          <a:bodyPr wrap="none" lIns="0" tIns="0" rIns="0" bIns="0" rtlCol="0" anchor="t"/>
          <a:lstStyle/>
          <a:p>
            <a:pPr marL="0" indent="0" algn="l">
              <a:lnSpc>
                <a:spcPct val="104000"/>
              </a:lnSpc>
              <a:buNone/>
            </a:pPr>
            <a:r>
              <a:rPr lang="en-US" sz="225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Returns &amp; Buy-Back Dashboard</a:t>
            </a:r>
            <a:endParaRPr lang="en-US" sz="2250" b="1" dirty="0">
              <a:solidFill>
                <a:schemeClr val="accent4">
                  <a:lumMod val="60000"/>
                  <a:lumOff val="40000"/>
                </a:schemeClr>
              </a:solidFill>
            </a:endParaRPr>
          </a:p>
        </p:txBody>
      </p:sp>
      <p:sp>
        <p:nvSpPr>
          <p:cNvPr id="5" name="Text 3"/>
          <p:cNvSpPr/>
          <p:nvPr/>
        </p:nvSpPr>
        <p:spPr>
          <a:xfrm>
            <a:off x="321766" y="746336"/>
            <a:ext cx="8151763" cy="510964"/>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BFBFBF"/>
                </a:solidFill>
                <a:latin typeface="Arial" panose="020B0604020202020204" pitchFamily="34" charset="0"/>
                <a:ea typeface="Open Sans" pitchFamily="34" charset="-122"/>
                <a:cs typeface="Arial" panose="020B0604020202020204" pitchFamily="34" charset="0"/>
              </a:rPr>
              <a:t>The buy-back program is a significant secondary revenue stream, contributing </a:t>
            </a:r>
            <a:r>
              <a:rPr lang="en-US" sz="900" b="1" dirty="0">
                <a:solidFill>
                  <a:srgbClr val="BFBFBF"/>
                </a:solidFill>
                <a:latin typeface="Arial" panose="020B0604020202020204" pitchFamily="34" charset="0"/>
                <a:ea typeface="Open Sans" pitchFamily="34" charset="-122"/>
                <a:cs typeface="Arial" panose="020B0604020202020204" pitchFamily="34" charset="0"/>
              </a:rPr>
              <a:t>SAR 37.8M</a:t>
            </a:r>
            <a:r>
              <a:rPr lang="en-US" sz="900" dirty="0">
                <a:solidFill>
                  <a:srgbClr val="BFBFBF"/>
                </a:solidFill>
                <a:latin typeface="Arial" panose="020B0604020202020204" pitchFamily="34" charset="0"/>
                <a:ea typeface="Open Sans" pitchFamily="34" charset="-122"/>
                <a:cs typeface="Arial" panose="020B0604020202020204" pitchFamily="34" charset="0"/>
              </a:rPr>
              <a:t> through old gold acquisition. Return rates remain low, indicating strong product quality and customer satisfaction across the network.</a:t>
            </a:r>
            <a:endParaRPr lang="en-US" sz="900" dirty="0"/>
          </a:p>
        </p:txBody>
      </p:sp>
      <p:sp>
        <p:nvSpPr>
          <p:cNvPr id="6" name="Shape 4"/>
          <p:cNvSpPr/>
          <p:nvPr/>
        </p:nvSpPr>
        <p:spPr>
          <a:xfrm>
            <a:off x="412403" y="1622078"/>
            <a:ext cx="4101480" cy="3176215"/>
          </a:xfrm>
          <a:prstGeom prst="roundRect">
            <a:avLst>
              <a:gd name="adj" fmla="val 549"/>
            </a:avLst>
          </a:prstGeom>
          <a:solidFill>
            <a:srgbClr val="F5F547"/>
          </a:solidFill>
          <a:ln/>
        </p:spPr>
      </p:sp>
      <p:sp>
        <p:nvSpPr>
          <p:cNvPr id="7" name="Text 5"/>
          <p:cNvSpPr/>
          <p:nvPr/>
        </p:nvSpPr>
        <p:spPr>
          <a:xfrm>
            <a:off x="528638" y="1731094"/>
            <a:ext cx="1910804" cy="181645"/>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Arial" panose="020B0604020202020204" pitchFamily="34" charset="0"/>
                <a:ea typeface="Instrument Sans Medium" pitchFamily="34" charset="-122"/>
                <a:cs typeface="Arial" panose="020B0604020202020204" pitchFamily="34" charset="0"/>
              </a:rPr>
              <a:t>Buy-Back KPIs</a:t>
            </a:r>
            <a:endParaRPr lang="en-US" sz="1100" dirty="0"/>
          </a:p>
        </p:txBody>
      </p:sp>
      <p:sp>
        <p:nvSpPr>
          <p:cNvPr id="8" name="Text 6"/>
          <p:cNvSpPr/>
          <p:nvPr/>
        </p:nvSpPr>
        <p:spPr>
          <a:xfrm>
            <a:off x="528638" y="2021756"/>
            <a:ext cx="3869010" cy="835223"/>
          </a:xfrm>
          <a:prstGeom prst="rect">
            <a:avLst/>
          </a:prstGeom>
          <a:noFill/>
          <a:ln/>
        </p:spPr>
        <p:txBody>
          <a:bodyPr wrap="square" lIns="0" tIns="0" rIns="0" bIns="0" rtlCol="0" anchor="t">
            <a:normAutofit/>
          </a:bodyPr>
          <a:lstStyle/>
          <a:p>
            <a:pPr marL="342900" indent="-342900" algn="l">
              <a:lnSpc>
                <a:spcPct val="129000"/>
              </a:lnSpc>
              <a:buSzPct val="100000"/>
              <a:buChar char="•"/>
            </a:pPr>
            <a:r>
              <a:rPr lang="en-US" sz="900" dirty="0">
                <a:solidFill>
                  <a:srgbClr val="000000"/>
                </a:solidFill>
                <a:latin typeface="Arial" panose="020B0604020202020204" pitchFamily="34" charset="0"/>
                <a:ea typeface="Open Sans" pitchFamily="34" charset="-122"/>
                <a:cs typeface="Arial" panose="020B0604020202020204" pitchFamily="34" charset="0"/>
              </a:rPr>
              <a:t>Old Gold Volume: </a:t>
            </a:r>
            <a:r>
              <a:rPr lang="en-US" sz="900" b="1" dirty="0">
                <a:solidFill>
                  <a:srgbClr val="000000"/>
                </a:solidFill>
                <a:latin typeface="Arial" panose="020B0604020202020204" pitchFamily="34" charset="0"/>
                <a:ea typeface="Open Sans" pitchFamily="34" charset="-122"/>
                <a:cs typeface="Arial" panose="020B0604020202020204" pitchFamily="34" charset="0"/>
              </a:rPr>
              <a:t>1,437.53 g</a:t>
            </a:r>
            <a:endParaRPr lang="en-US" sz="900" dirty="0"/>
          </a:p>
          <a:p>
            <a:pPr marL="342900" indent="-342900" algn="l">
              <a:lnSpc>
                <a:spcPct val="129000"/>
              </a:lnSpc>
              <a:buSzPct val="100000"/>
              <a:buChar char="•"/>
            </a:pPr>
            <a:r>
              <a:rPr lang="en-US" sz="900" dirty="0">
                <a:solidFill>
                  <a:srgbClr val="000000"/>
                </a:solidFill>
                <a:latin typeface="Arial" panose="020B0604020202020204" pitchFamily="34" charset="0"/>
                <a:ea typeface="Open Sans" pitchFamily="34" charset="-122"/>
                <a:cs typeface="Arial" panose="020B0604020202020204" pitchFamily="34" charset="0"/>
              </a:rPr>
              <a:t>Old Gold Value: </a:t>
            </a:r>
            <a:r>
              <a:rPr lang="en-US" sz="900" b="1" dirty="0">
                <a:solidFill>
                  <a:srgbClr val="000000"/>
                </a:solidFill>
                <a:latin typeface="Arial" panose="020B0604020202020204" pitchFamily="34" charset="0"/>
                <a:ea typeface="Open Sans" pitchFamily="34" charset="-122"/>
                <a:cs typeface="Arial" panose="020B0604020202020204" pitchFamily="34" charset="0"/>
              </a:rPr>
              <a:t>SAR 37.8M</a:t>
            </a:r>
            <a:endParaRPr lang="en-US" sz="900" dirty="0"/>
          </a:p>
          <a:p>
            <a:pPr marL="342900" indent="-342900" algn="l">
              <a:lnSpc>
                <a:spcPct val="129000"/>
              </a:lnSpc>
              <a:buSzPct val="100000"/>
              <a:buChar char="•"/>
            </a:pPr>
            <a:r>
              <a:rPr lang="en-US" sz="900" dirty="0">
                <a:solidFill>
                  <a:srgbClr val="000000"/>
                </a:solidFill>
                <a:latin typeface="Arial" panose="020B0604020202020204" pitchFamily="34" charset="0"/>
                <a:ea typeface="Open Sans" pitchFamily="34" charset="-122"/>
                <a:cs typeface="Arial" panose="020B0604020202020204" pitchFamily="34" charset="0"/>
              </a:rPr>
              <a:t>Return Rate (Count): </a:t>
            </a:r>
            <a:r>
              <a:rPr lang="en-US" sz="900" b="1" dirty="0">
                <a:solidFill>
                  <a:srgbClr val="000000"/>
                </a:solidFill>
                <a:latin typeface="Arial" panose="020B0604020202020204" pitchFamily="34" charset="0"/>
                <a:ea typeface="Open Sans" pitchFamily="34" charset="-122"/>
                <a:cs typeface="Arial" panose="020B0604020202020204" pitchFamily="34" charset="0"/>
              </a:rPr>
              <a:t>1.73%</a:t>
            </a:r>
            <a:endParaRPr lang="en-US" sz="900" dirty="0"/>
          </a:p>
          <a:p>
            <a:pPr marL="342900" indent="-342900" algn="l">
              <a:lnSpc>
                <a:spcPct val="129000"/>
              </a:lnSpc>
              <a:buSzPct val="100000"/>
              <a:buChar char="•"/>
            </a:pPr>
            <a:r>
              <a:rPr lang="en-US" sz="900" dirty="0">
                <a:solidFill>
                  <a:srgbClr val="000000"/>
                </a:solidFill>
                <a:latin typeface="Arial" panose="020B0604020202020204" pitchFamily="34" charset="0"/>
                <a:ea typeface="Open Sans" pitchFamily="34" charset="-122"/>
                <a:cs typeface="Arial" panose="020B0604020202020204" pitchFamily="34" charset="0"/>
              </a:rPr>
              <a:t>Return Rate (Value): </a:t>
            </a:r>
            <a:r>
              <a:rPr lang="en-US" sz="900" b="1" dirty="0">
                <a:solidFill>
                  <a:srgbClr val="000000"/>
                </a:solidFill>
                <a:latin typeface="Arial" panose="020B0604020202020204" pitchFamily="34" charset="0"/>
                <a:ea typeface="Open Sans" pitchFamily="34" charset="-122"/>
                <a:cs typeface="Arial" panose="020B0604020202020204" pitchFamily="34" charset="0"/>
              </a:rPr>
              <a:t>10.84%</a:t>
            </a:r>
            <a:endParaRPr lang="en-US" sz="900" dirty="0"/>
          </a:p>
        </p:txBody>
      </p:sp>
      <p:sp>
        <p:nvSpPr>
          <p:cNvPr id="9" name="Text 7"/>
          <p:cNvSpPr/>
          <p:nvPr/>
        </p:nvSpPr>
        <p:spPr>
          <a:xfrm>
            <a:off x="528638" y="2955057"/>
            <a:ext cx="3869010" cy="540693"/>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000000"/>
                </a:solidFill>
                <a:latin typeface="Arial" panose="020B0604020202020204" pitchFamily="34" charset="0"/>
                <a:ea typeface="Open Sans" pitchFamily="34" charset="-122"/>
                <a:cs typeface="Arial" panose="020B0604020202020204" pitchFamily="34" charset="0"/>
              </a:rPr>
              <a:t>Branch 02 generated approximately </a:t>
            </a:r>
            <a:r>
              <a:rPr lang="en-US" sz="900" b="1" dirty="0">
                <a:solidFill>
                  <a:srgbClr val="000000"/>
                </a:solidFill>
                <a:latin typeface="Arial" panose="020B0604020202020204" pitchFamily="34" charset="0"/>
                <a:ea typeface="Open Sans" pitchFamily="34" charset="-122"/>
                <a:cs typeface="Arial" panose="020B0604020202020204" pitchFamily="34" charset="0"/>
              </a:rPr>
              <a:t>SAR 7.0M</a:t>
            </a:r>
            <a:r>
              <a:rPr lang="en-US" sz="900" dirty="0">
                <a:solidFill>
                  <a:srgbClr val="000000"/>
                </a:solidFill>
                <a:latin typeface="Arial" panose="020B0604020202020204" pitchFamily="34" charset="0"/>
                <a:ea typeface="Open Sans" pitchFamily="34" charset="-122"/>
                <a:cs typeface="Arial" panose="020B0604020202020204" pitchFamily="34" charset="0"/>
              </a:rPr>
              <a:t> in buy-back value, while Branch 05 contributed approximately </a:t>
            </a:r>
            <a:r>
              <a:rPr lang="en-US" sz="900" b="1" dirty="0">
                <a:solidFill>
                  <a:srgbClr val="000000"/>
                </a:solidFill>
                <a:latin typeface="Arial" panose="020B0604020202020204" pitchFamily="34" charset="0"/>
                <a:ea typeface="Open Sans" pitchFamily="34" charset="-122"/>
                <a:cs typeface="Arial" panose="020B0604020202020204" pitchFamily="34" charset="0"/>
              </a:rPr>
              <a:t>SAR 6.8M</a:t>
            </a:r>
            <a:r>
              <a:rPr lang="en-US" sz="900" dirty="0">
                <a:solidFill>
                  <a:srgbClr val="000000"/>
                </a:solidFill>
                <a:latin typeface="Arial" panose="020B0604020202020204" pitchFamily="34" charset="0"/>
                <a:ea typeface="Open Sans" pitchFamily="34" charset="-122"/>
                <a:cs typeface="Arial" panose="020B0604020202020204" pitchFamily="34" charset="0"/>
              </a:rPr>
              <a:t> — together accounting for a substantial share of total old gold acquisitions.</a:t>
            </a:r>
            <a:endParaRPr lang="en-US" sz="900" dirty="0"/>
          </a:p>
        </p:txBody>
      </p:sp>
      <p:sp>
        <p:nvSpPr>
          <p:cNvPr id="10" name="Text 8"/>
          <p:cNvSpPr/>
          <p:nvPr/>
        </p:nvSpPr>
        <p:spPr>
          <a:xfrm>
            <a:off x="4718596" y="1731094"/>
            <a:ext cx="1910804" cy="181645"/>
          </a:xfrm>
          <a:prstGeom prst="rect">
            <a:avLst/>
          </a:prstGeom>
          <a:noFill/>
          <a:ln/>
        </p:spPr>
        <p:txBody>
          <a:bodyPr wrap="none" lIns="0" tIns="0" rIns="0" bIns="0" rtlCol="0" anchor="t"/>
          <a:lstStyle/>
          <a:p>
            <a:pPr marL="0" indent="0" algn="l">
              <a:lnSpc>
                <a:spcPct val="104000"/>
              </a:lnSpc>
              <a:buNone/>
            </a:pPr>
            <a:r>
              <a:rPr lang="en-US" sz="1100" dirty="0">
                <a:solidFill>
                  <a:srgbClr val="FEFEFE"/>
                </a:solidFill>
                <a:latin typeface="Arial" panose="020B0604020202020204" pitchFamily="34" charset="0"/>
                <a:ea typeface="Instrument Sans Medium" pitchFamily="34" charset="-122"/>
                <a:cs typeface="Arial" panose="020B0604020202020204" pitchFamily="34" charset="0"/>
              </a:rPr>
              <a:t>Key Insights</a:t>
            </a:r>
            <a:endParaRPr lang="en-US" sz="1100" dirty="0"/>
          </a:p>
        </p:txBody>
      </p:sp>
      <p:sp>
        <p:nvSpPr>
          <p:cNvPr id="11" name="Text 9"/>
          <p:cNvSpPr/>
          <p:nvPr/>
        </p:nvSpPr>
        <p:spPr>
          <a:xfrm>
            <a:off x="4718596" y="2021756"/>
            <a:ext cx="3934048" cy="1556147"/>
          </a:xfrm>
          <a:prstGeom prst="rect">
            <a:avLst/>
          </a:prstGeom>
          <a:noFill/>
          <a:ln/>
        </p:spPr>
        <p:txBody>
          <a:bodyPr wrap="square" lIns="0" tIns="0" rIns="0" bIns="0" rtlCol="0" anchor="t">
            <a:normAutofit/>
          </a:bodyPr>
          <a:lstStyle/>
          <a:p>
            <a:pPr marL="342900" indent="-342900" algn="l">
              <a:lnSpc>
                <a:spcPct val="129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The buy-back program contributes </a:t>
            </a:r>
            <a:r>
              <a:rPr lang="en-US" sz="900" b="1" dirty="0">
                <a:solidFill>
                  <a:srgbClr val="BFBFBF"/>
                </a:solidFill>
                <a:latin typeface="Arial" panose="020B0604020202020204" pitchFamily="34" charset="0"/>
                <a:ea typeface="Open Sans" pitchFamily="34" charset="-122"/>
                <a:cs typeface="Arial" panose="020B0604020202020204" pitchFamily="34" charset="0"/>
              </a:rPr>
              <a:t>SAR 37.8M</a:t>
            </a:r>
            <a:r>
              <a:rPr lang="en-US" sz="900" dirty="0">
                <a:solidFill>
                  <a:srgbClr val="BFBFBF"/>
                </a:solidFill>
                <a:latin typeface="Arial" panose="020B0604020202020204" pitchFamily="34" charset="0"/>
                <a:ea typeface="Open Sans" pitchFamily="34" charset="-122"/>
                <a:cs typeface="Arial" panose="020B0604020202020204" pitchFamily="34" charset="0"/>
              </a:rPr>
              <a:t> — a meaningful secondary revenue channel</a:t>
            </a:r>
            <a:endParaRPr lang="en-US" sz="900" dirty="0"/>
          </a:p>
          <a:p>
            <a:pPr marL="342900" indent="-342900" algn="l">
              <a:lnSpc>
                <a:spcPct val="129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Return rates remain low at </a:t>
            </a:r>
            <a:r>
              <a:rPr lang="en-US" sz="900" b="1" dirty="0">
                <a:solidFill>
                  <a:srgbClr val="BFBFBF"/>
                </a:solidFill>
                <a:latin typeface="Arial" panose="020B0604020202020204" pitchFamily="34" charset="0"/>
                <a:ea typeface="Open Sans" pitchFamily="34" charset="-122"/>
                <a:cs typeface="Arial" panose="020B0604020202020204" pitchFamily="34" charset="0"/>
              </a:rPr>
              <a:t>1.73%</a:t>
            </a:r>
            <a:r>
              <a:rPr lang="en-US" sz="900" dirty="0">
                <a:solidFill>
                  <a:srgbClr val="BFBFBF"/>
                </a:solidFill>
                <a:latin typeface="Arial" panose="020B0604020202020204" pitchFamily="34" charset="0"/>
                <a:ea typeface="Open Sans" pitchFamily="34" charset="-122"/>
                <a:cs typeface="Arial" panose="020B0604020202020204" pitchFamily="34" charset="0"/>
              </a:rPr>
              <a:t> by count, reflecting strong product quality</a:t>
            </a:r>
            <a:endParaRPr lang="en-US" sz="900" dirty="0"/>
          </a:p>
          <a:p>
            <a:pPr marL="342900" indent="-342900" algn="l">
              <a:lnSpc>
                <a:spcPct val="129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Return rate by value (10.84%) suggests higher-value items may have slightly elevated return propensity</a:t>
            </a:r>
            <a:endParaRPr lang="en-US" sz="900" dirty="0"/>
          </a:p>
          <a:p>
            <a:pPr marL="342900" indent="-342900" algn="l">
              <a:lnSpc>
                <a:spcPct val="129000"/>
              </a:lnSpc>
              <a:buSzPct val="100000"/>
              <a:buChar char="•"/>
            </a:pPr>
            <a:r>
              <a:rPr lang="en-US" sz="900" dirty="0">
                <a:solidFill>
                  <a:srgbClr val="BFBFBF"/>
                </a:solidFill>
                <a:latin typeface="Arial" panose="020B0604020202020204" pitchFamily="34" charset="0"/>
                <a:ea typeface="Open Sans" pitchFamily="34" charset="-122"/>
                <a:cs typeface="Arial" panose="020B0604020202020204" pitchFamily="34" charset="0"/>
              </a:rPr>
              <a:t>Branch-level variation in buy-back performance indicates opportunity to standardize best practices</a:t>
            </a:r>
            <a:endParaRPr lang="en-US" sz="900" dirty="0"/>
          </a:p>
        </p:txBody>
      </p:sp>
      <p:sp>
        <p:nvSpPr>
          <p:cNvPr id="12" name="Shape 10"/>
          <p:cNvSpPr/>
          <p:nvPr/>
        </p:nvSpPr>
        <p:spPr>
          <a:xfrm>
            <a:off x="4718596" y="3700537"/>
            <a:ext cx="3934048" cy="975122"/>
          </a:xfrm>
          <a:prstGeom prst="roundRect">
            <a:avLst>
              <a:gd name="adj" fmla="val 1789"/>
            </a:avLst>
          </a:prstGeom>
          <a:solidFill>
            <a:srgbClr val="183A13"/>
          </a:solidFill>
          <a:ln/>
        </p:spPr>
      </p:sp>
      <p:pic>
        <p:nvPicPr>
          <p:cNvPr id="13" name="Image 0" descr="preencoded.png"/>
          <p:cNvPicPr>
            <a:picLocks noChangeAspect="1"/>
          </p:cNvPicPr>
          <p:nvPr/>
        </p:nvPicPr>
        <p:blipFill>
          <a:blip r:embed="rId3"/>
          <a:stretch>
            <a:fillRect/>
          </a:stretch>
        </p:blipFill>
        <p:spPr>
          <a:xfrm>
            <a:off x="4834830" y="3877419"/>
            <a:ext cx="145331" cy="116235"/>
          </a:xfrm>
          <a:prstGeom prst="rect">
            <a:avLst/>
          </a:prstGeom>
        </p:spPr>
      </p:pic>
      <p:sp>
        <p:nvSpPr>
          <p:cNvPr id="14" name="Text 11"/>
          <p:cNvSpPr/>
          <p:nvPr/>
        </p:nvSpPr>
        <p:spPr>
          <a:xfrm>
            <a:off x="5096396" y="3827636"/>
            <a:ext cx="3440013" cy="720923"/>
          </a:xfrm>
          <a:prstGeom prst="rect">
            <a:avLst/>
          </a:prstGeom>
          <a:noFill/>
          <a:ln/>
        </p:spPr>
        <p:txBody>
          <a:bodyPr wrap="square" lIns="0" tIns="0" rIns="0" bIns="0" rtlCol="0" anchor="t">
            <a:normAutofit/>
          </a:bodyPr>
          <a:lstStyle/>
          <a:p>
            <a:pPr marL="0" indent="0" algn="l">
              <a:lnSpc>
                <a:spcPct val="129000"/>
              </a:lnSpc>
              <a:buNone/>
            </a:pPr>
            <a:r>
              <a:rPr lang="en-US" sz="900" b="1" dirty="0">
                <a:solidFill>
                  <a:srgbClr val="FFFFFF"/>
                </a:solidFill>
                <a:latin typeface="Arial" panose="020B0604020202020204" pitchFamily="34" charset="0"/>
                <a:ea typeface="Open Sans" pitchFamily="34" charset="-122"/>
                <a:cs typeface="Arial" panose="020B0604020202020204" pitchFamily="34" charset="0"/>
              </a:rPr>
              <a:t>Recommendation:</a:t>
            </a:r>
            <a:r>
              <a:rPr lang="en-US" sz="900" dirty="0">
                <a:solidFill>
                  <a:srgbClr val="FFFFFF"/>
                </a:solidFill>
                <a:latin typeface="Arial" panose="020B0604020202020204" pitchFamily="34" charset="0"/>
                <a:ea typeface="Open Sans" pitchFamily="34" charset="-122"/>
                <a:cs typeface="Arial" panose="020B0604020202020204" pitchFamily="34" charset="0"/>
              </a:rPr>
              <a:t> Expand old gold promotional campaigns to grow the buy-back pipeline. Investigate branches with higher return percentages to identify root causes and implement corrective measures.</a:t>
            </a:r>
            <a:endParaRPr lang="en-US" sz="900" dirty="0"/>
          </a:p>
        </p:txBody>
      </p:sp>
    </p:spTree>
    <p:extLst>
      <p:ext uri="{BB962C8B-B14F-4D97-AF65-F5344CB8AC3E}">
        <p14:creationId xmlns:p14="http://schemas.microsoft.com/office/powerpoint/2010/main" val="2615833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11497" y="260747"/>
            <a:ext cx="4732958" cy="327050"/>
          </a:xfrm>
          <a:prstGeom prst="rect">
            <a:avLst/>
          </a:prstGeom>
          <a:noFill/>
          <a:ln/>
        </p:spPr>
        <p:txBody>
          <a:bodyPr wrap="none" lIns="0" tIns="0" rIns="0" bIns="0" rtlCol="0" anchor="t"/>
          <a:lstStyle/>
          <a:p>
            <a:pPr marL="0" indent="0" algn="l">
              <a:lnSpc>
                <a:spcPct val="104000"/>
              </a:lnSpc>
              <a:buNone/>
            </a:pPr>
            <a:r>
              <a:rPr lang="en-US" sz="205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Payment &amp; Salesperson Dashboard</a:t>
            </a:r>
            <a:endParaRPr lang="en-US" sz="2050" b="1" dirty="0">
              <a:solidFill>
                <a:schemeClr val="accent4">
                  <a:lumMod val="60000"/>
                  <a:lumOff val="40000"/>
                </a:schemeClr>
              </a:solidFill>
            </a:endParaRPr>
          </a:p>
        </p:txBody>
      </p:sp>
      <p:sp>
        <p:nvSpPr>
          <p:cNvPr id="5" name="Text 3"/>
          <p:cNvSpPr/>
          <p:nvPr/>
        </p:nvSpPr>
        <p:spPr>
          <a:xfrm>
            <a:off x="496119" y="1047304"/>
            <a:ext cx="8151763" cy="30881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Cash remains the dominant payment method, though digital channels represent a growing opportunity. Top salespeople demonstrate exceptional productivity, providing a clear performance benchmark for incentive and training programs.</a:t>
            </a:r>
            <a:endParaRPr lang="en-US" sz="800" dirty="0"/>
          </a:p>
        </p:txBody>
      </p:sp>
      <p:pic>
        <p:nvPicPr>
          <p:cNvPr id="6" name="Image 0" descr="preencoded.png"/>
          <p:cNvPicPr>
            <a:picLocks noChangeAspect="1"/>
          </p:cNvPicPr>
          <p:nvPr/>
        </p:nvPicPr>
        <p:blipFill>
          <a:blip r:embed="rId3"/>
          <a:stretch>
            <a:fillRect/>
          </a:stretch>
        </p:blipFill>
        <p:spPr>
          <a:xfrm>
            <a:off x="496119" y="1554807"/>
            <a:ext cx="3948261" cy="2841947"/>
          </a:xfrm>
          <a:prstGeom prst="rect">
            <a:avLst/>
          </a:prstGeom>
        </p:spPr>
      </p:pic>
      <p:sp>
        <p:nvSpPr>
          <p:cNvPr id="7" name="Text 4"/>
          <p:cNvSpPr/>
          <p:nvPr/>
        </p:nvSpPr>
        <p:spPr>
          <a:xfrm>
            <a:off x="4704383" y="1543720"/>
            <a:ext cx="1765474" cy="163488"/>
          </a:xfrm>
          <a:prstGeom prst="rect">
            <a:avLst/>
          </a:prstGeom>
          <a:noFill/>
          <a:ln/>
        </p:spPr>
        <p:txBody>
          <a:bodyPr wrap="none" lIns="0" tIns="0" rIns="0" bIns="0" rtlCol="0" anchor="t"/>
          <a:lstStyle/>
          <a:p>
            <a:pPr marL="0" indent="0" algn="l">
              <a:lnSpc>
                <a:spcPct val="104000"/>
              </a:lnSpc>
              <a:buNone/>
            </a:pPr>
            <a:r>
              <a:rPr lang="en-US" sz="1000" dirty="0">
                <a:solidFill>
                  <a:srgbClr val="FEFEFE"/>
                </a:solidFill>
                <a:latin typeface="Arial" panose="020B0604020202020204" pitchFamily="34" charset="0"/>
                <a:ea typeface="Instrument Sans Medium" pitchFamily="34" charset="-122"/>
                <a:cs typeface="Arial" panose="020B0604020202020204" pitchFamily="34" charset="0"/>
              </a:rPr>
              <a:t>Payment Insights</a:t>
            </a:r>
            <a:endParaRPr lang="en-US" sz="1000" dirty="0"/>
          </a:p>
        </p:txBody>
      </p:sp>
      <p:sp>
        <p:nvSpPr>
          <p:cNvPr id="8" name="Text 5"/>
          <p:cNvSpPr/>
          <p:nvPr/>
        </p:nvSpPr>
        <p:spPr>
          <a:xfrm>
            <a:off x="4704383" y="1795462"/>
            <a:ext cx="3948261" cy="679400"/>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Total Cash Collection: </a:t>
            </a:r>
            <a:r>
              <a:rPr lang="en-US" sz="800" b="1" dirty="0">
                <a:solidFill>
                  <a:srgbClr val="BFBFBF"/>
                </a:solidFill>
                <a:latin typeface="Arial" panose="020B0604020202020204" pitchFamily="34" charset="0"/>
                <a:ea typeface="Open Sans" pitchFamily="34" charset="-122"/>
                <a:cs typeface="Arial" panose="020B0604020202020204" pitchFamily="34" charset="0"/>
              </a:rPr>
              <a:t>SAR 211.23M</a:t>
            </a:r>
            <a:endParaRPr lang="en-US" sz="800" dirty="0"/>
          </a:p>
          <a:p>
            <a:pPr marL="342900" indent="-342900" algn="l">
              <a:lnSpc>
                <a:spcPct val="123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Total Card Collection: </a:t>
            </a:r>
            <a:r>
              <a:rPr lang="en-US" sz="800" b="1" dirty="0">
                <a:solidFill>
                  <a:srgbClr val="BFBFBF"/>
                </a:solidFill>
                <a:latin typeface="Arial" panose="020B0604020202020204" pitchFamily="34" charset="0"/>
                <a:ea typeface="Open Sans" pitchFamily="34" charset="-122"/>
                <a:cs typeface="Arial" panose="020B0604020202020204" pitchFamily="34" charset="0"/>
              </a:rPr>
              <a:t>SAR 92.73M</a:t>
            </a:r>
            <a:endParaRPr lang="en-US" sz="800" dirty="0"/>
          </a:p>
          <a:p>
            <a:pPr marL="342900" indent="-342900" algn="l">
              <a:lnSpc>
                <a:spcPct val="123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Cash accounts for the majority of transactions, but card and digital payments represent significant untapped potential</a:t>
            </a:r>
            <a:endParaRPr lang="en-US" sz="800" dirty="0"/>
          </a:p>
        </p:txBody>
      </p:sp>
      <p:sp>
        <p:nvSpPr>
          <p:cNvPr id="9" name="Text 6"/>
          <p:cNvSpPr/>
          <p:nvPr/>
        </p:nvSpPr>
        <p:spPr>
          <a:xfrm>
            <a:off x="4704383" y="2563118"/>
            <a:ext cx="2000548" cy="163488"/>
          </a:xfrm>
          <a:prstGeom prst="rect">
            <a:avLst/>
          </a:prstGeom>
          <a:noFill/>
          <a:ln/>
        </p:spPr>
        <p:txBody>
          <a:bodyPr wrap="none" lIns="0" tIns="0" rIns="0" bIns="0" rtlCol="0" anchor="t"/>
          <a:lstStyle/>
          <a:p>
            <a:pPr marL="0" indent="0" algn="l">
              <a:lnSpc>
                <a:spcPct val="104000"/>
              </a:lnSpc>
              <a:buNone/>
            </a:pPr>
            <a:r>
              <a:rPr lang="en-US" sz="1000" dirty="0">
                <a:solidFill>
                  <a:srgbClr val="FEFEFE"/>
                </a:solidFill>
                <a:latin typeface="Arial" panose="020B0604020202020204" pitchFamily="34" charset="0"/>
                <a:ea typeface="Instrument Sans Medium" pitchFamily="34" charset="-122"/>
                <a:cs typeface="Arial" panose="020B0604020202020204" pitchFamily="34" charset="0"/>
              </a:rPr>
              <a:t>Top Salesperson — ID 105</a:t>
            </a:r>
            <a:endParaRPr lang="en-US" sz="1000" dirty="0"/>
          </a:p>
        </p:txBody>
      </p:sp>
      <p:sp>
        <p:nvSpPr>
          <p:cNvPr id="10" name="Text 7"/>
          <p:cNvSpPr/>
          <p:nvPr/>
        </p:nvSpPr>
        <p:spPr>
          <a:xfrm>
            <a:off x="4704383" y="2814861"/>
            <a:ext cx="3948261" cy="710282"/>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Revenue: </a:t>
            </a:r>
            <a:r>
              <a:rPr lang="en-US" sz="800" b="1" dirty="0">
                <a:solidFill>
                  <a:srgbClr val="BFBFBF"/>
                </a:solidFill>
                <a:latin typeface="Arial" panose="020B0604020202020204" pitchFamily="34" charset="0"/>
                <a:ea typeface="Open Sans" pitchFamily="34" charset="-122"/>
                <a:cs typeface="Arial" panose="020B0604020202020204" pitchFamily="34" charset="0"/>
              </a:rPr>
              <a:t>SAR 23.8M</a:t>
            </a:r>
            <a:endParaRPr lang="en-US" sz="800" dirty="0"/>
          </a:p>
          <a:p>
            <a:pPr marL="342900" indent="-342900" algn="l">
              <a:lnSpc>
                <a:spcPct val="123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Weight Sold: </a:t>
            </a:r>
            <a:r>
              <a:rPr lang="en-US" sz="800" b="1" dirty="0">
                <a:solidFill>
                  <a:srgbClr val="BFBFBF"/>
                </a:solidFill>
                <a:latin typeface="Arial" panose="020B0604020202020204" pitchFamily="34" charset="0"/>
                <a:ea typeface="Open Sans" pitchFamily="34" charset="-122"/>
                <a:cs typeface="Arial" panose="020B0604020202020204" pitchFamily="34" charset="0"/>
              </a:rPr>
              <a:t>271,331 g</a:t>
            </a:r>
            <a:endParaRPr lang="en-US" sz="800" dirty="0"/>
          </a:p>
          <a:p>
            <a:pPr marL="342900" indent="-342900" algn="l">
              <a:lnSpc>
                <a:spcPct val="123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Transactions: </a:t>
            </a:r>
            <a:r>
              <a:rPr lang="en-US" sz="800" b="1" dirty="0">
                <a:solidFill>
                  <a:srgbClr val="BFBFBF"/>
                </a:solidFill>
                <a:latin typeface="Arial" panose="020B0604020202020204" pitchFamily="34" charset="0"/>
                <a:ea typeface="Open Sans" pitchFamily="34" charset="-122"/>
                <a:cs typeface="Arial" panose="020B0604020202020204" pitchFamily="34" charset="0"/>
              </a:rPr>
              <a:t>4,483</a:t>
            </a:r>
            <a:endParaRPr lang="en-US" sz="800" dirty="0"/>
          </a:p>
          <a:p>
            <a:pPr marL="342900" indent="-342900" algn="l">
              <a:lnSpc>
                <a:spcPct val="123000"/>
              </a:lnSpc>
              <a:buSzPct val="100000"/>
              <a:buChar char="•"/>
            </a:pPr>
            <a:r>
              <a:rPr lang="en-US" sz="800" dirty="0">
                <a:solidFill>
                  <a:srgbClr val="BFBFBF"/>
                </a:solidFill>
                <a:latin typeface="Arial" panose="020B0604020202020204" pitchFamily="34" charset="0"/>
                <a:ea typeface="Open Sans" pitchFamily="34" charset="-122"/>
                <a:cs typeface="Arial" panose="020B0604020202020204" pitchFamily="34" charset="0"/>
              </a:rPr>
              <a:t>Average Transaction Value: </a:t>
            </a:r>
            <a:r>
              <a:rPr lang="en-US" sz="800" b="1" dirty="0">
                <a:solidFill>
                  <a:srgbClr val="BFBFBF"/>
                </a:solidFill>
                <a:latin typeface="Arial" panose="020B0604020202020204" pitchFamily="34" charset="0"/>
                <a:ea typeface="Open Sans" pitchFamily="34" charset="-122"/>
                <a:cs typeface="Arial" panose="020B0604020202020204" pitchFamily="34" charset="0"/>
              </a:rPr>
              <a:t>SAR 5,350.59</a:t>
            </a:r>
            <a:endParaRPr lang="en-US" sz="800" dirty="0"/>
          </a:p>
        </p:txBody>
      </p:sp>
      <p:sp>
        <p:nvSpPr>
          <p:cNvPr id="11" name="Text 8"/>
          <p:cNvSpPr/>
          <p:nvPr/>
        </p:nvSpPr>
        <p:spPr>
          <a:xfrm>
            <a:off x="4704383" y="3604617"/>
            <a:ext cx="3948261" cy="30881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Average transactions per salesperson stand at </a:t>
            </a:r>
            <a:r>
              <a:rPr lang="en-US" sz="800" b="1" dirty="0">
                <a:solidFill>
                  <a:srgbClr val="BFBFBF"/>
                </a:solidFill>
                <a:latin typeface="Arial" panose="020B0604020202020204" pitchFamily="34" charset="0"/>
                <a:ea typeface="Open Sans" pitchFamily="34" charset="-122"/>
                <a:cs typeface="Arial" panose="020B0604020202020204" pitchFamily="34" charset="0"/>
              </a:rPr>
              <a:t>390.83</a:t>
            </a:r>
            <a:r>
              <a:rPr lang="en-US" sz="800" dirty="0">
                <a:solidFill>
                  <a:srgbClr val="BFBFBF"/>
                </a:solidFill>
                <a:latin typeface="Arial" panose="020B0604020202020204" pitchFamily="34" charset="0"/>
                <a:ea typeface="Open Sans" pitchFamily="34" charset="-122"/>
                <a:cs typeface="Arial" panose="020B0604020202020204" pitchFamily="34" charset="0"/>
              </a:rPr>
              <a:t>, with top performers significantly exceeding this benchmark.</a:t>
            </a:r>
            <a:endParaRPr lang="en-US" sz="800" dirty="0"/>
          </a:p>
        </p:txBody>
      </p:sp>
      <p:sp>
        <p:nvSpPr>
          <p:cNvPr id="12" name="Shape 9"/>
          <p:cNvSpPr/>
          <p:nvPr/>
        </p:nvSpPr>
        <p:spPr>
          <a:xfrm>
            <a:off x="4704383" y="4012778"/>
            <a:ext cx="3948261" cy="674415"/>
          </a:xfrm>
          <a:prstGeom prst="roundRect">
            <a:avLst>
              <a:gd name="adj" fmla="val 2328"/>
            </a:avLst>
          </a:prstGeom>
          <a:solidFill>
            <a:srgbClr val="022349"/>
          </a:solidFill>
          <a:ln/>
        </p:spPr>
      </p:sp>
      <p:pic>
        <p:nvPicPr>
          <p:cNvPr id="13" name="Image 1" descr="preencoded.png"/>
          <p:cNvPicPr>
            <a:picLocks noChangeAspect="1"/>
          </p:cNvPicPr>
          <p:nvPr/>
        </p:nvPicPr>
        <p:blipFill>
          <a:blip r:embed="rId4"/>
          <a:stretch>
            <a:fillRect/>
          </a:stretch>
        </p:blipFill>
        <p:spPr>
          <a:xfrm>
            <a:off x="4809009" y="4166220"/>
            <a:ext cx="130820" cy="104626"/>
          </a:xfrm>
          <a:prstGeom prst="rect">
            <a:avLst/>
          </a:prstGeom>
        </p:spPr>
      </p:pic>
      <p:sp>
        <p:nvSpPr>
          <p:cNvPr id="14" name="Text 10"/>
          <p:cNvSpPr/>
          <p:nvPr/>
        </p:nvSpPr>
        <p:spPr>
          <a:xfrm>
            <a:off x="5044455" y="4118372"/>
            <a:ext cx="3503563" cy="46322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FFFFFF"/>
                </a:solidFill>
                <a:latin typeface="Arial" panose="020B0604020202020204" pitchFamily="34" charset="0"/>
                <a:ea typeface="Open Sans" pitchFamily="34" charset="-122"/>
                <a:cs typeface="Arial" panose="020B0604020202020204" pitchFamily="34" charset="0"/>
              </a:rPr>
              <a:t>Recommendation:</a:t>
            </a:r>
            <a:r>
              <a:rPr lang="en-US" sz="800" dirty="0">
                <a:solidFill>
                  <a:srgbClr val="FFFFFF"/>
                </a:solidFill>
                <a:latin typeface="Arial" panose="020B0604020202020204" pitchFamily="34" charset="0"/>
                <a:ea typeface="Open Sans" pitchFamily="34" charset="-122"/>
                <a:cs typeface="Arial" panose="020B0604020202020204" pitchFamily="34" charset="0"/>
              </a:rPr>
              <a:t> Encourage digital payment adoption through customer incentives. Implement KPI-based incentive plans tied to revenue, transaction volume, and average transaction value.</a:t>
            </a:r>
            <a:endParaRPr lang="en-US" sz="800" dirty="0"/>
          </a:p>
        </p:txBody>
      </p:sp>
    </p:spTree>
    <p:extLst>
      <p:ext uri="{BB962C8B-B14F-4D97-AF65-F5344CB8AC3E}">
        <p14:creationId xmlns:p14="http://schemas.microsoft.com/office/powerpoint/2010/main" val="1999486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96119" y="664443"/>
            <a:ext cx="3635573" cy="387548"/>
          </a:xfrm>
          <a:prstGeom prst="rect">
            <a:avLst/>
          </a:prstGeom>
          <a:noFill/>
          <a:ln/>
        </p:spPr>
        <p:txBody>
          <a:bodyPr wrap="none" lIns="0" tIns="0" rIns="0" bIns="0" rtlCol="0" anchor="t"/>
          <a:lstStyle/>
          <a:p>
            <a:pPr marL="0" indent="0" algn="l">
              <a:lnSpc>
                <a:spcPct val="104000"/>
              </a:lnSpc>
              <a:buNone/>
            </a:pPr>
            <a:r>
              <a:rPr lang="en-US" sz="2400"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Key Business Findings</a:t>
            </a:r>
            <a:endParaRPr lang="en-US" sz="2400" b="1" dirty="0">
              <a:solidFill>
                <a:schemeClr val="accent4">
                  <a:lumMod val="60000"/>
                  <a:lumOff val="40000"/>
                </a:schemeClr>
              </a:solidFill>
            </a:endParaRPr>
          </a:p>
        </p:txBody>
      </p:sp>
      <p:sp>
        <p:nvSpPr>
          <p:cNvPr id="5" name="Text 3"/>
          <p:cNvSpPr/>
          <p:nvPr/>
        </p:nvSpPr>
        <p:spPr>
          <a:xfrm>
            <a:off x="496119" y="123802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BFBFBF"/>
                </a:solidFill>
                <a:latin typeface="Arial" panose="020B0604020202020204" pitchFamily="34" charset="0"/>
                <a:ea typeface="Open Sans" pitchFamily="34" charset="-122"/>
                <a:cs typeface="Arial" panose="020B0604020202020204" pitchFamily="34" charset="0"/>
              </a:rPr>
              <a:t>A consolidated view of the most critical findings across all business dimensions — revenue, customers, products, branches, returns, buy-back, and payments — with clear strategic implications for the next planning cycle.</a:t>
            </a:r>
            <a:endParaRPr lang="en-US" sz="950" dirty="0"/>
          </a:p>
        </p:txBody>
      </p:sp>
      <p:sp>
        <p:nvSpPr>
          <p:cNvPr id="6" name="Shape 4"/>
          <p:cNvSpPr/>
          <p:nvPr/>
        </p:nvSpPr>
        <p:spPr>
          <a:xfrm>
            <a:off x="496119" y="1774478"/>
            <a:ext cx="4013895" cy="913135"/>
          </a:xfrm>
          <a:prstGeom prst="roundRect">
            <a:avLst>
              <a:gd name="adj" fmla="val 2038"/>
            </a:avLst>
          </a:prstGeom>
          <a:solidFill>
            <a:srgbClr val="3E3E3E"/>
          </a:solidFill>
          <a:ln/>
        </p:spPr>
      </p:sp>
      <p:sp>
        <p:nvSpPr>
          <p:cNvPr id="7" name="Text 5"/>
          <p:cNvSpPr/>
          <p:nvPr/>
        </p:nvSpPr>
        <p:spPr>
          <a:xfrm>
            <a:off x="620092" y="189845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Instrument Sans Medium" pitchFamily="34" charset="-122"/>
                <a:cs typeface="Arial" panose="020B0604020202020204" pitchFamily="34" charset="0"/>
              </a:rPr>
              <a:t>Revenue</a:t>
            </a:r>
            <a:endParaRPr lang="en-US" sz="1200" dirty="0"/>
          </a:p>
        </p:txBody>
      </p:sp>
      <p:sp>
        <p:nvSpPr>
          <p:cNvPr id="8" name="Text 6"/>
          <p:cNvSpPr/>
          <p:nvPr/>
        </p:nvSpPr>
        <p:spPr>
          <a:xfrm>
            <a:off x="620092" y="2166714"/>
            <a:ext cx="376594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BFBFBF"/>
                </a:solidFill>
                <a:latin typeface="Arial" panose="020B0604020202020204" pitchFamily="34" charset="0"/>
                <a:ea typeface="Open Sans" pitchFamily="34" charset="-122"/>
                <a:cs typeface="Arial" panose="020B0604020202020204" pitchFamily="34" charset="0"/>
              </a:rPr>
              <a:t>Total revenue of </a:t>
            </a:r>
            <a:r>
              <a:rPr lang="en-US" sz="950" b="1" dirty="0">
                <a:solidFill>
                  <a:srgbClr val="BFBFBF"/>
                </a:solidFill>
                <a:latin typeface="Arial" panose="020B0604020202020204" pitchFamily="34" charset="0"/>
                <a:ea typeface="Open Sans" pitchFamily="34" charset="-122"/>
                <a:cs typeface="Arial" panose="020B0604020202020204" pitchFamily="34" charset="0"/>
              </a:rPr>
              <a:t>SAR 348.3M</a:t>
            </a:r>
            <a:r>
              <a:rPr lang="en-US" sz="950" dirty="0">
                <a:solidFill>
                  <a:srgbClr val="BFBFBF"/>
                </a:solidFill>
                <a:latin typeface="Arial" panose="020B0604020202020204" pitchFamily="34" charset="0"/>
                <a:ea typeface="Open Sans" pitchFamily="34" charset="-122"/>
                <a:cs typeface="Arial" panose="020B0604020202020204" pitchFamily="34" charset="0"/>
              </a:rPr>
              <a:t>, with 4.19% year-on-year growth. Gold division contributed approximately </a:t>
            </a:r>
            <a:r>
              <a:rPr lang="en-US" sz="950" b="1" dirty="0">
                <a:solidFill>
                  <a:srgbClr val="BFBFBF"/>
                </a:solidFill>
                <a:latin typeface="Arial" panose="020B0604020202020204" pitchFamily="34" charset="0"/>
                <a:ea typeface="Open Sans" pitchFamily="34" charset="-122"/>
                <a:cs typeface="Arial" panose="020B0604020202020204" pitchFamily="34" charset="0"/>
              </a:rPr>
              <a:t>SAR 321.95M</a:t>
            </a:r>
            <a:r>
              <a:rPr lang="en-US" sz="950" dirty="0">
                <a:solidFill>
                  <a:srgbClr val="BFBFBF"/>
                </a:solidFill>
                <a:latin typeface="Arial" panose="020B0604020202020204" pitchFamily="34" charset="0"/>
                <a:ea typeface="Open Sans" pitchFamily="34" charset="-122"/>
                <a:cs typeface="Arial" panose="020B0604020202020204" pitchFamily="34" charset="0"/>
              </a:rPr>
              <a:t>.</a:t>
            </a:r>
            <a:endParaRPr lang="en-US" sz="950" dirty="0"/>
          </a:p>
        </p:txBody>
      </p:sp>
      <p:sp>
        <p:nvSpPr>
          <p:cNvPr id="9" name="Shape 7"/>
          <p:cNvSpPr/>
          <p:nvPr/>
        </p:nvSpPr>
        <p:spPr>
          <a:xfrm>
            <a:off x="4633987" y="1774478"/>
            <a:ext cx="4013895" cy="913135"/>
          </a:xfrm>
          <a:prstGeom prst="roundRect">
            <a:avLst>
              <a:gd name="adj" fmla="val 2038"/>
            </a:avLst>
          </a:prstGeom>
          <a:solidFill>
            <a:srgbClr val="3E3E3E"/>
          </a:solidFill>
          <a:ln/>
        </p:spPr>
      </p:sp>
      <p:sp>
        <p:nvSpPr>
          <p:cNvPr id="10" name="Text 8"/>
          <p:cNvSpPr/>
          <p:nvPr/>
        </p:nvSpPr>
        <p:spPr>
          <a:xfrm>
            <a:off x="4757961" y="189845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Instrument Sans Medium" pitchFamily="34" charset="-122"/>
                <a:cs typeface="Arial" panose="020B0604020202020204" pitchFamily="34" charset="0"/>
              </a:rPr>
              <a:t>Customers</a:t>
            </a:r>
            <a:endParaRPr lang="en-US" sz="1200" dirty="0"/>
          </a:p>
        </p:txBody>
      </p:sp>
      <p:sp>
        <p:nvSpPr>
          <p:cNvPr id="11" name="Text 9"/>
          <p:cNvSpPr/>
          <p:nvPr/>
        </p:nvSpPr>
        <p:spPr>
          <a:xfrm>
            <a:off x="4757961" y="2166714"/>
            <a:ext cx="3765947"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BFBFBF"/>
                </a:solidFill>
                <a:latin typeface="Arial" panose="020B0604020202020204" pitchFamily="34" charset="0"/>
                <a:ea typeface="Open Sans" pitchFamily="34" charset="-122"/>
                <a:cs typeface="Arial" panose="020B0604020202020204" pitchFamily="34" charset="0"/>
              </a:rPr>
              <a:t>45.62K</a:t>
            </a:r>
            <a:r>
              <a:rPr lang="en-US" sz="950" dirty="0">
                <a:solidFill>
                  <a:srgbClr val="BFBFBF"/>
                </a:solidFill>
                <a:latin typeface="Arial" panose="020B0604020202020204" pitchFamily="34" charset="0"/>
                <a:ea typeface="Open Sans" pitchFamily="34" charset="-122"/>
                <a:cs typeface="Arial" panose="020B0604020202020204" pitchFamily="34" charset="0"/>
              </a:rPr>
              <a:t> total customers with only a </a:t>
            </a:r>
            <a:r>
              <a:rPr lang="en-US" sz="950" b="1" dirty="0">
                <a:solidFill>
                  <a:srgbClr val="BFBFBF"/>
                </a:solidFill>
                <a:latin typeface="Arial" panose="020B0604020202020204" pitchFamily="34" charset="0"/>
                <a:ea typeface="Open Sans" pitchFamily="34" charset="-122"/>
                <a:cs typeface="Arial" panose="020B0604020202020204" pitchFamily="34" charset="0"/>
              </a:rPr>
              <a:t>9.25%</a:t>
            </a:r>
            <a:r>
              <a:rPr lang="en-US" sz="950" dirty="0">
                <a:solidFill>
                  <a:srgbClr val="BFBFBF"/>
                </a:solidFill>
                <a:latin typeface="Arial" panose="020B0604020202020204" pitchFamily="34" charset="0"/>
                <a:ea typeface="Open Sans" pitchFamily="34" charset="-122"/>
                <a:cs typeface="Arial" panose="020B0604020202020204" pitchFamily="34" charset="0"/>
              </a:rPr>
              <a:t> repeat purchase rate — significant retention opportunity remains untapped.</a:t>
            </a:r>
            <a:endParaRPr lang="en-US" sz="950" dirty="0"/>
          </a:p>
        </p:txBody>
      </p:sp>
      <p:sp>
        <p:nvSpPr>
          <p:cNvPr id="12" name="Shape 10"/>
          <p:cNvSpPr/>
          <p:nvPr/>
        </p:nvSpPr>
        <p:spPr>
          <a:xfrm>
            <a:off x="496119" y="2811587"/>
            <a:ext cx="4013895" cy="913135"/>
          </a:xfrm>
          <a:prstGeom prst="roundRect">
            <a:avLst>
              <a:gd name="adj" fmla="val 2038"/>
            </a:avLst>
          </a:prstGeom>
          <a:solidFill>
            <a:srgbClr val="3E3E3E"/>
          </a:solidFill>
          <a:ln/>
        </p:spPr>
      </p:sp>
      <p:sp>
        <p:nvSpPr>
          <p:cNvPr id="13" name="Text 11"/>
          <p:cNvSpPr/>
          <p:nvPr/>
        </p:nvSpPr>
        <p:spPr>
          <a:xfrm>
            <a:off x="620092" y="2935560"/>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Instrument Sans Medium" pitchFamily="34" charset="-122"/>
                <a:cs typeface="Arial" panose="020B0604020202020204" pitchFamily="34" charset="0"/>
              </a:rPr>
              <a:t>Products</a:t>
            </a:r>
            <a:endParaRPr lang="en-US" sz="1200" dirty="0"/>
          </a:p>
        </p:txBody>
      </p:sp>
      <p:sp>
        <p:nvSpPr>
          <p:cNvPr id="14" name="Text 12"/>
          <p:cNvSpPr/>
          <p:nvPr/>
        </p:nvSpPr>
        <p:spPr>
          <a:xfrm>
            <a:off x="620092" y="3203823"/>
            <a:ext cx="376594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BFBFBF"/>
                </a:solidFill>
                <a:latin typeface="Arial" panose="020B0604020202020204" pitchFamily="34" charset="0"/>
                <a:ea typeface="Open Sans" pitchFamily="34" charset="-122"/>
                <a:cs typeface="Arial" panose="020B0604020202020204" pitchFamily="34" charset="0"/>
              </a:rPr>
              <a:t>Gold Bars generate the highest revenue. The 22K product category dominates sales, contributing </a:t>
            </a:r>
            <a:r>
              <a:rPr lang="en-US" sz="950" b="1" dirty="0">
                <a:solidFill>
                  <a:srgbClr val="BFBFBF"/>
                </a:solidFill>
                <a:latin typeface="Arial" panose="020B0604020202020204" pitchFamily="34" charset="0"/>
                <a:ea typeface="Open Sans" pitchFamily="34" charset="-122"/>
                <a:cs typeface="Arial" panose="020B0604020202020204" pitchFamily="34" charset="0"/>
              </a:rPr>
              <a:t>SAR 206.41M</a:t>
            </a:r>
            <a:r>
              <a:rPr lang="en-US" sz="950" dirty="0">
                <a:solidFill>
                  <a:srgbClr val="BFBFBF"/>
                </a:solidFill>
                <a:latin typeface="Arial" panose="020B0604020202020204" pitchFamily="34" charset="0"/>
                <a:ea typeface="Open Sans" pitchFamily="34" charset="-122"/>
                <a:cs typeface="Arial" panose="020B0604020202020204" pitchFamily="34" charset="0"/>
              </a:rPr>
              <a:t>.</a:t>
            </a:r>
            <a:endParaRPr lang="en-US" sz="950" dirty="0"/>
          </a:p>
        </p:txBody>
      </p:sp>
      <p:sp>
        <p:nvSpPr>
          <p:cNvPr id="15" name="Shape 13"/>
          <p:cNvSpPr/>
          <p:nvPr/>
        </p:nvSpPr>
        <p:spPr>
          <a:xfrm>
            <a:off x="4633987" y="2811587"/>
            <a:ext cx="4013895" cy="913135"/>
          </a:xfrm>
          <a:prstGeom prst="roundRect">
            <a:avLst>
              <a:gd name="adj" fmla="val 2038"/>
            </a:avLst>
          </a:prstGeom>
          <a:solidFill>
            <a:srgbClr val="3E3E3E"/>
          </a:solidFill>
          <a:ln/>
        </p:spPr>
      </p:sp>
      <p:sp>
        <p:nvSpPr>
          <p:cNvPr id="16" name="Text 14"/>
          <p:cNvSpPr/>
          <p:nvPr/>
        </p:nvSpPr>
        <p:spPr>
          <a:xfrm>
            <a:off x="4757961" y="2935560"/>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Instrument Sans Medium" pitchFamily="34" charset="-122"/>
                <a:cs typeface="Arial" panose="020B0604020202020204" pitchFamily="34" charset="0"/>
              </a:rPr>
              <a:t>Branches</a:t>
            </a:r>
            <a:endParaRPr lang="en-US" sz="1200" dirty="0"/>
          </a:p>
        </p:txBody>
      </p:sp>
      <p:sp>
        <p:nvSpPr>
          <p:cNvPr id="17" name="Text 15"/>
          <p:cNvSpPr/>
          <p:nvPr/>
        </p:nvSpPr>
        <p:spPr>
          <a:xfrm>
            <a:off x="4757961" y="3203823"/>
            <a:ext cx="376594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BFBFBF"/>
                </a:solidFill>
                <a:latin typeface="Arial" panose="020B0604020202020204" pitchFamily="34" charset="0"/>
                <a:ea typeface="Open Sans" pitchFamily="34" charset="-122"/>
                <a:cs typeface="Arial" panose="020B0604020202020204" pitchFamily="34" charset="0"/>
              </a:rPr>
              <a:t>Branch 16 leads revenue generation at approximately </a:t>
            </a:r>
            <a:r>
              <a:rPr lang="en-US" sz="950" b="1" dirty="0">
                <a:solidFill>
                  <a:srgbClr val="BFBFBF"/>
                </a:solidFill>
                <a:latin typeface="Arial" panose="020B0604020202020204" pitchFamily="34" charset="0"/>
                <a:ea typeface="Open Sans" pitchFamily="34" charset="-122"/>
                <a:cs typeface="Arial" panose="020B0604020202020204" pitchFamily="34" charset="0"/>
              </a:rPr>
              <a:t>SAR 37M</a:t>
            </a:r>
            <a:r>
              <a:rPr lang="en-US" sz="950" dirty="0">
                <a:solidFill>
                  <a:srgbClr val="BFBFBF"/>
                </a:solidFill>
                <a:latin typeface="Arial" panose="020B0604020202020204" pitchFamily="34" charset="0"/>
                <a:ea typeface="Open Sans" pitchFamily="34" charset="-122"/>
                <a:cs typeface="Arial" panose="020B0604020202020204" pitchFamily="34" charset="0"/>
              </a:rPr>
              <a:t>. Benchmark operations for network-wide replication.</a:t>
            </a:r>
            <a:endParaRPr lang="en-US" sz="950" dirty="0"/>
          </a:p>
        </p:txBody>
      </p:sp>
      <p:sp>
        <p:nvSpPr>
          <p:cNvPr id="18" name="Shape 16"/>
          <p:cNvSpPr/>
          <p:nvPr/>
        </p:nvSpPr>
        <p:spPr>
          <a:xfrm>
            <a:off x="496119" y="3848695"/>
            <a:ext cx="4013895" cy="913135"/>
          </a:xfrm>
          <a:prstGeom prst="roundRect">
            <a:avLst>
              <a:gd name="adj" fmla="val 2038"/>
            </a:avLst>
          </a:prstGeom>
          <a:solidFill>
            <a:srgbClr val="3E3E3E"/>
          </a:solidFill>
          <a:ln/>
        </p:spPr>
      </p:sp>
      <p:sp>
        <p:nvSpPr>
          <p:cNvPr id="19" name="Text 17"/>
          <p:cNvSpPr/>
          <p:nvPr/>
        </p:nvSpPr>
        <p:spPr>
          <a:xfrm>
            <a:off x="620092" y="397266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Instrument Sans Medium" pitchFamily="34" charset="-122"/>
                <a:cs typeface="Arial" panose="020B0604020202020204" pitchFamily="34" charset="0"/>
              </a:rPr>
              <a:t>Returns</a:t>
            </a:r>
            <a:endParaRPr lang="en-US" sz="1200" dirty="0"/>
          </a:p>
        </p:txBody>
      </p:sp>
      <p:sp>
        <p:nvSpPr>
          <p:cNvPr id="20" name="Text 18"/>
          <p:cNvSpPr/>
          <p:nvPr/>
        </p:nvSpPr>
        <p:spPr>
          <a:xfrm>
            <a:off x="620092" y="4240932"/>
            <a:ext cx="376594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BFBFBF"/>
                </a:solidFill>
                <a:latin typeface="Arial" panose="020B0604020202020204" pitchFamily="34" charset="0"/>
                <a:ea typeface="Open Sans" pitchFamily="34" charset="-122"/>
                <a:cs typeface="Arial" panose="020B0604020202020204" pitchFamily="34" charset="0"/>
              </a:rPr>
              <a:t>Return rate of only </a:t>
            </a:r>
            <a:r>
              <a:rPr lang="en-US" sz="950" b="1" dirty="0">
                <a:solidFill>
                  <a:srgbClr val="BFBFBF"/>
                </a:solidFill>
                <a:latin typeface="Arial" panose="020B0604020202020204" pitchFamily="34" charset="0"/>
                <a:ea typeface="Open Sans" pitchFamily="34" charset="-122"/>
                <a:cs typeface="Arial" panose="020B0604020202020204" pitchFamily="34" charset="0"/>
              </a:rPr>
              <a:t>1.73%</a:t>
            </a:r>
            <a:r>
              <a:rPr lang="en-US" sz="950" dirty="0">
                <a:solidFill>
                  <a:srgbClr val="BFBFBF"/>
                </a:solidFill>
                <a:latin typeface="Arial" panose="020B0604020202020204" pitchFamily="34" charset="0"/>
                <a:ea typeface="Open Sans" pitchFamily="34" charset="-122"/>
                <a:cs typeface="Arial" panose="020B0604020202020204" pitchFamily="34" charset="0"/>
              </a:rPr>
              <a:t> by count reflects strong product quality and high customer satisfaction across branches.</a:t>
            </a:r>
            <a:endParaRPr lang="en-US" sz="950" dirty="0"/>
          </a:p>
        </p:txBody>
      </p:sp>
      <p:sp>
        <p:nvSpPr>
          <p:cNvPr id="21" name="Shape 19"/>
          <p:cNvSpPr/>
          <p:nvPr/>
        </p:nvSpPr>
        <p:spPr>
          <a:xfrm>
            <a:off x="4633987" y="3848695"/>
            <a:ext cx="4013895" cy="913135"/>
          </a:xfrm>
          <a:prstGeom prst="roundRect">
            <a:avLst>
              <a:gd name="adj" fmla="val 2038"/>
            </a:avLst>
          </a:prstGeom>
          <a:solidFill>
            <a:srgbClr val="3E3E3E"/>
          </a:solidFill>
          <a:ln/>
        </p:spPr>
      </p:sp>
      <p:sp>
        <p:nvSpPr>
          <p:cNvPr id="22" name="Text 20"/>
          <p:cNvSpPr/>
          <p:nvPr/>
        </p:nvSpPr>
        <p:spPr>
          <a:xfrm>
            <a:off x="4757961" y="3972669"/>
            <a:ext cx="1582787"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Instrument Sans Medium" pitchFamily="34" charset="-122"/>
                <a:cs typeface="Arial" panose="020B0604020202020204" pitchFamily="34" charset="0"/>
              </a:rPr>
              <a:t>Buy-Back &amp; Payments</a:t>
            </a:r>
            <a:endParaRPr lang="en-US" sz="1200" dirty="0"/>
          </a:p>
        </p:txBody>
      </p:sp>
      <p:sp>
        <p:nvSpPr>
          <p:cNvPr id="23" name="Text 21"/>
          <p:cNvSpPr/>
          <p:nvPr/>
        </p:nvSpPr>
        <p:spPr>
          <a:xfrm>
            <a:off x="4757961" y="4240932"/>
            <a:ext cx="376594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BFBFBF"/>
                </a:solidFill>
                <a:latin typeface="Arial" panose="020B0604020202020204" pitchFamily="34" charset="0"/>
                <a:ea typeface="Open Sans" pitchFamily="34" charset="-122"/>
                <a:cs typeface="Arial" panose="020B0604020202020204" pitchFamily="34" charset="0"/>
              </a:rPr>
              <a:t>Old gold contributes </a:t>
            </a:r>
            <a:r>
              <a:rPr lang="en-US" sz="950" b="1" dirty="0">
                <a:solidFill>
                  <a:srgbClr val="BFBFBF"/>
                </a:solidFill>
                <a:latin typeface="Arial" panose="020B0604020202020204" pitchFamily="34" charset="0"/>
                <a:ea typeface="Open Sans" pitchFamily="34" charset="-122"/>
                <a:cs typeface="Arial" panose="020B0604020202020204" pitchFamily="34" charset="0"/>
              </a:rPr>
              <a:t>SAR 37.8M</a:t>
            </a:r>
            <a:r>
              <a:rPr lang="en-US" sz="950" dirty="0">
                <a:solidFill>
                  <a:srgbClr val="BFBFBF"/>
                </a:solidFill>
                <a:latin typeface="Arial" panose="020B0604020202020204" pitchFamily="34" charset="0"/>
                <a:ea typeface="Open Sans" pitchFamily="34" charset="-122"/>
                <a:cs typeface="Arial" panose="020B0604020202020204" pitchFamily="34" charset="0"/>
              </a:rPr>
              <a:t>. Cash remains the dominant payment mode; digital adoption is a strategic priority.</a:t>
            </a:r>
            <a:endParaRPr lang="en-US" sz="950" dirty="0"/>
          </a:p>
        </p:txBody>
      </p:sp>
    </p:spTree>
    <p:extLst>
      <p:ext uri="{BB962C8B-B14F-4D97-AF65-F5344CB8AC3E}">
        <p14:creationId xmlns:p14="http://schemas.microsoft.com/office/powerpoint/2010/main" val="2270684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4178" y="-15524"/>
            <a:ext cx="4086225" cy="310753"/>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Business Recommendations</a:t>
            </a:r>
            <a:endParaRPr lang="en-US" sz="2400" dirty="0">
              <a:latin typeface="Arial" panose="020B0604020202020204" pitchFamily="34" charset="0"/>
            </a:endParaRPr>
          </a:p>
        </p:txBody>
      </p:sp>
      <p:sp>
        <p:nvSpPr>
          <p:cNvPr id="3" name="Text 1"/>
          <p:cNvSpPr/>
          <p:nvPr/>
        </p:nvSpPr>
        <p:spPr>
          <a:xfrm>
            <a:off x="441960" y="514015"/>
            <a:ext cx="8507968" cy="555623"/>
          </a:xfrm>
          <a:prstGeom prst="rect">
            <a:avLst/>
          </a:prstGeom>
          <a:noFill/>
          <a:ln/>
        </p:spPr>
        <p:txBody>
          <a:bodyPr wrap="none" lIns="0" tIns="0" rIns="0" bIns="0" rtlCol="0" anchor="t"/>
          <a:lstStyle/>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Based on the dashboard insights, the following strategic actions are recommended to drive growth, improve</a:t>
            </a:r>
          </a:p>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retention, and optimize  operations.</a:t>
            </a:r>
            <a:endParaRPr lang="en-US" sz="1200" dirty="0">
              <a:latin typeface="Arial" panose="020B0604020202020204" pitchFamily="34" charset="0"/>
            </a:endParaRPr>
          </a:p>
        </p:txBody>
      </p:sp>
      <p:sp>
        <p:nvSpPr>
          <p:cNvPr id="4" name="Shape 2"/>
          <p:cNvSpPr/>
          <p:nvPr/>
        </p:nvSpPr>
        <p:spPr>
          <a:xfrm>
            <a:off x="564178" y="1083097"/>
            <a:ext cx="2640315" cy="1346299"/>
          </a:xfrm>
          <a:prstGeom prst="roundRect">
            <a:avLst>
              <a:gd name="adj" fmla="val 12464"/>
            </a:avLst>
          </a:prstGeom>
          <a:solidFill>
            <a:srgbClr val="46464A"/>
          </a:solidFill>
          <a:ln/>
        </p:spPr>
      </p:sp>
      <p:sp>
        <p:nvSpPr>
          <p:cNvPr id="5" name="Shape 3"/>
          <p:cNvSpPr/>
          <p:nvPr/>
        </p:nvSpPr>
        <p:spPr>
          <a:xfrm>
            <a:off x="763116" y="1194941"/>
            <a:ext cx="335533" cy="335533"/>
          </a:xfrm>
          <a:prstGeom prst="roundRect">
            <a:avLst>
              <a:gd name="adj" fmla="val 17030899"/>
            </a:avLst>
          </a:prstGeom>
          <a:solidFill>
            <a:srgbClr val="FFE14D"/>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390" y="1287140"/>
            <a:ext cx="150986" cy="150986"/>
          </a:xfrm>
          <a:prstGeom prst="rect">
            <a:avLst/>
          </a:prstGeom>
        </p:spPr>
      </p:pic>
      <p:sp>
        <p:nvSpPr>
          <p:cNvPr id="7" name="Text 4"/>
          <p:cNvSpPr/>
          <p:nvPr/>
        </p:nvSpPr>
        <p:spPr>
          <a:xfrm>
            <a:off x="1306413" y="1224149"/>
            <a:ext cx="1242938" cy="155302"/>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Customer Loyalty</a:t>
            </a:r>
            <a:endParaRPr lang="en-US" sz="1200" dirty="0">
              <a:latin typeface="Arial" panose="020B0604020202020204" pitchFamily="34" charset="0"/>
            </a:endParaRPr>
          </a:p>
        </p:txBody>
      </p:sp>
      <p:sp>
        <p:nvSpPr>
          <p:cNvPr id="8" name="Text 5"/>
          <p:cNvSpPr/>
          <p:nvPr/>
        </p:nvSpPr>
        <p:spPr>
          <a:xfrm>
            <a:off x="651273" y="1549971"/>
            <a:ext cx="2441375" cy="767581"/>
          </a:xfrm>
          <a:prstGeom prst="rect">
            <a:avLst/>
          </a:prstGeom>
          <a:noFill/>
          <a:ln/>
        </p:spPr>
        <p:txBody>
          <a:bodyPr wrap="square" lIns="0" tIns="0" rIns="0" bIns="0" rtlCol="0" anchor="t">
            <a:noAutofit/>
          </a:bodyPr>
          <a:lstStyle/>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Introduce customer loyalty programmes to convert one-time buyers into repeat customers</a:t>
            </a:r>
            <a:endParaRPr lang="en-US" sz="1200" dirty="0">
              <a:latin typeface="Arial" panose="020B0604020202020204" pitchFamily="34" charset="0"/>
            </a:endParaRPr>
          </a:p>
        </p:txBody>
      </p:sp>
      <p:sp>
        <p:nvSpPr>
          <p:cNvPr id="9" name="Shape 6"/>
          <p:cNvSpPr/>
          <p:nvPr/>
        </p:nvSpPr>
        <p:spPr>
          <a:xfrm>
            <a:off x="3295352" y="1072604"/>
            <a:ext cx="2553221" cy="1346299"/>
          </a:xfrm>
          <a:prstGeom prst="roundRect">
            <a:avLst>
              <a:gd name="adj" fmla="val 12464"/>
            </a:avLst>
          </a:prstGeom>
          <a:solidFill>
            <a:srgbClr val="46464A"/>
          </a:solidFill>
          <a:ln/>
        </p:spPr>
      </p:sp>
      <p:sp>
        <p:nvSpPr>
          <p:cNvPr id="10" name="Shape 7"/>
          <p:cNvSpPr/>
          <p:nvPr/>
        </p:nvSpPr>
        <p:spPr>
          <a:xfrm>
            <a:off x="3407197" y="1126361"/>
            <a:ext cx="335533" cy="335533"/>
          </a:xfrm>
          <a:prstGeom prst="roundRect">
            <a:avLst>
              <a:gd name="adj" fmla="val 17030899"/>
            </a:avLst>
          </a:prstGeom>
          <a:solidFill>
            <a:srgbClr val="FFE14D"/>
          </a:solidFill>
          <a:ln/>
        </p:spPr>
        <p:txBody>
          <a:bodyPr/>
          <a:lstStyle/>
          <a:p>
            <a:endParaRPr lang="en-GB" sz="1600" dirty="0">
              <a:latin typeface="Arial" panose="020B0604020202020204" pitchFamily="34" charset="0"/>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9470" y="1218560"/>
            <a:ext cx="150986" cy="150986"/>
          </a:xfrm>
          <a:prstGeom prst="rect">
            <a:avLst/>
          </a:prstGeom>
        </p:spPr>
      </p:pic>
      <p:sp>
        <p:nvSpPr>
          <p:cNvPr id="12" name="Text 8"/>
          <p:cNvSpPr/>
          <p:nvPr/>
        </p:nvSpPr>
        <p:spPr>
          <a:xfrm>
            <a:off x="3859418" y="1131838"/>
            <a:ext cx="1250975" cy="155302"/>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Stock Optimisation</a:t>
            </a:r>
            <a:endParaRPr lang="en-US" sz="1200" dirty="0">
              <a:latin typeface="Arial" panose="020B0604020202020204" pitchFamily="34" charset="0"/>
            </a:endParaRPr>
          </a:p>
        </p:txBody>
      </p:sp>
      <p:sp>
        <p:nvSpPr>
          <p:cNvPr id="13" name="Text 9"/>
          <p:cNvSpPr/>
          <p:nvPr/>
        </p:nvSpPr>
        <p:spPr>
          <a:xfrm>
            <a:off x="3316336" y="1438126"/>
            <a:ext cx="2511251" cy="879427"/>
          </a:xfrm>
          <a:prstGeom prst="rect">
            <a:avLst/>
          </a:prstGeom>
          <a:noFill/>
          <a:ln/>
        </p:spPr>
        <p:txBody>
          <a:bodyPr wrap="square" lIns="0" tIns="0" rIns="0" bIns="0" rtlCol="0" anchor="t">
            <a:noAutofit/>
          </a:bodyPr>
          <a:lstStyle/>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Increase stock for high-performing products, particularly 22K jewellery and Gold Bars &amp; Chains</a:t>
            </a:r>
            <a:endParaRPr lang="en-US" sz="1200" dirty="0">
              <a:latin typeface="Arial" panose="020B0604020202020204" pitchFamily="34" charset="0"/>
            </a:endParaRPr>
          </a:p>
        </p:txBody>
      </p:sp>
      <p:sp>
        <p:nvSpPr>
          <p:cNvPr id="14" name="Shape 10"/>
          <p:cNvSpPr/>
          <p:nvPr/>
        </p:nvSpPr>
        <p:spPr>
          <a:xfrm>
            <a:off x="5939433" y="1083097"/>
            <a:ext cx="2553295" cy="1346299"/>
          </a:xfrm>
          <a:prstGeom prst="roundRect">
            <a:avLst>
              <a:gd name="adj" fmla="val 12464"/>
            </a:avLst>
          </a:prstGeom>
          <a:solidFill>
            <a:srgbClr val="46464A"/>
          </a:solidFill>
          <a:ln/>
        </p:spPr>
      </p:sp>
      <p:sp>
        <p:nvSpPr>
          <p:cNvPr id="15" name="Shape 11"/>
          <p:cNvSpPr/>
          <p:nvPr/>
        </p:nvSpPr>
        <p:spPr>
          <a:xfrm>
            <a:off x="6051277" y="1194941"/>
            <a:ext cx="335533" cy="335533"/>
          </a:xfrm>
          <a:prstGeom prst="roundRect">
            <a:avLst>
              <a:gd name="adj" fmla="val 17030899"/>
            </a:avLst>
          </a:prstGeom>
          <a:solidFill>
            <a:srgbClr val="FFE14D"/>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43551" y="1287140"/>
            <a:ext cx="150986" cy="150986"/>
          </a:xfrm>
          <a:prstGeom prst="rect">
            <a:avLst/>
          </a:prstGeom>
        </p:spPr>
      </p:pic>
      <p:sp>
        <p:nvSpPr>
          <p:cNvPr id="17" name="Text 12"/>
          <p:cNvSpPr/>
          <p:nvPr/>
        </p:nvSpPr>
        <p:spPr>
          <a:xfrm>
            <a:off x="6477670" y="1202908"/>
            <a:ext cx="1381869" cy="155302"/>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Buy-Back Campaigns</a:t>
            </a:r>
            <a:endParaRPr lang="en-US" sz="1200" dirty="0">
              <a:latin typeface="Arial" panose="020B0604020202020204" pitchFamily="34" charset="0"/>
            </a:endParaRPr>
          </a:p>
        </p:txBody>
      </p:sp>
      <p:sp>
        <p:nvSpPr>
          <p:cNvPr id="18" name="Text 13"/>
          <p:cNvSpPr/>
          <p:nvPr/>
        </p:nvSpPr>
        <p:spPr>
          <a:xfrm>
            <a:off x="6051277" y="1549971"/>
            <a:ext cx="2329607" cy="760254"/>
          </a:xfrm>
          <a:prstGeom prst="rect">
            <a:avLst/>
          </a:prstGeom>
          <a:noFill/>
          <a:ln/>
        </p:spPr>
        <p:txBody>
          <a:bodyPr wrap="square" lIns="0" tIns="0" rIns="0" bIns="0" rtlCol="0" anchor="t">
            <a:noAutofit/>
          </a:bodyPr>
          <a:lstStyle/>
          <a:p>
            <a:pPr marL="0" indent="0" algn="just">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Expand old gold buy-back campaigns to drive additional business volume</a:t>
            </a:r>
            <a:endParaRPr lang="en-US" sz="1200" dirty="0">
              <a:latin typeface="Arial" panose="020B0604020202020204" pitchFamily="34" charset="0"/>
            </a:endParaRPr>
          </a:p>
        </p:txBody>
      </p:sp>
      <p:sp>
        <p:nvSpPr>
          <p:cNvPr id="19" name="Shape 14"/>
          <p:cNvSpPr/>
          <p:nvPr/>
        </p:nvSpPr>
        <p:spPr>
          <a:xfrm>
            <a:off x="473317" y="2599916"/>
            <a:ext cx="2619331" cy="1576280"/>
          </a:xfrm>
          <a:prstGeom prst="roundRect">
            <a:avLst>
              <a:gd name="adj" fmla="val 14171"/>
            </a:avLst>
          </a:prstGeom>
          <a:solidFill>
            <a:srgbClr val="46464A"/>
          </a:solidFill>
          <a:ln/>
        </p:spPr>
      </p:sp>
      <p:sp>
        <p:nvSpPr>
          <p:cNvPr id="20" name="Shape 15"/>
          <p:cNvSpPr/>
          <p:nvPr/>
        </p:nvSpPr>
        <p:spPr>
          <a:xfrm>
            <a:off x="763116" y="2632100"/>
            <a:ext cx="335533" cy="335533"/>
          </a:xfrm>
          <a:prstGeom prst="roundRect">
            <a:avLst>
              <a:gd name="adj" fmla="val 17030899"/>
            </a:avLst>
          </a:prstGeom>
          <a:solidFill>
            <a:srgbClr val="FFE14D"/>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5390" y="2724299"/>
            <a:ext cx="150986" cy="150986"/>
          </a:xfrm>
          <a:prstGeom prst="rect">
            <a:avLst/>
          </a:prstGeom>
        </p:spPr>
      </p:pic>
      <p:sp>
        <p:nvSpPr>
          <p:cNvPr id="22" name="Text 16"/>
          <p:cNvSpPr/>
          <p:nvPr/>
        </p:nvSpPr>
        <p:spPr>
          <a:xfrm>
            <a:off x="1250491" y="2700050"/>
            <a:ext cx="1242938" cy="155302"/>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Digital Payments</a:t>
            </a:r>
            <a:endParaRPr lang="en-US" sz="1200" dirty="0">
              <a:latin typeface="Arial" panose="020B0604020202020204" pitchFamily="34" charset="0"/>
            </a:endParaRPr>
          </a:p>
        </p:txBody>
      </p:sp>
      <p:sp>
        <p:nvSpPr>
          <p:cNvPr id="23" name="Text 17"/>
          <p:cNvSpPr/>
          <p:nvPr/>
        </p:nvSpPr>
        <p:spPr>
          <a:xfrm>
            <a:off x="763116" y="3029833"/>
            <a:ext cx="2329532" cy="945053"/>
          </a:xfrm>
          <a:prstGeom prst="rect">
            <a:avLst/>
          </a:prstGeom>
          <a:noFill/>
          <a:ln/>
        </p:spPr>
        <p:txBody>
          <a:bodyPr wrap="square" lIns="0" tIns="0" rIns="0" bIns="0" rtlCol="0" anchor="t">
            <a:noAutofit/>
          </a:bodyPr>
          <a:lstStyle/>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Encourage digital payment adoption to reduce cash dependency across branches</a:t>
            </a:r>
            <a:endParaRPr lang="en-US" sz="1200" dirty="0">
              <a:latin typeface="Arial" panose="020B0604020202020204" pitchFamily="34" charset="0"/>
            </a:endParaRPr>
          </a:p>
        </p:txBody>
      </p:sp>
      <p:sp>
        <p:nvSpPr>
          <p:cNvPr id="24" name="Shape 18"/>
          <p:cNvSpPr/>
          <p:nvPr/>
        </p:nvSpPr>
        <p:spPr>
          <a:xfrm>
            <a:off x="3295353" y="2520255"/>
            <a:ext cx="2532236" cy="1540148"/>
          </a:xfrm>
          <a:prstGeom prst="roundRect">
            <a:avLst>
              <a:gd name="adj" fmla="val 14171"/>
            </a:avLst>
          </a:prstGeom>
          <a:solidFill>
            <a:srgbClr val="46464A"/>
          </a:solidFill>
          <a:ln/>
        </p:spPr>
      </p:sp>
      <p:sp>
        <p:nvSpPr>
          <p:cNvPr id="25" name="Shape 19"/>
          <p:cNvSpPr/>
          <p:nvPr/>
        </p:nvSpPr>
        <p:spPr>
          <a:xfrm>
            <a:off x="3407197" y="2632100"/>
            <a:ext cx="335533" cy="335533"/>
          </a:xfrm>
          <a:prstGeom prst="roundRect">
            <a:avLst>
              <a:gd name="adj" fmla="val 17030899"/>
            </a:avLst>
          </a:prstGeom>
          <a:solidFill>
            <a:srgbClr val="FFE14D"/>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99470" y="2724299"/>
            <a:ext cx="150986" cy="150986"/>
          </a:xfrm>
          <a:prstGeom prst="rect">
            <a:avLst/>
          </a:prstGeom>
        </p:spPr>
      </p:pic>
      <p:sp>
        <p:nvSpPr>
          <p:cNvPr id="27" name="Text 20"/>
          <p:cNvSpPr/>
          <p:nvPr/>
        </p:nvSpPr>
        <p:spPr>
          <a:xfrm>
            <a:off x="3819362" y="2676513"/>
            <a:ext cx="1458144" cy="155302"/>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Branch Benchmarking</a:t>
            </a:r>
            <a:endParaRPr lang="en-US" sz="1200" dirty="0">
              <a:latin typeface="Arial" panose="020B0604020202020204" pitchFamily="34" charset="0"/>
            </a:endParaRPr>
          </a:p>
        </p:txBody>
      </p:sp>
      <p:sp>
        <p:nvSpPr>
          <p:cNvPr id="28" name="Text 21"/>
          <p:cNvSpPr/>
          <p:nvPr/>
        </p:nvSpPr>
        <p:spPr>
          <a:xfrm>
            <a:off x="3407197" y="2995639"/>
            <a:ext cx="2329532" cy="979247"/>
          </a:xfrm>
          <a:prstGeom prst="rect">
            <a:avLst/>
          </a:prstGeom>
          <a:noFill/>
          <a:ln/>
        </p:spPr>
        <p:txBody>
          <a:bodyPr wrap="square" lIns="0" tIns="0" rIns="0" bIns="0" rtlCol="0" anchor="t">
            <a:noAutofit/>
          </a:bodyPr>
          <a:lstStyle/>
          <a:p>
            <a:pPr marL="0" indent="0" algn="l">
              <a:lnSpc>
                <a:spcPct val="121000"/>
              </a:lnSpc>
              <a:buNone/>
            </a:pPr>
            <a:r>
              <a:rPr lang="en-US" sz="1100" dirty="0">
                <a:solidFill>
                  <a:srgbClr val="D7D4CC"/>
                </a:solidFill>
                <a:latin typeface="Arial" panose="020B0604020202020204" pitchFamily="34" charset="0"/>
                <a:ea typeface="Calibri" panose="020F0502020204030204" pitchFamily="34" charset="0"/>
                <a:cs typeface="Arial" panose="020B0604020202020204" pitchFamily="34" charset="0"/>
              </a:rPr>
              <a:t>Benchmark </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top-performing</a:t>
            </a:r>
            <a:r>
              <a:rPr lang="en-US" sz="1100" dirty="0">
                <a:solidFill>
                  <a:srgbClr val="D7D4CC"/>
                </a:solidFill>
                <a:latin typeface="Arial" panose="020B0604020202020204" pitchFamily="34" charset="0"/>
                <a:ea typeface="Calibri" panose="020F0502020204030204" pitchFamily="34" charset="0"/>
                <a:cs typeface="Arial" panose="020B0604020202020204" pitchFamily="34" charset="0"/>
              </a:rPr>
              <a:t> branches to replicate best practices across the network</a:t>
            </a:r>
            <a:endParaRPr lang="en-US" sz="1100" dirty="0">
              <a:latin typeface="Arial" panose="020B0604020202020204" pitchFamily="34" charset="0"/>
            </a:endParaRPr>
          </a:p>
        </p:txBody>
      </p:sp>
      <p:sp>
        <p:nvSpPr>
          <p:cNvPr id="29" name="Shape 22"/>
          <p:cNvSpPr/>
          <p:nvPr/>
        </p:nvSpPr>
        <p:spPr>
          <a:xfrm>
            <a:off x="5939433" y="2520255"/>
            <a:ext cx="2553295" cy="1540148"/>
          </a:xfrm>
          <a:prstGeom prst="roundRect">
            <a:avLst>
              <a:gd name="adj" fmla="val 14171"/>
            </a:avLst>
          </a:prstGeom>
          <a:solidFill>
            <a:srgbClr val="46464A"/>
          </a:solidFill>
          <a:ln/>
        </p:spPr>
      </p:sp>
      <p:sp>
        <p:nvSpPr>
          <p:cNvPr id="30" name="Shape 23"/>
          <p:cNvSpPr/>
          <p:nvPr/>
        </p:nvSpPr>
        <p:spPr>
          <a:xfrm>
            <a:off x="6051277" y="2632100"/>
            <a:ext cx="335533" cy="335533"/>
          </a:xfrm>
          <a:prstGeom prst="roundRect">
            <a:avLst>
              <a:gd name="adj" fmla="val 17030899"/>
            </a:avLst>
          </a:prstGeom>
          <a:solidFill>
            <a:srgbClr val="FFE14D"/>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43551" y="2724299"/>
            <a:ext cx="150986" cy="150986"/>
          </a:xfrm>
          <a:prstGeom prst="rect">
            <a:avLst/>
          </a:prstGeom>
        </p:spPr>
      </p:pic>
      <p:sp>
        <p:nvSpPr>
          <p:cNvPr id="32" name="Text 24"/>
          <p:cNvSpPr/>
          <p:nvPr/>
        </p:nvSpPr>
        <p:spPr>
          <a:xfrm>
            <a:off x="6516141" y="2714725"/>
            <a:ext cx="1399877" cy="155302"/>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Discount &amp; Incentives</a:t>
            </a:r>
            <a:endParaRPr lang="en-US" sz="1200" dirty="0">
              <a:latin typeface="Arial" panose="020B0604020202020204" pitchFamily="34" charset="0"/>
            </a:endParaRPr>
          </a:p>
        </p:txBody>
      </p:sp>
      <p:sp>
        <p:nvSpPr>
          <p:cNvPr id="33" name="Text 25"/>
          <p:cNvSpPr/>
          <p:nvPr/>
        </p:nvSpPr>
        <p:spPr>
          <a:xfrm>
            <a:off x="6051277" y="2967633"/>
            <a:ext cx="2329607" cy="980926"/>
          </a:xfrm>
          <a:prstGeom prst="rect">
            <a:avLst/>
          </a:prstGeom>
          <a:noFill/>
          <a:ln/>
        </p:spPr>
        <p:txBody>
          <a:bodyPr wrap="square" lIns="0" tIns="0" rIns="0" bIns="0" rtlCol="0" anchor="t">
            <a:noAutofit/>
          </a:bodyPr>
          <a:lstStyle/>
          <a:p>
            <a:pPr marL="0" indent="0">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Optimise discount policies and implement KPI-based salesperson incentives</a:t>
            </a:r>
            <a:endParaRPr lang="en-US" sz="1200" dirty="0">
              <a:latin typeface="Arial" panose="020B0604020202020204" pitchFamily="34" charset="0"/>
            </a:endParaRPr>
          </a:p>
        </p:txBody>
      </p:sp>
      <p:sp>
        <p:nvSpPr>
          <p:cNvPr id="34" name="Shape 26"/>
          <p:cNvSpPr/>
          <p:nvPr/>
        </p:nvSpPr>
        <p:spPr>
          <a:xfrm>
            <a:off x="564178" y="4371937"/>
            <a:ext cx="7841456" cy="666974"/>
          </a:xfrm>
          <a:prstGeom prst="roundRect">
            <a:avLst>
              <a:gd name="adj" fmla="val 16419"/>
            </a:avLst>
          </a:prstGeom>
          <a:solidFill>
            <a:srgbClr val="46464A"/>
          </a:solidFill>
          <a:ln/>
        </p:spPr>
      </p:sp>
      <p:sp>
        <p:nvSpPr>
          <p:cNvPr id="35" name="Shape 27"/>
          <p:cNvSpPr/>
          <p:nvPr/>
        </p:nvSpPr>
        <p:spPr>
          <a:xfrm>
            <a:off x="763115" y="4385756"/>
            <a:ext cx="335533" cy="335533"/>
          </a:xfrm>
          <a:prstGeom prst="roundRect">
            <a:avLst>
              <a:gd name="adj" fmla="val 17030899"/>
            </a:avLst>
          </a:prstGeom>
          <a:solidFill>
            <a:srgbClr val="FFE14D"/>
          </a:solidFill>
          <a:ln/>
        </p:spPr>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2170" y="4472925"/>
            <a:ext cx="150986" cy="150986"/>
          </a:xfrm>
          <a:prstGeom prst="rect">
            <a:avLst/>
          </a:prstGeom>
        </p:spPr>
      </p:pic>
      <p:sp>
        <p:nvSpPr>
          <p:cNvPr id="37" name="Text 28"/>
          <p:cNvSpPr/>
          <p:nvPr/>
        </p:nvSpPr>
        <p:spPr>
          <a:xfrm>
            <a:off x="1220316" y="4434187"/>
            <a:ext cx="1262732" cy="155302"/>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Predictive Analytics</a:t>
            </a:r>
            <a:endParaRPr lang="en-US" sz="1200" dirty="0">
              <a:latin typeface="Arial" panose="020B0604020202020204" pitchFamily="34" charset="0"/>
            </a:endParaRPr>
          </a:p>
        </p:txBody>
      </p:sp>
      <p:sp>
        <p:nvSpPr>
          <p:cNvPr id="38" name="Text 29"/>
          <p:cNvSpPr/>
          <p:nvPr/>
        </p:nvSpPr>
        <p:spPr>
          <a:xfrm>
            <a:off x="930881" y="4749295"/>
            <a:ext cx="7617768" cy="265267"/>
          </a:xfrm>
          <a:prstGeom prst="rect">
            <a:avLst/>
          </a:prstGeom>
          <a:noFill/>
          <a:ln/>
        </p:spPr>
        <p:txBody>
          <a:bodyPr wrap="none" lIns="0" tIns="0" rIns="0" bIns="0" rtlCol="0" anchor="t"/>
          <a:lstStyle/>
          <a:p>
            <a:pPr marL="0" indent="0" algn="l">
              <a:lnSpc>
                <a:spcPct val="121000"/>
              </a:lnSpc>
              <a:buNone/>
            </a:pPr>
            <a:r>
              <a:rPr lang="en-US" sz="1100" dirty="0">
                <a:solidFill>
                  <a:srgbClr val="D7D4CC"/>
                </a:solidFill>
                <a:latin typeface="Arial" panose="020B0604020202020204" pitchFamily="34" charset="0"/>
                <a:ea typeface="Calibri" panose="020F0502020204030204" pitchFamily="34" charset="0"/>
                <a:cs typeface="Arial" panose="020B0604020202020204" pitchFamily="34" charset="0"/>
              </a:rPr>
              <a:t>Use predictive analytics for demand forecasting to improve inventory and sales planning</a:t>
            </a:r>
            <a:endParaRPr lang="en-US" sz="110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79664" y="561677"/>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Challenges Faced</a:t>
            </a:r>
            <a:endParaRPr lang="en-US" sz="3200" dirty="0">
              <a:latin typeface="Arial" panose="020B0604020202020204" pitchFamily="34" charset="0"/>
            </a:endParaRPr>
          </a:p>
        </p:txBody>
      </p:sp>
      <p:sp>
        <p:nvSpPr>
          <p:cNvPr id="4" name="Text 1"/>
          <p:cNvSpPr/>
          <p:nvPr/>
        </p:nvSpPr>
        <p:spPr>
          <a:xfrm>
            <a:off x="3979664" y="1150665"/>
            <a:ext cx="4613672"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During the project, the main challenges involved preparing high-quality data and designing an efficient analytical model.</a:t>
            </a:r>
            <a:endParaRPr lang="en-US" sz="1200" dirty="0">
              <a:latin typeface="Arial" panose="020B0604020202020204" pitchFamily="34" charset="0"/>
            </a:endParaRPr>
          </a:p>
        </p:txBody>
      </p:sp>
      <p:sp>
        <p:nvSpPr>
          <p:cNvPr id="5" name="Shape 2"/>
          <p:cNvSpPr/>
          <p:nvPr/>
        </p:nvSpPr>
        <p:spPr>
          <a:xfrm>
            <a:off x="3979664" y="1746052"/>
            <a:ext cx="309786" cy="309786"/>
          </a:xfrm>
          <a:prstGeom prst="roundRect">
            <a:avLst>
              <a:gd name="adj" fmla="val 66668"/>
            </a:avLst>
          </a:prstGeom>
          <a:solidFill>
            <a:srgbClr val="46464A"/>
          </a:solidFill>
          <a:ln/>
        </p:spPr>
      </p:sp>
      <p:sp>
        <p:nvSpPr>
          <p:cNvPr id="6" name="Text 3"/>
          <p:cNvSpPr/>
          <p:nvPr/>
        </p:nvSpPr>
        <p:spPr>
          <a:xfrm>
            <a:off x="4427116" y="1793379"/>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Data Preparation</a:t>
            </a:r>
            <a:endParaRPr lang="en-US" sz="1600" dirty="0">
              <a:latin typeface="Arial" panose="020B0604020202020204" pitchFamily="34" charset="0"/>
            </a:endParaRPr>
          </a:p>
        </p:txBody>
      </p:sp>
      <p:sp>
        <p:nvSpPr>
          <p:cNvPr id="7" name="Text 4"/>
          <p:cNvSpPr/>
          <p:nvPr/>
        </p:nvSpPr>
        <p:spPr>
          <a:xfrm>
            <a:off x="4427116" y="2067223"/>
            <a:ext cx="4166220"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Cleaning and validating large transactional datasets, and handling duplicate and inconsistent records.</a:t>
            </a:r>
            <a:endParaRPr lang="en-US" sz="1200" dirty="0">
              <a:latin typeface="Arial" panose="020B0604020202020204" pitchFamily="34" charset="0"/>
            </a:endParaRPr>
          </a:p>
        </p:txBody>
      </p:sp>
      <p:sp>
        <p:nvSpPr>
          <p:cNvPr id="8" name="Shape 5"/>
          <p:cNvSpPr/>
          <p:nvPr/>
        </p:nvSpPr>
        <p:spPr>
          <a:xfrm>
            <a:off x="3979664" y="2783086"/>
            <a:ext cx="309786" cy="309786"/>
          </a:xfrm>
          <a:prstGeom prst="roundRect">
            <a:avLst>
              <a:gd name="adj" fmla="val 66668"/>
            </a:avLst>
          </a:prstGeom>
          <a:solidFill>
            <a:srgbClr val="46464A"/>
          </a:solidFill>
          <a:ln/>
        </p:spPr>
      </p:sp>
      <p:sp>
        <p:nvSpPr>
          <p:cNvPr id="9" name="Text 6"/>
          <p:cNvSpPr/>
          <p:nvPr/>
        </p:nvSpPr>
        <p:spPr>
          <a:xfrm>
            <a:off x="4427116" y="2830413"/>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Data Modeling</a:t>
            </a:r>
            <a:endParaRPr lang="en-US" sz="1600" dirty="0">
              <a:latin typeface="Arial" panose="020B0604020202020204" pitchFamily="34" charset="0"/>
            </a:endParaRPr>
          </a:p>
        </p:txBody>
      </p:sp>
      <p:sp>
        <p:nvSpPr>
          <p:cNvPr id="10" name="Text 7"/>
          <p:cNvSpPr/>
          <p:nvPr/>
        </p:nvSpPr>
        <p:spPr>
          <a:xfrm>
            <a:off x="4427116" y="3104257"/>
            <a:ext cx="4166220"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Designing an optimized Star Schema data model and managing relationships between fact and dimension tables.</a:t>
            </a:r>
            <a:endParaRPr lang="en-US" sz="1200" dirty="0">
              <a:latin typeface="Arial" panose="020B0604020202020204" pitchFamily="34" charset="0"/>
            </a:endParaRPr>
          </a:p>
        </p:txBody>
      </p:sp>
      <p:sp>
        <p:nvSpPr>
          <p:cNvPr id="11" name="Shape 8"/>
          <p:cNvSpPr/>
          <p:nvPr/>
        </p:nvSpPr>
        <p:spPr>
          <a:xfrm>
            <a:off x="3979664" y="3820120"/>
            <a:ext cx="309786" cy="309786"/>
          </a:xfrm>
          <a:prstGeom prst="roundRect">
            <a:avLst>
              <a:gd name="adj" fmla="val 66668"/>
            </a:avLst>
          </a:prstGeom>
          <a:solidFill>
            <a:srgbClr val="46464A"/>
          </a:solidFill>
          <a:ln/>
        </p:spPr>
      </p:sp>
      <p:sp>
        <p:nvSpPr>
          <p:cNvPr id="12" name="Text 9"/>
          <p:cNvSpPr/>
          <p:nvPr/>
        </p:nvSpPr>
        <p:spPr>
          <a:xfrm>
            <a:off x="4427116" y="3867448"/>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Reporting Design</a:t>
            </a:r>
            <a:endParaRPr lang="en-US" sz="1600" dirty="0">
              <a:latin typeface="Arial" panose="020B0604020202020204" pitchFamily="34" charset="0"/>
            </a:endParaRPr>
          </a:p>
        </p:txBody>
      </p:sp>
      <p:sp>
        <p:nvSpPr>
          <p:cNvPr id="13" name="Text 10"/>
          <p:cNvSpPr/>
          <p:nvPr/>
        </p:nvSpPr>
        <p:spPr>
          <a:xfrm>
            <a:off x="4427116" y="4141291"/>
            <a:ext cx="4166220" cy="440531"/>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Creating efficient DAX measures for dynamic reporting and building dashboards that balance detail with usability.</a:t>
            </a:r>
            <a:endParaRPr lang="en-US" sz="1200" dirty="0">
              <a:latin typeface="Arial" panose="020B0604020202020204" pitchFamily="34" charset="0"/>
            </a:endParaRPr>
          </a:p>
        </p:txBody>
      </p:sp>
    </p:spTree>
    <p:extLst>
      <p:ext uri="{BB962C8B-B14F-4D97-AF65-F5344CB8AC3E}">
        <p14:creationId xmlns:p14="http://schemas.microsoft.com/office/powerpoint/2010/main" val="2876423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 0">
            <a:extLst>
              <a:ext uri="{FF2B5EF4-FFF2-40B4-BE49-F238E27FC236}">
                <a16:creationId xmlns:a16="http://schemas.microsoft.com/office/drawing/2014/main" id="{A869B97B-8321-9A5D-CBE4-0A5DBEC531A4}"/>
              </a:ext>
            </a:extLst>
          </p:cNvPr>
          <p:cNvSpPr/>
          <p:nvPr/>
        </p:nvSpPr>
        <p:spPr>
          <a:xfrm>
            <a:off x="322064" y="158562"/>
            <a:ext cx="4637559" cy="193849"/>
          </a:xfrm>
          <a:prstGeom prst="rect">
            <a:avLst/>
          </a:prstGeom>
          <a:noFill/>
          <a:ln/>
        </p:spPr>
        <p:txBody>
          <a:bodyPr wrap="none" lIns="0" tIns="0" rIns="0" bIns="0" rtlCol="0" anchor="t"/>
          <a:lstStyle/>
          <a:p>
            <a:pPr marL="0" indent="0" algn="l">
              <a:lnSpc>
                <a:spcPct val="104000"/>
              </a:lnSpc>
              <a:buNone/>
            </a:pPr>
            <a:r>
              <a:rPr lang="en-US" b="1" dirty="0">
                <a:solidFill>
                  <a:schemeClr val="accent4">
                    <a:lumMod val="60000"/>
                    <a:lumOff val="40000"/>
                  </a:schemeClr>
                </a:solidFill>
                <a:latin typeface="Arial" panose="020B0604020202020204" pitchFamily="34" charset="0"/>
                <a:ea typeface="Instrument Sans Medium" pitchFamily="34" charset="-122"/>
                <a:cs typeface="Arial" panose="020B0604020202020204" pitchFamily="34" charset="0"/>
              </a:rPr>
              <a:t>GoldVista Jewellers — Retail Analytics Executive Summary</a:t>
            </a:r>
            <a:endParaRPr lang="en-US" b="1" dirty="0">
              <a:solidFill>
                <a:schemeClr val="accent4">
                  <a:lumMod val="60000"/>
                  <a:lumOff val="40000"/>
                </a:schemeClr>
              </a:solidFill>
            </a:endParaRPr>
          </a:p>
        </p:txBody>
      </p:sp>
      <p:sp>
        <p:nvSpPr>
          <p:cNvPr id="61" name="Text 1">
            <a:extLst>
              <a:ext uri="{FF2B5EF4-FFF2-40B4-BE49-F238E27FC236}">
                <a16:creationId xmlns:a16="http://schemas.microsoft.com/office/drawing/2014/main" id="{069E2E17-455D-0E63-60A3-88AE3A568F46}"/>
              </a:ext>
            </a:extLst>
          </p:cNvPr>
          <p:cNvSpPr/>
          <p:nvPr/>
        </p:nvSpPr>
        <p:spPr>
          <a:xfrm>
            <a:off x="504265" y="537866"/>
            <a:ext cx="6938683" cy="624006"/>
          </a:xfrm>
          <a:prstGeom prst="rect">
            <a:avLst/>
          </a:prstGeom>
          <a:noFill/>
          <a:ln/>
        </p:spPr>
        <p:txBody>
          <a:bodyPr wrap="square" lIns="0" tIns="0" rIns="0" bIns="0" rtlCol="0" anchor="t">
            <a:noAutofit/>
          </a:bodyPr>
          <a:lstStyle/>
          <a:p>
            <a:pPr marL="0" indent="0" algn="l">
              <a:lnSpc>
                <a:spcPct val="100000"/>
              </a:lnSpc>
              <a:buNone/>
            </a:pPr>
            <a:r>
              <a:rPr lang="en-US" sz="1050" dirty="0">
                <a:solidFill>
                  <a:srgbClr val="BFBFBF"/>
                </a:solidFill>
                <a:latin typeface="Arial" panose="020B0604020202020204" pitchFamily="34" charset="0"/>
                <a:ea typeface="Open Sans" pitchFamily="34" charset="-122"/>
                <a:cs typeface="Arial" panose="020B0604020202020204" pitchFamily="34" charset="0"/>
              </a:rPr>
              <a:t>A Business Intelligence solution built with </a:t>
            </a:r>
            <a:r>
              <a:rPr lang="en-US" sz="1050" b="1" dirty="0">
                <a:solidFill>
                  <a:srgbClr val="BFBFBF"/>
                </a:solidFill>
                <a:latin typeface="Arial" panose="020B0604020202020204" pitchFamily="34" charset="0"/>
                <a:ea typeface="Open Sans" pitchFamily="34" charset="-122"/>
                <a:cs typeface="Arial" panose="020B0604020202020204" pitchFamily="34" charset="0"/>
              </a:rPr>
              <a:t>PostgreSQL, SQL, Power BI, and DAX</a:t>
            </a:r>
            <a:r>
              <a:rPr lang="en-US" sz="1050" dirty="0">
                <a:solidFill>
                  <a:srgbClr val="BFBFBF"/>
                </a:solidFill>
                <a:latin typeface="Arial" panose="020B0604020202020204" pitchFamily="34" charset="0"/>
                <a:ea typeface="Open Sans" pitchFamily="34" charset="-122"/>
                <a:cs typeface="Arial" panose="020B0604020202020204" pitchFamily="34" charset="0"/>
              </a:rPr>
              <a:t> transforming retail transaction data into a centralized reporting platform for sales, customer behavior, branch productivity, and product profitability.</a:t>
            </a:r>
            <a:endParaRPr lang="en-US" sz="1050" dirty="0"/>
          </a:p>
        </p:txBody>
      </p:sp>
      <p:sp>
        <p:nvSpPr>
          <p:cNvPr id="62" name="Text 2">
            <a:extLst>
              <a:ext uri="{FF2B5EF4-FFF2-40B4-BE49-F238E27FC236}">
                <a16:creationId xmlns:a16="http://schemas.microsoft.com/office/drawing/2014/main" id="{9E8A870A-C441-D100-499E-CCFDFDD8DA53}"/>
              </a:ext>
            </a:extLst>
          </p:cNvPr>
          <p:cNvSpPr/>
          <p:nvPr/>
        </p:nvSpPr>
        <p:spPr>
          <a:xfrm>
            <a:off x="428923" y="1455041"/>
            <a:ext cx="1697608" cy="155004"/>
          </a:xfrm>
          <a:prstGeom prst="rect">
            <a:avLst/>
          </a:prstGeom>
          <a:noFill/>
          <a:ln/>
        </p:spPr>
        <p:txBody>
          <a:bodyPr wrap="none" lIns="0" tIns="0" rIns="0" bIns="0" rtlCol="0" anchor="t"/>
          <a:lstStyle/>
          <a:p>
            <a:pPr marL="0" indent="0" algn="l">
              <a:lnSpc>
                <a:spcPct val="104000"/>
              </a:lnSpc>
              <a:buNone/>
            </a:pPr>
            <a:r>
              <a:rPr lang="en-US" sz="1100" dirty="0">
                <a:solidFill>
                  <a:srgbClr val="FEFEFE"/>
                </a:solidFill>
                <a:latin typeface="Arial" panose="020B0604020202020204" pitchFamily="34" charset="0"/>
                <a:ea typeface="Instrument Sans Medium" pitchFamily="34" charset="-122"/>
                <a:cs typeface="Arial" panose="020B0604020202020204" pitchFamily="34" charset="0"/>
              </a:rPr>
              <a:t>Key Business Metrics</a:t>
            </a:r>
            <a:endParaRPr lang="en-US" sz="1100" dirty="0"/>
          </a:p>
        </p:txBody>
      </p:sp>
      <p:sp>
        <p:nvSpPr>
          <p:cNvPr id="63" name="Text 3">
            <a:extLst>
              <a:ext uri="{FF2B5EF4-FFF2-40B4-BE49-F238E27FC236}">
                <a16:creationId xmlns:a16="http://schemas.microsoft.com/office/drawing/2014/main" id="{59A14506-94D9-E651-3306-DAA632096D44}"/>
              </a:ext>
            </a:extLst>
          </p:cNvPr>
          <p:cNvSpPr/>
          <p:nvPr/>
        </p:nvSpPr>
        <p:spPr>
          <a:xfrm>
            <a:off x="1738908" y="1903214"/>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SAR 348M</a:t>
            </a:r>
            <a:endParaRPr lang="en-US" sz="2400" dirty="0"/>
          </a:p>
        </p:txBody>
      </p:sp>
      <p:sp>
        <p:nvSpPr>
          <p:cNvPr id="64" name="Text 4">
            <a:extLst>
              <a:ext uri="{FF2B5EF4-FFF2-40B4-BE49-F238E27FC236}">
                <a16:creationId xmlns:a16="http://schemas.microsoft.com/office/drawing/2014/main" id="{EF28E2F6-37B4-FB0E-3611-394A89CAE77D}"/>
              </a:ext>
            </a:extLst>
          </p:cNvPr>
          <p:cNvSpPr/>
          <p:nvPr/>
        </p:nvSpPr>
        <p:spPr>
          <a:xfrm>
            <a:off x="2153543" y="2162101"/>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Total Revenue</a:t>
            </a:r>
            <a:endParaRPr lang="en-US" sz="900" dirty="0"/>
          </a:p>
        </p:txBody>
      </p:sp>
      <p:sp>
        <p:nvSpPr>
          <p:cNvPr id="65" name="Text 5">
            <a:extLst>
              <a:ext uri="{FF2B5EF4-FFF2-40B4-BE49-F238E27FC236}">
                <a16:creationId xmlns:a16="http://schemas.microsoft.com/office/drawing/2014/main" id="{4C9DE708-D8F8-C31A-58C1-23A04313DB55}"/>
              </a:ext>
            </a:extLst>
          </p:cNvPr>
          <p:cNvSpPr/>
          <p:nvPr/>
        </p:nvSpPr>
        <p:spPr>
          <a:xfrm>
            <a:off x="1777603" y="2338826"/>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Across all branches</a:t>
            </a:r>
            <a:endParaRPr lang="en-US" sz="800" dirty="0"/>
          </a:p>
        </p:txBody>
      </p:sp>
      <p:sp>
        <p:nvSpPr>
          <p:cNvPr id="66" name="Text 6">
            <a:extLst>
              <a:ext uri="{FF2B5EF4-FFF2-40B4-BE49-F238E27FC236}">
                <a16:creationId xmlns:a16="http://schemas.microsoft.com/office/drawing/2014/main" id="{55CFEE06-96CE-BF16-F577-17DC63118FBB}"/>
              </a:ext>
            </a:extLst>
          </p:cNvPr>
          <p:cNvSpPr/>
          <p:nvPr/>
        </p:nvSpPr>
        <p:spPr>
          <a:xfrm>
            <a:off x="3382119" y="1903214"/>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61K</a:t>
            </a:r>
            <a:endParaRPr lang="en-US" sz="2400" dirty="0"/>
          </a:p>
        </p:txBody>
      </p:sp>
      <p:sp>
        <p:nvSpPr>
          <p:cNvPr id="67" name="Text 7">
            <a:extLst>
              <a:ext uri="{FF2B5EF4-FFF2-40B4-BE49-F238E27FC236}">
                <a16:creationId xmlns:a16="http://schemas.microsoft.com/office/drawing/2014/main" id="{E61743F4-0868-AC41-7B2A-C1C82E783F83}"/>
              </a:ext>
            </a:extLst>
          </p:cNvPr>
          <p:cNvSpPr/>
          <p:nvPr/>
        </p:nvSpPr>
        <p:spPr>
          <a:xfrm>
            <a:off x="3796754" y="2162101"/>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Invoice Count</a:t>
            </a:r>
            <a:endParaRPr lang="en-US" sz="900" dirty="0"/>
          </a:p>
        </p:txBody>
      </p:sp>
      <p:sp>
        <p:nvSpPr>
          <p:cNvPr id="68" name="Text 8">
            <a:extLst>
              <a:ext uri="{FF2B5EF4-FFF2-40B4-BE49-F238E27FC236}">
                <a16:creationId xmlns:a16="http://schemas.microsoft.com/office/drawing/2014/main" id="{A5E259DB-264D-540B-34A2-86435B3EEE20}"/>
              </a:ext>
            </a:extLst>
          </p:cNvPr>
          <p:cNvSpPr/>
          <p:nvPr/>
        </p:nvSpPr>
        <p:spPr>
          <a:xfrm>
            <a:off x="3382119" y="2277591"/>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Total transactions</a:t>
            </a:r>
            <a:endParaRPr lang="en-US" sz="800" dirty="0"/>
          </a:p>
        </p:txBody>
      </p:sp>
      <p:sp>
        <p:nvSpPr>
          <p:cNvPr id="69" name="Text 9">
            <a:extLst>
              <a:ext uri="{FF2B5EF4-FFF2-40B4-BE49-F238E27FC236}">
                <a16:creationId xmlns:a16="http://schemas.microsoft.com/office/drawing/2014/main" id="{636708C2-B924-4BEB-A927-69CB44179C0C}"/>
              </a:ext>
            </a:extLst>
          </p:cNvPr>
          <p:cNvSpPr/>
          <p:nvPr/>
        </p:nvSpPr>
        <p:spPr>
          <a:xfrm>
            <a:off x="5025330" y="1903214"/>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10,013</a:t>
            </a:r>
            <a:endParaRPr lang="en-US" sz="2400" dirty="0"/>
          </a:p>
        </p:txBody>
      </p:sp>
      <p:sp>
        <p:nvSpPr>
          <p:cNvPr id="70" name="Text 10">
            <a:extLst>
              <a:ext uri="{FF2B5EF4-FFF2-40B4-BE49-F238E27FC236}">
                <a16:creationId xmlns:a16="http://schemas.microsoft.com/office/drawing/2014/main" id="{2351123C-A1B5-EA2D-A584-A8F6F5A62AB6}"/>
              </a:ext>
            </a:extLst>
          </p:cNvPr>
          <p:cNvSpPr/>
          <p:nvPr/>
        </p:nvSpPr>
        <p:spPr>
          <a:xfrm>
            <a:off x="5439965" y="2162101"/>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Active Customers</a:t>
            </a:r>
            <a:endParaRPr lang="en-US" sz="900" dirty="0"/>
          </a:p>
        </p:txBody>
      </p:sp>
      <p:sp>
        <p:nvSpPr>
          <p:cNvPr id="71" name="Text 11">
            <a:extLst>
              <a:ext uri="{FF2B5EF4-FFF2-40B4-BE49-F238E27FC236}">
                <a16:creationId xmlns:a16="http://schemas.microsoft.com/office/drawing/2014/main" id="{372E82D3-C4BA-8CAB-9ED5-1068B67C7BEB}"/>
              </a:ext>
            </a:extLst>
          </p:cNvPr>
          <p:cNvSpPr/>
          <p:nvPr/>
        </p:nvSpPr>
        <p:spPr>
          <a:xfrm>
            <a:off x="5025330" y="2277591"/>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Of 45.62K total</a:t>
            </a:r>
            <a:endParaRPr lang="en-US" sz="800" dirty="0"/>
          </a:p>
        </p:txBody>
      </p:sp>
      <p:sp>
        <p:nvSpPr>
          <p:cNvPr id="72" name="Text 12">
            <a:extLst>
              <a:ext uri="{FF2B5EF4-FFF2-40B4-BE49-F238E27FC236}">
                <a16:creationId xmlns:a16="http://schemas.microsoft.com/office/drawing/2014/main" id="{95154081-26BA-4326-9B44-322362CDF84D}"/>
              </a:ext>
            </a:extLst>
          </p:cNvPr>
          <p:cNvSpPr/>
          <p:nvPr/>
        </p:nvSpPr>
        <p:spPr>
          <a:xfrm>
            <a:off x="1738908" y="3016552"/>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SAR 5,675</a:t>
            </a:r>
            <a:endParaRPr lang="en-US" sz="2400" dirty="0"/>
          </a:p>
        </p:txBody>
      </p:sp>
      <p:sp>
        <p:nvSpPr>
          <p:cNvPr id="73" name="Text 13">
            <a:extLst>
              <a:ext uri="{FF2B5EF4-FFF2-40B4-BE49-F238E27FC236}">
                <a16:creationId xmlns:a16="http://schemas.microsoft.com/office/drawing/2014/main" id="{F169B6C3-E5FE-3EDD-39AC-5CA2A1A5ECE5}"/>
              </a:ext>
            </a:extLst>
          </p:cNvPr>
          <p:cNvSpPr/>
          <p:nvPr/>
        </p:nvSpPr>
        <p:spPr>
          <a:xfrm>
            <a:off x="2153543" y="3275439"/>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Avg Invoice Value</a:t>
            </a:r>
            <a:endParaRPr lang="en-US" sz="900" dirty="0"/>
          </a:p>
        </p:txBody>
      </p:sp>
      <p:sp>
        <p:nvSpPr>
          <p:cNvPr id="74" name="Text 14">
            <a:extLst>
              <a:ext uri="{FF2B5EF4-FFF2-40B4-BE49-F238E27FC236}">
                <a16:creationId xmlns:a16="http://schemas.microsoft.com/office/drawing/2014/main" id="{28687186-1A19-BDD5-C021-A7C6D68F354B}"/>
              </a:ext>
            </a:extLst>
          </p:cNvPr>
          <p:cNvSpPr/>
          <p:nvPr/>
        </p:nvSpPr>
        <p:spPr>
          <a:xfrm>
            <a:off x="1738908" y="3390929"/>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Per transaction</a:t>
            </a:r>
            <a:endParaRPr lang="en-US" sz="800" dirty="0"/>
          </a:p>
        </p:txBody>
      </p:sp>
      <p:sp>
        <p:nvSpPr>
          <p:cNvPr id="75" name="Text 15">
            <a:extLst>
              <a:ext uri="{FF2B5EF4-FFF2-40B4-BE49-F238E27FC236}">
                <a16:creationId xmlns:a16="http://schemas.microsoft.com/office/drawing/2014/main" id="{5A58F5DC-6BA1-781C-5781-93323DD1635F}"/>
              </a:ext>
            </a:extLst>
          </p:cNvPr>
          <p:cNvSpPr/>
          <p:nvPr/>
        </p:nvSpPr>
        <p:spPr>
          <a:xfrm>
            <a:off x="3382119" y="3016552"/>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2.58M g</a:t>
            </a:r>
            <a:endParaRPr lang="en-US" sz="2400" dirty="0"/>
          </a:p>
        </p:txBody>
      </p:sp>
      <p:sp>
        <p:nvSpPr>
          <p:cNvPr id="76" name="Text 16">
            <a:extLst>
              <a:ext uri="{FF2B5EF4-FFF2-40B4-BE49-F238E27FC236}">
                <a16:creationId xmlns:a16="http://schemas.microsoft.com/office/drawing/2014/main" id="{D52161FF-FD3E-08ED-574E-1F68B3CC19F9}"/>
              </a:ext>
            </a:extLst>
          </p:cNvPr>
          <p:cNvSpPr/>
          <p:nvPr/>
        </p:nvSpPr>
        <p:spPr>
          <a:xfrm>
            <a:off x="3796754" y="3275439"/>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Total Weight Sold</a:t>
            </a:r>
            <a:endParaRPr lang="en-US" sz="900" dirty="0"/>
          </a:p>
        </p:txBody>
      </p:sp>
      <p:sp>
        <p:nvSpPr>
          <p:cNvPr id="77" name="Text 17">
            <a:extLst>
              <a:ext uri="{FF2B5EF4-FFF2-40B4-BE49-F238E27FC236}">
                <a16:creationId xmlns:a16="http://schemas.microsoft.com/office/drawing/2014/main" id="{430D8718-B492-EEA0-6EC8-33C6541BFF02}"/>
              </a:ext>
            </a:extLst>
          </p:cNvPr>
          <p:cNvSpPr/>
          <p:nvPr/>
        </p:nvSpPr>
        <p:spPr>
          <a:xfrm>
            <a:off x="3382119" y="3390929"/>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In grams</a:t>
            </a:r>
            <a:endParaRPr lang="en-US" sz="800" dirty="0"/>
          </a:p>
        </p:txBody>
      </p:sp>
      <p:sp>
        <p:nvSpPr>
          <p:cNvPr id="78" name="Text 18">
            <a:extLst>
              <a:ext uri="{FF2B5EF4-FFF2-40B4-BE49-F238E27FC236}">
                <a16:creationId xmlns:a16="http://schemas.microsoft.com/office/drawing/2014/main" id="{0C9AAB9F-4158-6F05-D4EE-44EA02E95B40}"/>
              </a:ext>
            </a:extLst>
          </p:cNvPr>
          <p:cNvSpPr/>
          <p:nvPr/>
        </p:nvSpPr>
        <p:spPr>
          <a:xfrm>
            <a:off x="5025330" y="3016552"/>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SAR 29.6M</a:t>
            </a:r>
            <a:endParaRPr lang="en-US" sz="2400" dirty="0"/>
          </a:p>
        </p:txBody>
      </p:sp>
      <p:sp>
        <p:nvSpPr>
          <p:cNvPr id="79" name="Text 19">
            <a:extLst>
              <a:ext uri="{FF2B5EF4-FFF2-40B4-BE49-F238E27FC236}">
                <a16:creationId xmlns:a16="http://schemas.microsoft.com/office/drawing/2014/main" id="{9208EF73-F4BA-9E3B-0C28-5E6FF9EEA961}"/>
              </a:ext>
            </a:extLst>
          </p:cNvPr>
          <p:cNvSpPr/>
          <p:nvPr/>
        </p:nvSpPr>
        <p:spPr>
          <a:xfrm>
            <a:off x="5439965" y="3275439"/>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Making Revenue</a:t>
            </a:r>
            <a:endParaRPr lang="en-US" sz="900" dirty="0"/>
          </a:p>
        </p:txBody>
      </p:sp>
      <p:sp>
        <p:nvSpPr>
          <p:cNvPr id="80" name="Text 20">
            <a:extLst>
              <a:ext uri="{FF2B5EF4-FFF2-40B4-BE49-F238E27FC236}">
                <a16:creationId xmlns:a16="http://schemas.microsoft.com/office/drawing/2014/main" id="{4B07C108-4CED-30C7-04C1-336075D8971A}"/>
              </a:ext>
            </a:extLst>
          </p:cNvPr>
          <p:cNvSpPr/>
          <p:nvPr/>
        </p:nvSpPr>
        <p:spPr>
          <a:xfrm>
            <a:off x="5025330" y="3390929"/>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Craftsmanship charges</a:t>
            </a:r>
            <a:endParaRPr lang="en-US" sz="800" dirty="0"/>
          </a:p>
        </p:txBody>
      </p:sp>
      <p:sp>
        <p:nvSpPr>
          <p:cNvPr id="81" name="Text 21">
            <a:extLst>
              <a:ext uri="{FF2B5EF4-FFF2-40B4-BE49-F238E27FC236}">
                <a16:creationId xmlns:a16="http://schemas.microsoft.com/office/drawing/2014/main" id="{06AD25B1-63FC-5D06-CB60-07893A663C51}"/>
              </a:ext>
            </a:extLst>
          </p:cNvPr>
          <p:cNvSpPr/>
          <p:nvPr/>
        </p:nvSpPr>
        <p:spPr>
          <a:xfrm>
            <a:off x="1758256" y="4006929"/>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1.73%</a:t>
            </a:r>
            <a:endParaRPr lang="en-US" sz="2400" dirty="0"/>
          </a:p>
        </p:txBody>
      </p:sp>
      <p:sp>
        <p:nvSpPr>
          <p:cNvPr id="82" name="Text 22">
            <a:extLst>
              <a:ext uri="{FF2B5EF4-FFF2-40B4-BE49-F238E27FC236}">
                <a16:creationId xmlns:a16="http://schemas.microsoft.com/office/drawing/2014/main" id="{19D41495-4E4C-CEB1-26D7-FAF85AA9604E}"/>
              </a:ext>
            </a:extLst>
          </p:cNvPr>
          <p:cNvSpPr/>
          <p:nvPr/>
        </p:nvSpPr>
        <p:spPr>
          <a:xfrm>
            <a:off x="2153543" y="4278593"/>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Return Rate</a:t>
            </a:r>
            <a:endParaRPr lang="en-US" sz="900" dirty="0"/>
          </a:p>
        </p:txBody>
      </p:sp>
      <p:sp>
        <p:nvSpPr>
          <p:cNvPr id="83" name="Text 23">
            <a:extLst>
              <a:ext uri="{FF2B5EF4-FFF2-40B4-BE49-F238E27FC236}">
                <a16:creationId xmlns:a16="http://schemas.microsoft.com/office/drawing/2014/main" id="{CEE25631-062D-F8AB-7E73-BC3B5B645C80}"/>
              </a:ext>
            </a:extLst>
          </p:cNvPr>
          <p:cNvSpPr/>
          <p:nvPr/>
        </p:nvSpPr>
        <p:spPr>
          <a:xfrm>
            <a:off x="1738908" y="4394083"/>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Low, reflecting quality</a:t>
            </a:r>
            <a:endParaRPr lang="en-US" sz="800" dirty="0"/>
          </a:p>
        </p:txBody>
      </p:sp>
      <p:sp>
        <p:nvSpPr>
          <p:cNvPr id="84" name="Text 24">
            <a:extLst>
              <a:ext uri="{FF2B5EF4-FFF2-40B4-BE49-F238E27FC236}">
                <a16:creationId xmlns:a16="http://schemas.microsoft.com/office/drawing/2014/main" id="{FACA9FBD-7341-292F-AAA5-077A0A4FAA97}"/>
              </a:ext>
            </a:extLst>
          </p:cNvPr>
          <p:cNvSpPr/>
          <p:nvPr/>
        </p:nvSpPr>
        <p:spPr>
          <a:xfrm>
            <a:off x="3382119" y="4019706"/>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SAR 37.8M</a:t>
            </a:r>
            <a:endParaRPr lang="en-US" sz="2400" dirty="0"/>
          </a:p>
        </p:txBody>
      </p:sp>
      <p:sp>
        <p:nvSpPr>
          <p:cNvPr id="85" name="Text 25">
            <a:extLst>
              <a:ext uri="{FF2B5EF4-FFF2-40B4-BE49-F238E27FC236}">
                <a16:creationId xmlns:a16="http://schemas.microsoft.com/office/drawing/2014/main" id="{E14D7748-6A4C-85A9-0BB2-C777803AE615}"/>
              </a:ext>
            </a:extLst>
          </p:cNvPr>
          <p:cNvSpPr/>
          <p:nvPr/>
        </p:nvSpPr>
        <p:spPr>
          <a:xfrm>
            <a:off x="3796754" y="4278593"/>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Old Gold Value</a:t>
            </a:r>
            <a:endParaRPr lang="en-US" sz="900" dirty="0"/>
          </a:p>
        </p:txBody>
      </p:sp>
      <p:sp>
        <p:nvSpPr>
          <p:cNvPr id="86" name="Text 26">
            <a:extLst>
              <a:ext uri="{FF2B5EF4-FFF2-40B4-BE49-F238E27FC236}">
                <a16:creationId xmlns:a16="http://schemas.microsoft.com/office/drawing/2014/main" id="{0BD96783-9775-D697-7D84-AD287AA3E5F8}"/>
              </a:ext>
            </a:extLst>
          </p:cNvPr>
          <p:cNvSpPr/>
          <p:nvPr/>
        </p:nvSpPr>
        <p:spPr>
          <a:xfrm>
            <a:off x="3382119" y="4394083"/>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Buy-back program</a:t>
            </a:r>
            <a:endParaRPr lang="en-US" sz="800" dirty="0"/>
          </a:p>
        </p:txBody>
      </p:sp>
      <p:sp>
        <p:nvSpPr>
          <p:cNvPr id="87" name="Text 27">
            <a:extLst>
              <a:ext uri="{FF2B5EF4-FFF2-40B4-BE49-F238E27FC236}">
                <a16:creationId xmlns:a16="http://schemas.microsoft.com/office/drawing/2014/main" id="{A4AAB904-739E-DD71-4487-AC65A00D18D6}"/>
              </a:ext>
            </a:extLst>
          </p:cNvPr>
          <p:cNvSpPr/>
          <p:nvPr/>
        </p:nvSpPr>
        <p:spPr>
          <a:xfrm>
            <a:off x="5025330" y="4019706"/>
            <a:ext cx="1604516" cy="204713"/>
          </a:xfrm>
          <a:prstGeom prst="rect">
            <a:avLst/>
          </a:prstGeom>
          <a:noFill/>
          <a:ln/>
        </p:spPr>
        <p:txBody>
          <a:bodyPr wrap="none" lIns="0" tIns="0" rIns="0" bIns="0" rtlCol="0" anchor="t"/>
          <a:lstStyle/>
          <a:p>
            <a:pPr marL="0" indent="0" algn="ctr">
              <a:lnSpc>
                <a:spcPct val="83000"/>
              </a:lnSpc>
              <a:buNone/>
            </a:pPr>
            <a:r>
              <a:rPr lang="en-US" sz="2400" dirty="0">
                <a:solidFill>
                  <a:srgbClr val="BFBFBF"/>
                </a:solidFill>
                <a:latin typeface="Arial" panose="020B0604020202020204" pitchFamily="34" charset="0"/>
                <a:ea typeface="Instrument Sans Medium" pitchFamily="34" charset="-122"/>
                <a:cs typeface="Arial" panose="020B0604020202020204" pitchFamily="34" charset="0"/>
              </a:rPr>
              <a:t>9.25%</a:t>
            </a:r>
            <a:endParaRPr lang="en-US" sz="2400" dirty="0"/>
          </a:p>
        </p:txBody>
      </p:sp>
      <p:sp>
        <p:nvSpPr>
          <p:cNvPr id="88" name="Text 28">
            <a:extLst>
              <a:ext uri="{FF2B5EF4-FFF2-40B4-BE49-F238E27FC236}">
                <a16:creationId xmlns:a16="http://schemas.microsoft.com/office/drawing/2014/main" id="{978A5ADB-2117-FACB-21DD-FF61A05A7645}"/>
              </a:ext>
            </a:extLst>
          </p:cNvPr>
          <p:cNvSpPr/>
          <p:nvPr/>
        </p:nvSpPr>
        <p:spPr>
          <a:xfrm>
            <a:off x="5439965" y="4278593"/>
            <a:ext cx="775246" cy="96887"/>
          </a:xfrm>
          <a:prstGeom prst="rect">
            <a:avLst/>
          </a:prstGeom>
          <a:noFill/>
          <a:ln/>
        </p:spPr>
        <p:txBody>
          <a:bodyPr wrap="none" lIns="0" tIns="0" rIns="0" bIns="0" rtlCol="0" anchor="t"/>
          <a:lstStyle/>
          <a:p>
            <a:pPr marL="0" indent="0" algn="ctr">
              <a:lnSpc>
                <a:spcPct val="104000"/>
              </a:lnSpc>
              <a:buNone/>
            </a:pPr>
            <a:r>
              <a:rPr lang="en-US" sz="900" dirty="0">
                <a:solidFill>
                  <a:srgbClr val="BFBFBF"/>
                </a:solidFill>
                <a:latin typeface="Arial" panose="020B0604020202020204" pitchFamily="34" charset="0"/>
                <a:ea typeface="Instrument Sans Medium" pitchFamily="34" charset="-122"/>
                <a:cs typeface="Arial" panose="020B0604020202020204" pitchFamily="34" charset="0"/>
              </a:rPr>
              <a:t>Repeat Purchase</a:t>
            </a:r>
            <a:endParaRPr lang="en-US" sz="900" dirty="0"/>
          </a:p>
        </p:txBody>
      </p:sp>
      <p:sp>
        <p:nvSpPr>
          <p:cNvPr id="89" name="Text 29">
            <a:extLst>
              <a:ext uri="{FF2B5EF4-FFF2-40B4-BE49-F238E27FC236}">
                <a16:creationId xmlns:a16="http://schemas.microsoft.com/office/drawing/2014/main" id="{B8AD2CE4-0071-76B3-838B-8EEAC643D97F}"/>
              </a:ext>
            </a:extLst>
          </p:cNvPr>
          <p:cNvSpPr/>
          <p:nvPr/>
        </p:nvSpPr>
        <p:spPr>
          <a:xfrm>
            <a:off x="5025330" y="4394083"/>
            <a:ext cx="1604516" cy="74340"/>
          </a:xfrm>
          <a:prstGeom prst="rect">
            <a:avLst/>
          </a:prstGeom>
          <a:noFill/>
          <a:ln/>
        </p:spPr>
        <p:txBody>
          <a:bodyPr wrap="none" lIns="0" tIns="0" rIns="0" bIns="0" rtlCol="0" anchor="t"/>
          <a:lstStyle/>
          <a:p>
            <a:pPr marL="0" indent="0" algn="ctr">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Retention opportunity</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044B0-D8A2-1174-5A65-2D5A8D1F0294}"/>
            </a:ext>
          </a:extLst>
        </p:cNvPr>
        <p:cNvGrpSpPr/>
        <p:nvPr/>
      </p:nvGrpSpPr>
      <p:grpSpPr>
        <a:xfrm>
          <a:off x="0" y="0"/>
          <a:ext cx="0" cy="0"/>
          <a:chOff x="0" y="0"/>
          <a:chExt cx="0" cy="0"/>
        </a:xfrm>
      </p:grpSpPr>
      <p:sp>
        <p:nvSpPr>
          <p:cNvPr id="32" name="Text 30">
            <a:extLst>
              <a:ext uri="{FF2B5EF4-FFF2-40B4-BE49-F238E27FC236}">
                <a16:creationId xmlns:a16="http://schemas.microsoft.com/office/drawing/2014/main" id="{C4A3A580-A57F-AABD-45BC-F071EF795AAB}"/>
              </a:ext>
            </a:extLst>
          </p:cNvPr>
          <p:cNvSpPr/>
          <p:nvPr/>
        </p:nvSpPr>
        <p:spPr>
          <a:xfrm>
            <a:off x="748345" y="175317"/>
            <a:ext cx="1956755" cy="217513"/>
          </a:xfrm>
          <a:prstGeom prst="rect">
            <a:avLst/>
          </a:prstGeom>
          <a:noFill/>
          <a:ln/>
        </p:spPr>
        <p:txBody>
          <a:bodyPr wrap="none" lIns="0" tIns="0" rIns="0" bIns="0" rtlCol="0" anchor="t"/>
          <a:lstStyle/>
          <a:p>
            <a:pPr marL="0" indent="0" algn="l">
              <a:lnSpc>
                <a:spcPct val="104000"/>
              </a:lnSpc>
              <a:buNone/>
            </a:pPr>
            <a:r>
              <a:rPr lang="en-US" sz="1100" b="1" dirty="0">
                <a:solidFill>
                  <a:srgbClr val="FEFEFE"/>
                </a:solidFill>
                <a:latin typeface="Arial" panose="020B0604020202020204" pitchFamily="34" charset="0"/>
                <a:ea typeface="Instrument Sans Medium" pitchFamily="34" charset="-122"/>
                <a:cs typeface="Arial" panose="020B0604020202020204" pitchFamily="34" charset="0"/>
              </a:rPr>
              <a:t>Major </a:t>
            </a:r>
            <a:r>
              <a:rPr lang="en-US" sz="1400" b="1" dirty="0">
                <a:solidFill>
                  <a:srgbClr val="FEFEFE"/>
                </a:solidFill>
                <a:latin typeface="Arial" panose="020B0604020202020204" pitchFamily="34" charset="0"/>
                <a:ea typeface="Instrument Sans Medium" pitchFamily="34" charset="-122"/>
                <a:cs typeface="Arial" panose="020B0604020202020204" pitchFamily="34" charset="0"/>
              </a:rPr>
              <a:t>Business</a:t>
            </a:r>
            <a:r>
              <a:rPr lang="en-US" sz="1100" b="1" dirty="0">
                <a:solidFill>
                  <a:srgbClr val="FEFEFE"/>
                </a:solidFill>
                <a:latin typeface="Arial" panose="020B0604020202020204" pitchFamily="34" charset="0"/>
                <a:ea typeface="Instrument Sans Medium" pitchFamily="34" charset="-122"/>
                <a:cs typeface="Arial" panose="020B0604020202020204" pitchFamily="34" charset="0"/>
              </a:rPr>
              <a:t> Insights</a:t>
            </a:r>
            <a:endParaRPr lang="en-US" sz="1100" b="1" dirty="0"/>
          </a:p>
        </p:txBody>
      </p:sp>
      <p:sp>
        <p:nvSpPr>
          <p:cNvPr id="33" name="Shape 31">
            <a:extLst>
              <a:ext uri="{FF2B5EF4-FFF2-40B4-BE49-F238E27FC236}">
                <a16:creationId xmlns:a16="http://schemas.microsoft.com/office/drawing/2014/main" id="{ED520ED7-55CA-E45E-AF9A-699B3979D8F6}"/>
              </a:ext>
            </a:extLst>
          </p:cNvPr>
          <p:cNvSpPr/>
          <p:nvPr/>
        </p:nvSpPr>
        <p:spPr>
          <a:xfrm>
            <a:off x="655320" y="590601"/>
            <a:ext cx="3063240" cy="1412768"/>
          </a:xfrm>
          <a:prstGeom prst="roundRect">
            <a:avLst>
              <a:gd name="adj" fmla="val 1863"/>
            </a:avLst>
          </a:prstGeom>
          <a:solidFill>
            <a:srgbClr val="F5F547"/>
          </a:solidFill>
          <a:ln/>
        </p:spPr>
      </p:sp>
      <p:sp>
        <p:nvSpPr>
          <p:cNvPr id="34" name="Text 32">
            <a:extLst>
              <a:ext uri="{FF2B5EF4-FFF2-40B4-BE49-F238E27FC236}">
                <a16:creationId xmlns:a16="http://schemas.microsoft.com/office/drawing/2014/main" id="{267B25A3-551F-9811-293F-D0B07C2FAEBC}"/>
              </a:ext>
            </a:extLst>
          </p:cNvPr>
          <p:cNvSpPr/>
          <p:nvPr/>
        </p:nvSpPr>
        <p:spPr>
          <a:xfrm>
            <a:off x="976275" y="621557"/>
            <a:ext cx="1232446" cy="141139"/>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rial" panose="020B0604020202020204" pitchFamily="34" charset="0"/>
                <a:ea typeface="Instrument Sans Medium" pitchFamily="34" charset="-122"/>
                <a:cs typeface="Arial" panose="020B0604020202020204" pitchFamily="34" charset="0"/>
              </a:rPr>
              <a:t>Product &amp; Revenue</a:t>
            </a:r>
            <a:endParaRPr lang="en-US" sz="900" dirty="0"/>
          </a:p>
        </p:txBody>
      </p:sp>
      <p:sp>
        <p:nvSpPr>
          <p:cNvPr id="35" name="Text 33">
            <a:extLst>
              <a:ext uri="{FF2B5EF4-FFF2-40B4-BE49-F238E27FC236}">
                <a16:creationId xmlns:a16="http://schemas.microsoft.com/office/drawing/2014/main" id="{6B04E52C-E0F0-BB93-109D-2E3F90120914}"/>
              </a:ext>
            </a:extLst>
          </p:cNvPr>
          <p:cNvSpPr/>
          <p:nvPr/>
        </p:nvSpPr>
        <p:spPr>
          <a:xfrm>
            <a:off x="819484" y="877243"/>
            <a:ext cx="2678095" cy="1026681"/>
          </a:xfrm>
          <a:prstGeom prst="rect">
            <a:avLst/>
          </a:prstGeom>
          <a:noFill/>
          <a:ln/>
        </p:spPr>
        <p:txBody>
          <a:bodyPr wrap="square" lIns="0" tIns="0" rIns="0" bIns="0" rtlCol="0" anchor="t">
            <a:noAutofit/>
          </a:bodyPr>
          <a:lstStyle/>
          <a:p>
            <a:pPr marL="342900" indent="-342900" algn="l">
              <a:lnSpc>
                <a:spcPct val="100000"/>
              </a:lnSpc>
              <a:buSzPct val="100000"/>
              <a:buChar char="•"/>
            </a:pPr>
            <a:r>
              <a:rPr lang="en-US" sz="1050" b="1" dirty="0">
                <a:solidFill>
                  <a:srgbClr val="000000"/>
                </a:solidFill>
                <a:latin typeface="Arial" panose="020B0604020202020204" pitchFamily="34" charset="0"/>
                <a:ea typeface="Open Sans" pitchFamily="34" charset="-122"/>
                <a:cs typeface="Arial" panose="020B0604020202020204" pitchFamily="34" charset="0"/>
              </a:rPr>
              <a:t>22K Jewellery</a:t>
            </a:r>
            <a:r>
              <a:rPr lang="en-US" sz="1050" dirty="0">
                <a:solidFill>
                  <a:srgbClr val="000000"/>
                </a:solidFill>
                <a:latin typeface="Arial" panose="020B0604020202020204" pitchFamily="34" charset="0"/>
                <a:ea typeface="Open Sans" pitchFamily="34" charset="-122"/>
                <a:cs typeface="Arial" panose="020B0604020202020204" pitchFamily="34" charset="0"/>
              </a:rPr>
              <a:t> dominates revenue share</a:t>
            </a:r>
            <a:endParaRPr lang="en-US" sz="1050" dirty="0"/>
          </a:p>
          <a:p>
            <a:pPr marL="342900" indent="-342900" algn="l">
              <a:lnSpc>
                <a:spcPct val="100000"/>
              </a:lnSpc>
              <a:buSzPct val="100000"/>
              <a:buChar char="•"/>
            </a:pPr>
            <a:r>
              <a:rPr lang="en-US" sz="1050" b="1" dirty="0">
                <a:solidFill>
                  <a:srgbClr val="000000"/>
                </a:solidFill>
                <a:latin typeface="Arial" panose="020B0604020202020204" pitchFamily="34" charset="0"/>
                <a:ea typeface="Open Sans" pitchFamily="34" charset="-122"/>
                <a:cs typeface="Arial" panose="020B0604020202020204" pitchFamily="34" charset="0"/>
              </a:rPr>
              <a:t>Gold Bars and Chains</a:t>
            </a:r>
            <a:r>
              <a:rPr lang="en-US" sz="1050" dirty="0">
                <a:solidFill>
                  <a:srgbClr val="000000"/>
                </a:solidFill>
                <a:latin typeface="Arial" panose="020B0604020202020204" pitchFamily="34" charset="0"/>
                <a:ea typeface="Open Sans" pitchFamily="34" charset="-122"/>
                <a:cs typeface="Arial" panose="020B0604020202020204" pitchFamily="34" charset="0"/>
              </a:rPr>
              <a:t> are top-performing products</a:t>
            </a:r>
            <a:endParaRPr lang="en-US" sz="1050" dirty="0"/>
          </a:p>
          <a:p>
            <a:pPr marL="342900" indent="-342900" algn="l">
              <a:lnSpc>
                <a:spcPct val="100000"/>
              </a:lnSpc>
              <a:buSzPct val="100000"/>
              <a:buChar char="•"/>
            </a:pPr>
            <a:r>
              <a:rPr lang="en-US" sz="1050" b="1" dirty="0">
                <a:solidFill>
                  <a:srgbClr val="000000"/>
                </a:solidFill>
                <a:latin typeface="Arial" panose="020B0604020202020204" pitchFamily="34" charset="0"/>
                <a:ea typeface="Open Sans" pitchFamily="34" charset="-122"/>
                <a:cs typeface="Arial" panose="020B0604020202020204" pitchFamily="34" charset="0"/>
              </a:rPr>
              <a:t>Branch 16</a:t>
            </a:r>
            <a:r>
              <a:rPr lang="en-US" sz="1050" dirty="0">
                <a:solidFill>
                  <a:srgbClr val="000000"/>
                </a:solidFill>
                <a:latin typeface="Arial" panose="020B0604020202020204" pitchFamily="34" charset="0"/>
                <a:ea typeface="Open Sans" pitchFamily="34" charset="-122"/>
                <a:cs typeface="Arial" panose="020B0604020202020204" pitchFamily="34" charset="0"/>
              </a:rPr>
              <a:t> leads branch-level revenue</a:t>
            </a:r>
            <a:endParaRPr lang="en-US" sz="1050" dirty="0"/>
          </a:p>
          <a:p>
            <a:pPr marL="342900" indent="-342900" algn="l">
              <a:lnSpc>
                <a:spcPct val="100000"/>
              </a:lnSpc>
              <a:buSzPct val="100000"/>
              <a:buChar char="•"/>
            </a:pPr>
            <a:r>
              <a:rPr lang="en-US" sz="1050" b="1" dirty="0">
                <a:solidFill>
                  <a:srgbClr val="000000"/>
                </a:solidFill>
                <a:latin typeface="Arial" panose="020B0604020202020204" pitchFamily="34" charset="0"/>
                <a:ea typeface="Open Sans" pitchFamily="34" charset="-122"/>
                <a:cs typeface="Arial" panose="020B0604020202020204" pitchFamily="34" charset="0"/>
              </a:rPr>
              <a:t>Cash</a:t>
            </a:r>
            <a:r>
              <a:rPr lang="en-US" sz="1050" dirty="0">
                <a:solidFill>
                  <a:srgbClr val="000000"/>
                </a:solidFill>
                <a:latin typeface="Arial" panose="020B0604020202020204" pitchFamily="34" charset="0"/>
                <a:ea typeface="Open Sans" pitchFamily="34" charset="-122"/>
                <a:cs typeface="Arial" panose="020B0604020202020204" pitchFamily="34" charset="0"/>
              </a:rPr>
              <a:t> remains the dominant payment method</a:t>
            </a:r>
            <a:endParaRPr lang="en-US" sz="1050" dirty="0"/>
          </a:p>
        </p:txBody>
      </p:sp>
      <p:sp>
        <p:nvSpPr>
          <p:cNvPr id="36" name="Text 34">
            <a:extLst>
              <a:ext uri="{FF2B5EF4-FFF2-40B4-BE49-F238E27FC236}">
                <a16:creationId xmlns:a16="http://schemas.microsoft.com/office/drawing/2014/main" id="{20C5BC3A-8B4C-A06B-C210-75AAE317E048}"/>
              </a:ext>
            </a:extLst>
          </p:cNvPr>
          <p:cNvSpPr/>
          <p:nvPr/>
        </p:nvSpPr>
        <p:spPr>
          <a:xfrm>
            <a:off x="4352107" y="150649"/>
            <a:ext cx="1466353" cy="329873"/>
          </a:xfrm>
          <a:prstGeom prst="rect">
            <a:avLst/>
          </a:prstGeom>
          <a:noFill/>
          <a:ln/>
        </p:spPr>
        <p:txBody>
          <a:bodyPr wrap="none" lIns="0" tIns="0" rIns="0" bIns="0" rtlCol="0" anchor="t"/>
          <a:lstStyle/>
          <a:p>
            <a:pPr marL="0" indent="0" algn="l">
              <a:lnSpc>
                <a:spcPct val="104000"/>
              </a:lnSpc>
              <a:buNone/>
            </a:pPr>
            <a:r>
              <a:rPr lang="en-US" sz="1100" b="1" dirty="0">
                <a:solidFill>
                  <a:srgbClr val="FEFEFE"/>
                </a:solidFill>
                <a:latin typeface="Arial" panose="020B0604020202020204" pitchFamily="34" charset="0"/>
                <a:ea typeface="Instrument Sans Medium" pitchFamily="34" charset="-122"/>
                <a:cs typeface="Arial" panose="020B0604020202020204" pitchFamily="34" charset="0"/>
              </a:rPr>
              <a:t>Customer &amp; Operations</a:t>
            </a:r>
            <a:endParaRPr lang="en-US" sz="1100" b="1" dirty="0"/>
          </a:p>
        </p:txBody>
      </p:sp>
      <p:sp>
        <p:nvSpPr>
          <p:cNvPr id="37" name="Text 35">
            <a:extLst>
              <a:ext uri="{FF2B5EF4-FFF2-40B4-BE49-F238E27FC236}">
                <a16:creationId xmlns:a16="http://schemas.microsoft.com/office/drawing/2014/main" id="{87706DB1-B715-E0DF-F7A6-401505DEB1AF}"/>
              </a:ext>
            </a:extLst>
          </p:cNvPr>
          <p:cNvSpPr/>
          <p:nvPr/>
        </p:nvSpPr>
        <p:spPr>
          <a:xfrm>
            <a:off x="4011194" y="678292"/>
            <a:ext cx="3299268" cy="1329552"/>
          </a:xfrm>
          <a:prstGeom prst="rect">
            <a:avLst/>
          </a:prstGeom>
          <a:noFill/>
          <a:ln/>
        </p:spPr>
        <p:txBody>
          <a:bodyPr wrap="square" lIns="0" tIns="0" rIns="0" bIns="0" rtlCol="0" anchor="t">
            <a:normAutofit/>
          </a:bodyPr>
          <a:lstStyle/>
          <a:p>
            <a:pPr marL="342900" indent="-342900" algn="l">
              <a:lnSpc>
                <a:spcPct val="100000"/>
              </a:lnSpc>
              <a:buSzPct val="100000"/>
              <a:buChar char="•"/>
            </a:pPr>
            <a:r>
              <a:rPr lang="en-US" sz="1100" dirty="0">
                <a:solidFill>
                  <a:srgbClr val="BFBFBF"/>
                </a:solidFill>
                <a:latin typeface="Arial" panose="020B0604020202020204" pitchFamily="34" charset="0"/>
                <a:ea typeface="Open Sans" pitchFamily="34" charset="-122"/>
                <a:cs typeface="Arial" panose="020B0604020202020204" pitchFamily="34" charset="0"/>
              </a:rPr>
              <a:t>Strong acquisition, but only </a:t>
            </a:r>
            <a:r>
              <a:rPr lang="en-US" sz="1100" b="1" dirty="0">
                <a:solidFill>
                  <a:srgbClr val="BFBFBF"/>
                </a:solidFill>
                <a:latin typeface="Arial" panose="020B0604020202020204" pitchFamily="34" charset="0"/>
                <a:ea typeface="Open Sans" pitchFamily="34" charset="-122"/>
                <a:cs typeface="Arial" panose="020B0604020202020204" pitchFamily="34" charset="0"/>
              </a:rPr>
              <a:t>9.25% repeat rate</a:t>
            </a:r>
            <a:r>
              <a:rPr lang="en-US" sz="1100" dirty="0">
                <a:solidFill>
                  <a:srgbClr val="BFBFBF"/>
                </a:solidFill>
                <a:latin typeface="Arial" panose="020B0604020202020204" pitchFamily="34" charset="0"/>
                <a:ea typeface="Open Sans" pitchFamily="34" charset="-122"/>
                <a:cs typeface="Arial" panose="020B0604020202020204" pitchFamily="34" charset="0"/>
              </a:rPr>
              <a:t> — major retention opportunity</a:t>
            </a:r>
            <a:endParaRPr lang="en-US" sz="1100" dirty="0"/>
          </a:p>
          <a:p>
            <a:pPr marL="342900" indent="-342900" algn="l">
              <a:lnSpc>
                <a:spcPct val="100000"/>
              </a:lnSpc>
              <a:buSzPct val="100000"/>
              <a:buChar char="•"/>
            </a:pPr>
            <a:r>
              <a:rPr lang="en-US" sz="1100" b="1" dirty="0">
                <a:solidFill>
                  <a:srgbClr val="BFBFBF"/>
                </a:solidFill>
                <a:latin typeface="Arial" panose="020B0604020202020204" pitchFamily="34" charset="0"/>
                <a:ea typeface="Open Sans" pitchFamily="34" charset="-122"/>
                <a:cs typeface="Arial" panose="020B0604020202020204" pitchFamily="34" charset="0"/>
              </a:rPr>
              <a:t>Old Gold Buy-Back</a:t>
            </a:r>
            <a:r>
              <a:rPr lang="en-US" sz="1100" dirty="0">
                <a:solidFill>
                  <a:srgbClr val="BFBFBF"/>
                </a:solidFill>
                <a:latin typeface="Arial" panose="020B0604020202020204" pitchFamily="34" charset="0"/>
                <a:ea typeface="Open Sans" pitchFamily="34" charset="-122"/>
                <a:cs typeface="Arial" panose="020B0604020202020204" pitchFamily="34" charset="0"/>
              </a:rPr>
              <a:t> generated SAR 37.8M as a key revenue driver</a:t>
            </a:r>
            <a:endParaRPr lang="en-US" sz="1100" dirty="0"/>
          </a:p>
          <a:p>
            <a:pPr marL="342900" indent="-342900" algn="l">
              <a:lnSpc>
                <a:spcPct val="100000"/>
              </a:lnSpc>
              <a:buSzPct val="100000"/>
              <a:buChar char="•"/>
            </a:pPr>
            <a:r>
              <a:rPr lang="en-US" sz="1100" b="1" dirty="0">
                <a:solidFill>
                  <a:srgbClr val="BFBFBF"/>
                </a:solidFill>
                <a:latin typeface="Arial" panose="020B0604020202020204" pitchFamily="34" charset="0"/>
                <a:ea typeface="Open Sans" pitchFamily="34" charset="-122"/>
                <a:cs typeface="Arial" panose="020B0604020202020204" pitchFamily="34" charset="0"/>
              </a:rPr>
              <a:t>1.73% return rate</a:t>
            </a:r>
            <a:r>
              <a:rPr lang="en-US" sz="1100" dirty="0">
                <a:solidFill>
                  <a:srgbClr val="BFBFBF"/>
                </a:solidFill>
                <a:latin typeface="Arial" panose="020B0604020202020204" pitchFamily="34" charset="0"/>
                <a:ea typeface="Open Sans" pitchFamily="34" charset="-122"/>
                <a:cs typeface="Arial" panose="020B0604020202020204" pitchFamily="34" charset="0"/>
              </a:rPr>
              <a:t> reflects strong product quality and satisfaction</a:t>
            </a:r>
            <a:endParaRPr lang="en-US" sz="1100" dirty="0"/>
          </a:p>
        </p:txBody>
      </p:sp>
      <p:sp>
        <p:nvSpPr>
          <p:cNvPr id="38" name="Text 36">
            <a:extLst>
              <a:ext uri="{FF2B5EF4-FFF2-40B4-BE49-F238E27FC236}">
                <a16:creationId xmlns:a16="http://schemas.microsoft.com/office/drawing/2014/main" id="{BF2E04E7-9589-D979-76BB-63A2064E6554}"/>
              </a:ext>
            </a:extLst>
          </p:cNvPr>
          <p:cNvSpPr/>
          <p:nvPr/>
        </p:nvSpPr>
        <p:spPr>
          <a:xfrm>
            <a:off x="881472" y="2165329"/>
            <a:ext cx="2103016" cy="155004"/>
          </a:xfrm>
          <a:prstGeom prst="rect">
            <a:avLst/>
          </a:prstGeom>
          <a:noFill/>
          <a:ln/>
        </p:spPr>
        <p:txBody>
          <a:bodyPr wrap="none" lIns="0" tIns="0" rIns="0" bIns="0" rtlCol="0" anchor="t"/>
          <a:lstStyle/>
          <a:p>
            <a:pPr marL="0" indent="0" algn="l">
              <a:lnSpc>
                <a:spcPct val="104000"/>
              </a:lnSpc>
              <a:buNone/>
            </a:pPr>
            <a:r>
              <a:rPr lang="en-US" sz="1000" dirty="0">
                <a:solidFill>
                  <a:srgbClr val="FEFEFE"/>
                </a:solidFill>
                <a:latin typeface="Arial" panose="020B0604020202020204" pitchFamily="34" charset="0"/>
                <a:ea typeface="Instrument Sans Medium" pitchFamily="34" charset="-122"/>
                <a:cs typeface="Arial" panose="020B0604020202020204" pitchFamily="34" charset="0"/>
              </a:rPr>
              <a:t>Strategic Recommendations</a:t>
            </a:r>
            <a:endParaRPr lang="en-US" sz="1000" dirty="0"/>
          </a:p>
        </p:txBody>
      </p:sp>
      <p:pic>
        <p:nvPicPr>
          <p:cNvPr id="39" name="Image 0" descr="preencoded.png">
            <a:extLst>
              <a:ext uri="{FF2B5EF4-FFF2-40B4-BE49-F238E27FC236}">
                <a16:creationId xmlns:a16="http://schemas.microsoft.com/office/drawing/2014/main" id="{164FE6E9-C9A6-E767-DE3A-A7C1FAAFCF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154" y="2662966"/>
            <a:ext cx="93018" cy="93018"/>
          </a:xfrm>
          <a:prstGeom prst="rect">
            <a:avLst/>
          </a:prstGeom>
        </p:spPr>
      </p:pic>
      <p:sp>
        <p:nvSpPr>
          <p:cNvPr id="40" name="Text 37">
            <a:extLst>
              <a:ext uri="{FF2B5EF4-FFF2-40B4-BE49-F238E27FC236}">
                <a16:creationId xmlns:a16="http://schemas.microsoft.com/office/drawing/2014/main" id="{99E408E8-4093-4B58-A958-D0D75F52D6BA}"/>
              </a:ext>
            </a:extLst>
          </p:cNvPr>
          <p:cNvSpPr/>
          <p:nvPr/>
        </p:nvSpPr>
        <p:spPr>
          <a:xfrm>
            <a:off x="1145232" y="2622452"/>
            <a:ext cx="1288033" cy="96887"/>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Launch Customer Loyalty Programs</a:t>
            </a:r>
            <a:endParaRPr lang="en-US" sz="1000" dirty="0"/>
          </a:p>
        </p:txBody>
      </p:sp>
      <p:sp>
        <p:nvSpPr>
          <p:cNvPr id="41" name="Text 38">
            <a:extLst>
              <a:ext uri="{FF2B5EF4-FFF2-40B4-BE49-F238E27FC236}">
                <a16:creationId xmlns:a16="http://schemas.microsoft.com/office/drawing/2014/main" id="{7D1AA450-A309-6C2B-5C86-812F6F025014}"/>
              </a:ext>
            </a:extLst>
          </p:cNvPr>
          <p:cNvSpPr/>
          <p:nvPr/>
        </p:nvSpPr>
        <p:spPr>
          <a:xfrm>
            <a:off x="1160450" y="2776558"/>
            <a:ext cx="4689425" cy="177281"/>
          </a:xfrm>
          <a:prstGeom prst="rect">
            <a:avLst/>
          </a:prstGeom>
          <a:noFill/>
          <a:ln/>
        </p:spPr>
        <p:txBody>
          <a:bodyPr wrap="none" lIns="0" tIns="0" rIns="0" bIns="0" rtlCol="0" anchor="t"/>
          <a:lstStyle/>
          <a:p>
            <a:pPr marL="0" indent="0" algn="l">
              <a:lnSpc>
                <a:spcPct val="100000"/>
              </a:lnSpc>
              <a:buNone/>
            </a:pPr>
            <a:r>
              <a:rPr lang="en-US" sz="900" dirty="0">
                <a:solidFill>
                  <a:srgbClr val="BFBFBF"/>
                </a:solidFill>
                <a:latin typeface="Arial" panose="020B0604020202020204" pitchFamily="34" charset="0"/>
                <a:ea typeface="Open Sans" pitchFamily="34" charset="-122"/>
                <a:cs typeface="Arial" panose="020B0604020202020204" pitchFamily="34" charset="0"/>
              </a:rPr>
              <a:t>Address the 9.25% repeat purchase gap with targeted retention initiatives.</a:t>
            </a:r>
            <a:endParaRPr lang="en-US" sz="900" dirty="0"/>
          </a:p>
        </p:txBody>
      </p:sp>
      <p:pic>
        <p:nvPicPr>
          <p:cNvPr id="42" name="Image 1" descr="preencoded.png">
            <a:extLst>
              <a:ext uri="{FF2B5EF4-FFF2-40B4-BE49-F238E27FC236}">
                <a16:creationId xmlns:a16="http://schemas.microsoft.com/office/drawing/2014/main" id="{DF35099B-9B0D-3DB4-D4BF-3CD130C756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154" y="3022063"/>
            <a:ext cx="93018" cy="93018"/>
          </a:xfrm>
          <a:prstGeom prst="rect">
            <a:avLst/>
          </a:prstGeom>
        </p:spPr>
      </p:pic>
      <p:sp>
        <p:nvSpPr>
          <p:cNvPr id="43" name="Text 39">
            <a:extLst>
              <a:ext uri="{FF2B5EF4-FFF2-40B4-BE49-F238E27FC236}">
                <a16:creationId xmlns:a16="http://schemas.microsoft.com/office/drawing/2014/main" id="{AFE0D8D9-7C06-B2D1-31BF-95320F91E80D}"/>
              </a:ext>
            </a:extLst>
          </p:cNvPr>
          <p:cNvSpPr/>
          <p:nvPr/>
        </p:nvSpPr>
        <p:spPr>
          <a:xfrm>
            <a:off x="1145232" y="2996708"/>
            <a:ext cx="1066205" cy="96887"/>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Optimize Inventory Allocation</a:t>
            </a:r>
            <a:endParaRPr lang="en-US" sz="1000" dirty="0"/>
          </a:p>
        </p:txBody>
      </p:sp>
      <p:sp>
        <p:nvSpPr>
          <p:cNvPr id="44" name="Text 40">
            <a:extLst>
              <a:ext uri="{FF2B5EF4-FFF2-40B4-BE49-F238E27FC236}">
                <a16:creationId xmlns:a16="http://schemas.microsoft.com/office/drawing/2014/main" id="{7E58F866-0035-4370-AB37-C4C5FA52A786}"/>
              </a:ext>
            </a:extLst>
          </p:cNvPr>
          <p:cNvSpPr/>
          <p:nvPr/>
        </p:nvSpPr>
        <p:spPr>
          <a:xfrm>
            <a:off x="1160450" y="3135656"/>
            <a:ext cx="4689425" cy="150664"/>
          </a:xfrm>
          <a:prstGeom prst="rect">
            <a:avLst/>
          </a:prstGeom>
          <a:noFill/>
          <a:ln/>
        </p:spPr>
        <p:txBody>
          <a:bodyPr wrap="none" lIns="0" tIns="0" rIns="0" bIns="0" rtlCol="0" anchor="t"/>
          <a:lstStyle/>
          <a:p>
            <a:pPr marL="0" indent="0" algn="l">
              <a:lnSpc>
                <a:spcPct val="100000"/>
              </a:lnSpc>
              <a:buNone/>
            </a:pPr>
            <a:r>
              <a:rPr lang="en-US" sz="900" dirty="0">
                <a:solidFill>
                  <a:srgbClr val="BFBFBF"/>
                </a:solidFill>
                <a:latin typeface="Arial" panose="020B0604020202020204" pitchFamily="34" charset="0"/>
                <a:ea typeface="Open Sans" pitchFamily="34" charset="-122"/>
                <a:cs typeface="Arial" panose="020B0604020202020204" pitchFamily="34" charset="0"/>
              </a:rPr>
              <a:t>Increase stock for 22K Jewellery, Gold Bars, and Chains.</a:t>
            </a:r>
            <a:endParaRPr lang="en-US" sz="900" dirty="0"/>
          </a:p>
        </p:txBody>
      </p:sp>
      <p:pic>
        <p:nvPicPr>
          <p:cNvPr id="45" name="Image 2" descr="preencoded.png">
            <a:extLst>
              <a:ext uri="{FF2B5EF4-FFF2-40B4-BE49-F238E27FC236}">
                <a16:creationId xmlns:a16="http://schemas.microsoft.com/office/drawing/2014/main" id="{4558EA79-755A-1C92-8475-63A4122FDC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154" y="3354543"/>
            <a:ext cx="93018" cy="93018"/>
          </a:xfrm>
          <a:prstGeom prst="rect">
            <a:avLst/>
          </a:prstGeom>
        </p:spPr>
      </p:pic>
      <p:sp>
        <p:nvSpPr>
          <p:cNvPr id="46" name="Text 41">
            <a:extLst>
              <a:ext uri="{FF2B5EF4-FFF2-40B4-BE49-F238E27FC236}">
                <a16:creationId xmlns:a16="http://schemas.microsoft.com/office/drawing/2014/main" id="{915B0EFA-4B5F-103B-5EDF-DB7BBE473464}"/>
              </a:ext>
            </a:extLst>
          </p:cNvPr>
          <p:cNvSpPr/>
          <p:nvPr/>
        </p:nvSpPr>
        <p:spPr>
          <a:xfrm>
            <a:off x="1171649" y="3314503"/>
            <a:ext cx="1367210" cy="96887"/>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Benchmark Top-Performing Branches</a:t>
            </a:r>
            <a:endParaRPr lang="en-US" sz="1000" dirty="0"/>
          </a:p>
        </p:txBody>
      </p:sp>
      <p:sp>
        <p:nvSpPr>
          <p:cNvPr id="47" name="Text 42">
            <a:extLst>
              <a:ext uri="{FF2B5EF4-FFF2-40B4-BE49-F238E27FC236}">
                <a16:creationId xmlns:a16="http://schemas.microsoft.com/office/drawing/2014/main" id="{6FB6ECB3-9D3F-02C7-0CE6-B5E978C253A1}"/>
              </a:ext>
            </a:extLst>
          </p:cNvPr>
          <p:cNvSpPr/>
          <p:nvPr/>
        </p:nvSpPr>
        <p:spPr>
          <a:xfrm>
            <a:off x="1160450" y="3468136"/>
            <a:ext cx="4689425" cy="135102"/>
          </a:xfrm>
          <a:prstGeom prst="rect">
            <a:avLst/>
          </a:prstGeom>
          <a:noFill/>
          <a:ln/>
        </p:spPr>
        <p:txBody>
          <a:bodyPr wrap="none" lIns="0" tIns="0" rIns="0" bIns="0" rtlCol="0" anchor="t"/>
          <a:lstStyle/>
          <a:p>
            <a:pPr marL="0" indent="0" algn="l">
              <a:lnSpc>
                <a:spcPct val="100000"/>
              </a:lnSpc>
              <a:buNone/>
            </a:pPr>
            <a:r>
              <a:rPr lang="en-US" sz="900" dirty="0">
                <a:solidFill>
                  <a:srgbClr val="BFBFBF"/>
                </a:solidFill>
                <a:latin typeface="Arial" panose="020B0604020202020204" pitchFamily="34" charset="0"/>
                <a:ea typeface="Open Sans" pitchFamily="34" charset="-122"/>
                <a:cs typeface="Arial" panose="020B0604020202020204" pitchFamily="34" charset="0"/>
              </a:rPr>
              <a:t>Replicate Branch 16's success across the network.</a:t>
            </a:r>
            <a:endParaRPr lang="en-US" sz="900" dirty="0"/>
          </a:p>
        </p:txBody>
      </p:sp>
      <p:pic>
        <p:nvPicPr>
          <p:cNvPr id="48" name="Image 3" descr="preencoded.png">
            <a:extLst>
              <a:ext uri="{FF2B5EF4-FFF2-40B4-BE49-F238E27FC236}">
                <a16:creationId xmlns:a16="http://schemas.microsoft.com/office/drawing/2014/main" id="{A52E9AED-89CB-7E7D-0855-4EA9529466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154" y="3687416"/>
            <a:ext cx="93018" cy="93018"/>
          </a:xfrm>
          <a:prstGeom prst="rect">
            <a:avLst/>
          </a:prstGeom>
        </p:spPr>
      </p:pic>
      <p:sp>
        <p:nvSpPr>
          <p:cNvPr id="49" name="Text 43">
            <a:extLst>
              <a:ext uri="{FF2B5EF4-FFF2-40B4-BE49-F238E27FC236}">
                <a16:creationId xmlns:a16="http://schemas.microsoft.com/office/drawing/2014/main" id="{196B9643-074F-474B-19CA-736482D43571}"/>
              </a:ext>
            </a:extLst>
          </p:cNvPr>
          <p:cNvSpPr/>
          <p:nvPr/>
        </p:nvSpPr>
        <p:spPr>
          <a:xfrm>
            <a:off x="1160450" y="3633985"/>
            <a:ext cx="1257598" cy="96887"/>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Promote Digital Payment Adoption</a:t>
            </a:r>
            <a:endParaRPr lang="en-US" sz="1000" dirty="0"/>
          </a:p>
        </p:txBody>
      </p:sp>
      <p:sp>
        <p:nvSpPr>
          <p:cNvPr id="50" name="Text 44">
            <a:extLst>
              <a:ext uri="{FF2B5EF4-FFF2-40B4-BE49-F238E27FC236}">
                <a16:creationId xmlns:a16="http://schemas.microsoft.com/office/drawing/2014/main" id="{9CBA7197-60B5-13F9-7A8A-D8CF6FD857F3}"/>
              </a:ext>
            </a:extLst>
          </p:cNvPr>
          <p:cNvSpPr/>
          <p:nvPr/>
        </p:nvSpPr>
        <p:spPr>
          <a:xfrm>
            <a:off x="1160450" y="3801008"/>
            <a:ext cx="4689425" cy="120071"/>
          </a:xfrm>
          <a:prstGeom prst="rect">
            <a:avLst/>
          </a:prstGeom>
          <a:noFill/>
          <a:ln/>
        </p:spPr>
        <p:txBody>
          <a:bodyPr wrap="none" lIns="0" tIns="0" rIns="0" bIns="0" rtlCol="0" anchor="t"/>
          <a:lstStyle/>
          <a:p>
            <a:pPr marL="0" indent="0" algn="l">
              <a:lnSpc>
                <a:spcPct val="100000"/>
              </a:lnSpc>
              <a:buNone/>
            </a:pPr>
            <a:r>
              <a:rPr lang="en-US" sz="900" dirty="0">
                <a:solidFill>
                  <a:srgbClr val="BFBFBF"/>
                </a:solidFill>
                <a:latin typeface="Arial" panose="020B0604020202020204" pitchFamily="34" charset="0"/>
                <a:ea typeface="Open Sans" pitchFamily="34" charset="-122"/>
                <a:cs typeface="Arial" panose="020B0604020202020204" pitchFamily="34" charset="0"/>
              </a:rPr>
              <a:t>Reduce cash dependency and improve transaction traceability.</a:t>
            </a:r>
            <a:endParaRPr lang="en-US" sz="900" dirty="0"/>
          </a:p>
        </p:txBody>
      </p:sp>
      <p:pic>
        <p:nvPicPr>
          <p:cNvPr id="51" name="Image 4" descr="preencoded.png">
            <a:extLst>
              <a:ext uri="{FF2B5EF4-FFF2-40B4-BE49-F238E27FC236}">
                <a16:creationId xmlns:a16="http://schemas.microsoft.com/office/drawing/2014/main" id="{38363990-70DA-6F30-29FC-C778FA2B44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154" y="3985742"/>
            <a:ext cx="93018" cy="93018"/>
          </a:xfrm>
          <a:prstGeom prst="rect">
            <a:avLst/>
          </a:prstGeom>
        </p:spPr>
      </p:pic>
      <p:sp>
        <p:nvSpPr>
          <p:cNvPr id="52" name="Text 45">
            <a:extLst>
              <a:ext uri="{FF2B5EF4-FFF2-40B4-BE49-F238E27FC236}">
                <a16:creationId xmlns:a16="http://schemas.microsoft.com/office/drawing/2014/main" id="{5E258C7C-B418-3D2A-DA49-356DC281A1B3}"/>
              </a:ext>
            </a:extLst>
          </p:cNvPr>
          <p:cNvSpPr/>
          <p:nvPr/>
        </p:nvSpPr>
        <p:spPr>
          <a:xfrm>
            <a:off x="1160450" y="3930373"/>
            <a:ext cx="1389608" cy="96887"/>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Expand Old Gold Buy-Back Campaigns</a:t>
            </a:r>
            <a:endParaRPr lang="en-US" sz="1000" dirty="0"/>
          </a:p>
        </p:txBody>
      </p:sp>
      <p:sp>
        <p:nvSpPr>
          <p:cNvPr id="53" name="Text 46">
            <a:extLst>
              <a:ext uri="{FF2B5EF4-FFF2-40B4-BE49-F238E27FC236}">
                <a16:creationId xmlns:a16="http://schemas.microsoft.com/office/drawing/2014/main" id="{44F3806A-4EF6-785A-5388-DF253927F860}"/>
              </a:ext>
            </a:extLst>
          </p:cNvPr>
          <p:cNvSpPr/>
          <p:nvPr/>
        </p:nvSpPr>
        <p:spPr>
          <a:xfrm>
            <a:off x="1160450" y="4099335"/>
            <a:ext cx="4689425" cy="136326"/>
          </a:xfrm>
          <a:prstGeom prst="rect">
            <a:avLst/>
          </a:prstGeom>
          <a:noFill/>
          <a:ln/>
        </p:spPr>
        <p:txBody>
          <a:bodyPr wrap="none" lIns="0" tIns="0" rIns="0" bIns="0" rtlCol="0" anchor="t"/>
          <a:lstStyle/>
          <a:p>
            <a:pPr marL="0" indent="0" algn="l">
              <a:lnSpc>
                <a:spcPct val="100000"/>
              </a:lnSpc>
              <a:buNone/>
            </a:pPr>
            <a:r>
              <a:rPr lang="en-US" sz="900" dirty="0">
                <a:solidFill>
                  <a:srgbClr val="BFBFBF"/>
                </a:solidFill>
                <a:latin typeface="Arial" panose="020B0604020202020204" pitchFamily="34" charset="0"/>
                <a:ea typeface="Open Sans" pitchFamily="34" charset="-122"/>
                <a:cs typeface="Arial" panose="020B0604020202020204" pitchFamily="34" charset="0"/>
              </a:rPr>
              <a:t>Scale the SAR 37.8M buy-back program to drive incremental revenue.</a:t>
            </a:r>
            <a:endParaRPr lang="en-US" sz="900" dirty="0"/>
          </a:p>
        </p:txBody>
      </p:sp>
      <p:pic>
        <p:nvPicPr>
          <p:cNvPr id="54" name="Image 5" descr="preencoded.png">
            <a:extLst>
              <a:ext uri="{FF2B5EF4-FFF2-40B4-BE49-F238E27FC236}">
                <a16:creationId xmlns:a16="http://schemas.microsoft.com/office/drawing/2014/main" id="{0EE3ADE6-F259-796B-49D3-B78DE5A9E6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2154" y="4287940"/>
            <a:ext cx="93018" cy="93018"/>
          </a:xfrm>
          <a:prstGeom prst="rect">
            <a:avLst/>
          </a:prstGeom>
        </p:spPr>
      </p:pic>
      <p:sp>
        <p:nvSpPr>
          <p:cNvPr id="55" name="Text 47">
            <a:extLst>
              <a:ext uri="{FF2B5EF4-FFF2-40B4-BE49-F238E27FC236}">
                <a16:creationId xmlns:a16="http://schemas.microsoft.com/office/drawing/2014/main" id="{68F4E7B5-A9E5-42A1-DC32-6D1F43C7330A}"/>
              </a:ext>
            </a:extLst>
          </p:cNvPr>
          <p:cNvSpPr/>
          <p:nvPr/>
        </p:nvSpPr>
        <p:spPr>
          <a:xfrm>
            <a:off x="1171649" y="4246453"/>
            <a:ext cx="1125885" cy="96887"/>
          </a:xfrm>
          <a:prstGeom prst="rect">
            <a:avLst/>
          </a:prstGeom>
          <a:noFill/>
          <a:ln/>
        </p:spPr>
        <p:txBody>
          <a:bodyPr wrap="none" lIns="0" tIns="0" rIns="0" bIns="0" rtlCol="0" anchor="t"/>
          <a:lstStyle/>
          <a:p>
            <a:pPr marL="0" indent="0" algn="l">
              <a:lnSpc>
                <a:spcPct val="104000"/>
              </a:lnSpc>
              <a:buNone/>
            </a:pPr>
            <a:r>
              <a:rPr lang="en-US" sz="1000" dirty="0">
                <a:solidFill>
                  <a:srgbClr val="BFBFBF"/>
                </a:solidFill>
                <a:latin typeface="Arial" panose="020B0604020202020204" pitchFamily="34" charset="0"/>
                <a:ea typeface="Instrument Sans Medium" pitchFamily="34" charset="-122"/>
                <a:cs typeface="Arial" panose="020B0604020202020204" pitchFamily="34" charset="0"/>
              </a:rPr>
              <a:t>Implement Predictive Analytics</a:t>
            </a:r>
            <a:endParaRPr lang="en-US" sz="1000" dirty="0"/>
          </a:p>
        </p:txBody>
      </p:sp>
      <p:sp>
        <p:nvSpPr>
          <p:cNvPr id="56" name="Text 48">
            <a:extLst>
              <a:ext uri="{FF2B5EF4-FFF2-40B4-BE49-F238E27FC236}">
                <a16:creationId xmlns:a16="http://schemas.microsoft.com/office/drawing/2014/main" id="{DE5A532D-CD69-B51D-2667-744B6E3B1D7B}"/>
              </a:ext>
            </a:extLst>
          </p:cNvPr>
          <p:cNvSpPr/>
          <p:nvPr/>
        </p:nvSpPr>
        <p:spPr>
          <a:xfrm>
            <a:off x="1129036" y="4427548"/>
            <a:ext cx="4689425" cy="169631"/>
          </a:xfrm>
          <a:prstGeom prst="rect">
            <a:avLst/>
          </a:prstGeom>
          <a:noFill/>
          <a:ln/>
        </p:spPr>
        <p:txBody>
          <a:bodyPr wrap="none" lIns="0" tIns="0" rIns="0" bIns="0" rtlCol="0" anchor="t"/>
          <a:lstStyle/>
          <a:p>
            <a:pPr marL="0" indent="0" algn="l">
              <a:lnSpc>
                <a:spcPct val="100000"/>
              </a:lnSpc>
              <a:buNone/>
            </a:pPr>
            <a:r>
              <a:rPr lang="en-US" sz="800" dirty="0">
                <a:solidFill>
                  <a:srgbClr val="BFBFBF"/>
                </a:solidFill>
                <a:latin typeface="Arial" panose="020B0604020202020204" pitchFamily="34" charset="0"/>
                <a:ea typeface="Open Sans" pitchFamily="34" charset="-122"/>
                <a:cs typeface="Arial" panose="020B0604020202020204" pitchFamily="34" charset="0"/>
              </a:rPr>
              <a:t>Deploy forecasting models for demand planning and inventory optimization.</a:t>
            </a:r>
            <a:endParaRPr lang="en-US" sz="800" dirty="0"/>
          </a:p>
        </p:txBody>
      </p:sp>
      <p:sp>
        <p:nvSpPr>
          <p:cNvPr id="57" name="Shape 49">
            <a:extLst>
              <a:ext uri="{FF2B5EF4-FFF2-40B4-BE49-F238E27FC236}">
                <a16:creationId xmlns:a16="http://schemas.microsoft.com/office/drawing/2014/main" id="{99EA094F-D9F0-516C-5781-A8B9B723A3DA}"/>
              </a:ext>
            </a:extLst>
          </p:cNvPr>
          <p:cNvSpPr/>
          <p:nvPr/>
        </p:nvSpPr>
        <p:spPr>
          <a:xfrm>
            <a:off x="819485" y="4628903"/>
            <a:ext cx="7980956" cy="384197"/>
          </a:xfrm>
          <a:prstGeom prst="roundRect">
            <a:avLst>
              <a:gd name="adj" fmla="val 3951"/>
            </a:avLst>
          </a:prstGeom>
          <a:solidFill>
            <a:srgbClr val="183A13"/>
          </a:solidFill>
          <a:ln/>
        </p:spPr>
      </p:sp>
      <p:pic>
        <p:nvPicPr>
          <p:cNvPr id="58" name="Image 6" descr="preencoded.png">
            <a:extLst>
              <a:ext uri="{FF2B5EF4-FFF2-40B4-BE49-F238E27FC236}">
                <a16:creationId xmlns:a16="http://schemas.microsoft.com/office/drawing/2014/main" id="{3C889AFD-F8A2-E3D4-C8E1-C1874B769194}"/>
              </a:ext>
            </a:extLst>
          </p:cNvPr>
          <p:cNvPicPr>
            <a:picLocks noChangeAspect="1"/>
          </p:cNvPicPr>
          <p:nvPr/>
        </p:nvPicPr>
        <p:blipFill>
          <a:blip r:embed="rId4"/>
          <a:stretch>
            <a:fillRect/>
          </a:stretch>
        </p:blipFill>
        <p:spPr>
          <a:xfrm>
            <a:off x="881472" y="4706369"/>
            <a:ext cx="126406" cy="101149"/>
          </a:xfrm>
          <a:prstGeom prst="rect">
            <a:avLst/>
          </a:prstGeom>
        </p:spPr>
      </p:pic>
      <p:sp>
        <p:nvSpPr>
          <p:cNvPr id="59" name="Text 50">
            <a:extLst>
              <a:ext uri="{FF2B5EF4-FFF2-40B4-BE49-F238E27FC236}">
                <a16:creationId xmlns:a16="http://schemas.microsoft.com/office/drawing/2014/main" id="{F58957F4-D43E-1A47-6C73-A088054732AF}"/>
              </a:ext>
            </a:extLst>
          </p:cNvPr>
          <p:cNvSpPr/>
          <p:nvPr/>
        </p:nvSpPr>
        <p:spPr>
          <a:xfrm>
            <a:off x="1020924" y="4672288"/>
            <a:ext cx="7551101" cy="242612"/>
          </a:xfrm>
          <a:prstGeom prst="rect">
            <a:avLst/>
          </a:prstGeom>
          <a:noFill/>
          <a:ln/>
        </p:spPr>
        <p:txBody>
          <a:bodyPr wrap="square" lIns="0" tIns="0" rIns="0" bIns="0" rtlCol="0" anchor="t">
            <a:normAutofit fontScale="92500" lnSpcReduction="10000"/>
          </a:bodyPr>
          <a:lstStyle/>
          <a:p>
            <a:pPr marL="0" indent="0" algn="l">
              <a:lnSpc>
                <a:spcPct val="100000"/>
              </a:lnSpc>
              <a:buNone/>
            </a:pPr>
            <a:r>
              <a:rPr lang="en-US" sz="900" b="1" dirty="0">
                <a:solidFill>
                  <a:srgbClr val="FFFFFF"/>
                </a:solidFill>
                <a:latin typeface="Arial" panose="020B0604020202020204" pitchFamily="34" charset="0"/>
                <a:ea typeface="Open Sans" pitchFamily="34" charset="-122"/>
                <a:cs typeface="Arial" panose="020B0604020202020204" pitchFamily="34" charset="0"/>
              </a:rPr>
              <a:t>Project Outcome:</a:t>
            </a:r>
            <a:r>
              <a:rPr lang="en-US" sz="900" dirty="0">
                <a:solidFill>
                  <a:srgbClr val="FFFFFF"/>
                </a:solidFill>
                <a:latin typeface="Arial" panose="020B0604020202020204" pitchFamily="34" charset="0"/>
                <a:ea typeface="Open Sans" pitchFamily="34" charset="-122"/>
                <a:cs typeface="Arial" panose="020B0604020202020204" pitchFamily="34" charset="0"/>
              </a:rPr>
              <a:t> Transformed raw retail data into a comprehensive BI platform enabling faster, data-driven decisions across sales, customers, products, and operations.</a:t>
            </a:r>
            <a:endParaRPr lang="en-US" sz="900" dirty="0"/>
          </a:p>
        </p:txBody>
      </p:sp>
    </p:spTree>
    <p:extLst>
      <p:ext uri="{BB962C8B-B14F-4D97-AF65-F5344CB8AC3E}">
        <p14:creationId xmlns:p14="http://schemas.microsoft.com/office/powerpoint/2010/main" val="2826694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576858"/>
            <a:ext cx="3999458" cy="382488"/>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Future Enhancements</a:t>
            </a:r>
            <a:endParaRPr lang="en-US" sz="3600" dirty="0">
              <a:latin typeface="Arial" panose="020B0604020202020204" pitchFamily="34" charset="0"/>
            </a:endParaRPr>
          </a:p>
        </p:txBody>
      </p:sp>
      <p:sp>
        <p:nvSpPr>
          <p:cNvPr id="3" name="Text 1"/>
          <p:cNvSpPr/>
          <p:nvPr/>
        </p:nvSpPr>
        <p:spPr>
          <a:xfrm>
            <a:off x="550664" y="1234678"/>
            <a:ext cx="8042672"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In future, this solution can be enhanced with predictive analytics, customer churn models, demand forecasting, and real-time reporting to provide even greater business value.</a:t>
            </a:r>
            <a:endParaRPr lang="en-US" sz="14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664" y="1830065"/>
            <a:ext cx="344165" cy="344165"/>
          </a:xfrm>
          <a:prstGeom prst="rect">
            <a:avLst/>
          </a:prstGeom>
        </p:spPr>
      </p:pic>
      <p:sp>
        <p:nvSpPr>
          <p:cNvPr id="5" name="Text 2"/>
          <p:cNvSpPr/>
          <p:nvPr/>
        </p:nvSpPr>
        <p:spPr>
          <a:xfrm>
            <a:off x="550664" y="2346275"/>
            <a:ext cx="1554807"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Predictive Analytics</a:t>
            </a:r>
            <a:endParaRPr lang="en-US" dirty="0">
              <a:latin typeface="Arial" panose="020B0604020202020204" pitchFamily="34" charset="0"/>
            </a:endParaRPr>
          </a:p>
        </p:txBody>
      </p:sp>
      <p:sp>
        <p:nvSpPr>
          <p:cNvPr id="6" name="Text 3"/>
          <p:cNvSpPr/>
          <p:nvPr/>
        </p:nvSpPr>
        <p:spPr>
          <a:xfrm>
            <a:off x="550664" y="2620119"/>
            <a:ext cx="3935313"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Implement machine learning for sales forecasting and predict customer churn and buying behavior.</a:t>
            </a:r>
            <a:endParaRPr lang="en-US" sz="14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8023" y="1830065"/>
            <a:ext cx="344165" cy="344165"/>
          </a:xfrm>
          <a:prstGeom prst="rect">
            <a:avLst/>
          </a:prstGeom>
        </p:spPr>
      </p:pic>
      <p:sp>
        <p:nvSpPr>
          <p:cNvPr id="8" name="Text 4"/>
          <p:cNvSpPr/>
          <p:nvPr/>
        </p:nvSpPr>
        <p:spPr>
          <a:xfrm>
            <a:off x="4658023" y="2346275"/>
            <a:ext cx="1670075"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Demand Forecasting</a:t>
            </a:r>
            <a:endParaRPr lang="en-US" dirty="0">
              <a:latin typeface="Arial" panose="020B0604020202020204" pitchFamily="34" charset="0"/>
            </a:endParaRPr>
          </a:p>
        </p:txBody>
      </p:sp>
      <p:sp>
        <p:nvSpPr>
          <p:cNvPr id="9" name="Text 5"/>
          <p:cNvSpPr/>
          <p:nvPr/>
        </p:nvSpPr>
        <p:spPr>
          <a:xfrm>
            <a:off x="4658023" y="2620119"/>
            <a:ext cx="3935313" cy="220266"/>
          </a:xfrm>
          <a:prstGeom prst="rect">
            <a:avLst/>
          </a:prstGeom>
          <a:noFill/>
          <a:ln/>
        </p:spPr>
        <p:txBody>
          <a:bodyPr wrap="none" lIns="0" tIns="0" rIns="0" bIns="0" rtlCol="0" anchor="t"/>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Develop demand forecasting for inventory optimization.</a:t>
            </a:r>
            <a:endParaRPr lang="en-US" sz="140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664" y="3335982"/>
            <a:ext cx="344165" cy="344165"/>
          </a:xfrm>
          <a:prstGeom prst="rect">
            <a:avLst/>
          </a:prstGeom>
        </p:spPr>
      </p:pic>
      <p:sp>
        <p:nvSpPr>
          <p:cNvPr id="11" name="Text 6"/>
          <p:cNvSpPr/>
          <p:nvPr/>
        </p:nvSpPr>
        <p:spPr>
          <a:xfrm>
            <a:off x="550664" y="3852193"/>
            <a:ext cx="1601242"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Real-Time Reporting</a:t>
            </a:r>
            <a:endParaRPr lang="en-US" dirty="0">
              <a:latin typeface="Arial" panose="020B0604020202020204" pitchFamily="34" charset="0"/>
            </a:endParaRPr>
          </a:p>
        </p:txBody>
      </p:sp>
      <p:sp>
        <p:nvSpPr>
          <p:cNvPr id="12" name="Text 7"/>
          <p:cNvSpPr/>
          <p:nvPr/>
        </p:nvSpPr>
        <p:spPr>
          <a:xfrm>
            <a:off x="550664" y="4126037"/>
            <a:ext cx="3935313"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Enable real-time dashboard refresh for up-to-the-minute business insights.</a:t>
            </a:r>
            <a:endParaRPr lang="en-US" sz="140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8023" y="3335982"/>
            <a:ext cx="344165" cy="344165"/>
          </a:xfrm>
          <a:prstGeom prst="rect">
            <a:avLst/>
          </a:prstGeom>
        </p:spPr>
      </p:pic>
      <p:sp>
        <p:nvSpPr>
          <p:cNvPr id="14" name="Text 8"/>
          <p:cNvSpPr/>
          <p:nvPr/>
        </p:nvSpPr>
        <p:spPr>
          <a:xfrm>
            <a:off x="4658023" y="3852193"/>
            <a:ext cx="1677442"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AI Recommendations</a:t>
            </a:r>
            <a:endParaRPr lang="en-US" dirty="0">
              <a:latin typeface="Arial" panose="020B0604020202020204" pitchFamily="34" charset="0"/>
            </a:endParaRPr>
          </a:p>
        </p:txBody>
      </p:sp>
      <p:sp>
        <p:nvSpPr>
          <p:cNvPr id="15" name="Text 9"/>
          <p:cNvSpPr/>
          <p:nvPr/>
        </p:nvSpPr>
        <p:spPr>
          <a:xfrm>
            <a:off x="4658023" y="4126037"/>
            <a:ext cx="3935313" cy="440531"/>
          </a:xfrm>
          <a:prstGeom prst="rect">
            <a:avLst/>
          </a:prstGeom>
          <a:noFill/>
          <a:ln/>
        </p:spPr>
        <p:txBody>
          <a:bodyPr wrap="square" lIns="0" tIns="0" rIns="0" bIns="0" rtlCol="0" anchor="t">
            <a:normAutofit fontScale="92500" lnSpcReduction="20000"/>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Add AI-driven product recommendations and create mobile-optimized executive dashboards.</a:t>
            </a:r>
            <a:endParaRPr lang="en-US" sz="1400" dirty="0">
              <a:latin typeface="Arial" panose="020B0604020202020204" pitchFamily="34" charset="0"/>
            </a:endParaRPr>
          </a:p>
        </p:txBody>
      </p:sp>
    </p:spTree>
    <p:extLst>
      <p:ext uri="{BB962C8B-B14F-4D97-AF65-F5344CB8AC3E}">
        <p14:creationId xmlns:p14="http://schemas.microsoft.com/office/powerpoint/2010/main" val="825377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D60F1-8684-8DC7-00AE-E386CEE9AD09}"/>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25A012E3-733F-DC0F-1129-9174EE24BDBB}"/>
              </a:ext>
            </a:extLst>
          </p:cNvPr>
          <p:cNvSpPr/>
          <p:nvPr/>
        </p:nvSpPr>
        <p:spPr>
          <a:xfrm>
            <a:off x="3133844" y="2181642"/>
            <a:ext cx="3516809" cy="382488"/>
          </a:xfrm>
          <a:prstGeom prst="rect">
            <a:avLst/>
          </a:prstGeom>
          <a:noFill/>
          <a:ln/>
        </p:spPr>
        <p:txBody>
          <a:bodyPr wrap="none" lIns="0" tIns="0" rIns="0" bIns="0" rtlCol="0" anchor="t"/>
          <a:lstStyle/>
          <a:p>
            <a:pPr marL="0" indent="0" algn="l">
              <a:lnSpc>
                <a:spcPct val="104000"/>
              </a:lnSpc>
              <a:buNone/>
            </a:pPr>
            <a:r>
              <a:rPr lang="en-US" sz="4000" b="1" i="1" dirty="0">
                <a:solidFill>
                  <a:srgbClr val="FFE14D"/>
                </a:solidFill>
                <a:latin typeface="Arial" panose="020B0604020202020204" pitchFamily="34" charset="0"/>
                <a:ea typeface="Calibri" panose="020F0502020204030204" pitchFamily="34" charset="0"/>
                <a:cs typeface="Arial" panose="020B0604020202020204" pitchFamily="34" charset="0"/>
              </a:rPr>
              <a:t>Thank You</a:t>
            </a:r>
            <a:endParaRPr lang="en-US" sz="2800" i="1" dirty="0">
              <a:latin typeface="Arial" panose="020B0604020202020204" pitchFamily="34" charset="0"/>
            </a:endParaRPr>
          </a:p>
        </p:txBody>
      </p:sp>
    </p:spTree>
    <p:extLst>
      <p:ext uri="{BB962C8B-B14F-4D97-AF65-F5344CB8AC3E}">
        <p14:creationId xmlns:p14="http://schemas.microsoft.com/office/powerpoint/2010/main" val="3272056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28850</TotalTime>
  <Words>2924</Words>
  <Application>Microsoft Office PowerPoint</Application>
  <PresentationFormat>On-screen Show (16:9)</PresentationFormat>
  <Paragraphs>431</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Ragina V</dc:creator>
  <cp:lastModifiedBy>Ragina Vannantavida</cp:lastModifiedBy>
  <cp:revision>14</cp:revision>
  <dcterms:created xsi:type="dcterms:W3CDTF">2026-06-06T05:56:53Z</dcterms:created>
  <dcterms:modified xsi:type="dcterms:W3CDTF">2026-06-30T08:11:53Z</dcterms:modified>
</cp:coreProperties>
</file>