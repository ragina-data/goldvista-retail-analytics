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75" r:id="rId9"/>
    <p:sldId id="276" r:id="rId10"/>
    <p:sldId id="277" r:id="rId11"/>
    <p:sldId id="264" r:id="rId12"/>
    <p:sldId id="285" r:id="rId13"/>
    <p:sldId id="286" r:id="rId14"/>
    <p:sldId id="287" r:id="rId15"/>
    <p:sldId id="288" r:id="rId16"/>
    <p:sldId id="289" r:id="rId17"/>
    <p:sldId id="290" r:id="rId18"/>
    <p:sldId id="291" r:id="rId19"/>
    <p:sldId id="292" r:id="rId20"/>
    <p:sldId id="278" r:id="rId21"/>
    <p:sldId id="279" r:id="rId22"/>
    <p:sldId id="280" r:id="rId23"/>
    <p:sldId id="263" r:id="rId24"/>
    <p:sldId id="284" r:id="rId25"/>
    <p:sldId id="266" r:id="rId26"/>
    <p:sldId id="267" r:id="rId27"/>
    <p:sldId id="268" r:id="rId28"/>
    <p:sldId id="269" r:id="rId29"/>
    <p:sldId id="270" r:id="rId30"/>
    <p:sldId id="271" r:id="rId31"/>
    <p:sldId id="272" r:id="rId32"/>
    <p:sldId id="273" r:id="rId33"/>
    <p:sldId id="274" r:id="rId34"/>
    <p:sldId id="281" r:id="rId35"/>
    <p:sldId id="282" r:id="rId36"/>
    <p:sldId id="283" r:id="rId37"/>
    <p:sldId id="293" r:id="rId38"/>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476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39625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0F82-1F69-172D-886A-4A7F5E133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B0457-B42E-F096-EE6D-D1092D9E3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BC1D2-D7F5-A40B-07E0-FBC5B07FD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BC1E77-1B53-380B-D4BB-AAC8202B14D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04944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78676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0000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9329-308A-D4FE-E201-886660AE2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B006C-1257-40C7-21B6-D67C8C82B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60349-984C-1DB0-3D4E-253B733B36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291C7-7652-1755-9ED7-BDEB26E8F70A}"/>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257004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89372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8.sv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6.svg"/><Relationship Id="rId4" Type="http://schemas.openxmlformats.org/officeDocument/2006/relationships/image" Target="../media/image35.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2.svg"/><Relationship Id="rId4" Type="http://schemas.openxmlformats.org/officeDocument/2006/relationships/image" Target="../media/image51.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notesSlide" Target="../notesSlides/notesSlide33.xml"/><Relationship Id="rId1" Type="http://schemas.openxmlformats.org/officeDocument/2006/relationships/slideLayout" Target="../slideLayouts/slideLayout10.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 Id="rId9" Type="http://schemas.openxmlformats.org/officeDocument/2006/relationships/image" Target="../media/image59.sv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51199" y="0"/>
            <a:ext cx="3732167" cy="5143500"/>
          </a:xfrm>
          <a:prstGeom prst="rect">
            <a:avLst/>
          </a:prstGeom>
        </p:spPr>
      </p:pic>
      <p:sp>
        <p:nvSpPr>
          <p:cNvPr id="3" name="Text 0"/>
          <p:cNvSpPr/>
          <p:nvPr/>
        </p:nvSpPr>
        <p:spPr>
          <a:xfrm>
            <a:off x="252636" y="1368288"/>
            <a:ext cx="5021580" cy="764977"/>
          </a:xfrm>
          <a:prstGeom prst="rect">
            <a:avLst/>
          </a:prstGeom>
          <a:noFill/>
          <a:ln/>
        </p:spPr>
        <p:txBody>
          <a:bodyPr wrap="square" lIns="0" tIns="0" rIns="0" bIns="0" rtlCol="0" anchor="t">
            <a:noAutofit/>
          </a:bodyPr>
          <a:lstStyle/>
          <a:p>
            <a:pPr marL="0" indent="0" algn="ctr">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GoldVista Jewellers Retail Analytics</a:t>
            </a:r>
            <a:endParaRPr lang="en-US" sz="3600" dirty="0">
              <a:latin typeface="Arial" panose="020B0604020202020204" pitchFamily="34" charset="0"/>
              <a:cs typeface="Arial" panose="020B0604020202020204" pitchFamily="34" charset="0"/>
            </a:endParaRPr>
          </a:p>
        </p:txBody>
      </p:sp>
      <p:sp>
        <p:nvSpPr>
          <p:cNvPr id="4" name="Text 1"/>
          <p:cNvSpPr/>
          <p:nvPr/>
        </p:nvSpPr>
        <p:spPr>
          <a:xfrm>
            <a:off x="464820" y="2757301"/>
            <a:ext cx="5021580" cy="959897"/>
          </a:xfrm>
          <a:prstGeom prst="rect">
            <a:avLst/>
          </a:prstGeom>
          <a:noFill/>
          <a:ln/>
        </p:spPr>
        <p:txBody>
          <a:bodyPr wrap="square" lIns="0" tIns="0" rIns="0" bIns="0" rtlCol="0" anchor="t"/>
          <a:lstStyle/>
          <a:p>
            <a:pPr marL="0" indent="0" algn="l">
              <a:lnSpc>
                <a:spcPct val="133000"/>
              </a:lnSpc>
              <a:spcAft>
                <a:spcPts val="1200"/>
              </a:spcAft>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Business Intelligence &amp; Data Analytics Project</a:t>
            </a:r>
            <a:endParaRPr lang="en-US" sz="1400" dirty="0">
              <a:latin typeface="Arial" panose="020B0604020202020204" pitchFamily="34" charset="0"/>
              <a:cs typeface="Arial" panose="020B0604020202020204" pitchFamily="34" charset="0"/>
            </a:endParaRPr>
          </a:p>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Presented by: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Ragina V</a:t>
            </a:r>
            <a:endParaRPr lang="en-US" sz="1400" dirty="0">
              <a:latin typeface="Arial" panose="020B0604020202020204" pitchFamily="34" charset="0"/>
              <a:cs typeface="Arial" panose="020B0604020202020204" pitchFamily="34" charset="0"/>
            </a:endParaRPr>
          </a:p>
        </p:txBody>
      </p:sp>
      <p:sp>
        <p:nvSpPr>
          <p:cNvPr id="5" name="Shape 2"/>
          <p:cNvSpPr/>
          <p:nvPr/>
        </p:nvSpPr>
        <p:spPr>
          <a:xfrm>
            <a:off x="531229" y="3897526"/>
            <a:ext cx="1136821" cy="258812"/>
          </a:xfrm>
          <a:prstGeom prst="roundRect">
            <a:avLst>
              <a:gd name="adj" fmla="val 63838"/>
            </a:avLst>
          </a:prstGeom>
          <a:solidFill>
            <a:srgbClr val="4D4000"/>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747" y="3986733"/>
            <a:ext cx="119870" cy="110133"/>
          </a:xfrm>
          <a:prstGeom prst="rect">
            <a:avLst/>
          </a:prstGeom>
        </p:spPr>
      </p:pic>
      <p:sp>
        <p:nvSpPr>
          <p:cNvPr id="7" name="Text 3"/>
          <p:cNvSpPr/>
          <p:nvPr/>
        </p:nvSpPr>
        <p:spPr>
          <a:xfrm>
            <a:off x="776670" y="3938826"/>
            <a:ext cx="1274833"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050" dirty="0">
              <a:latin typeface="Arial" panose="020B0604020202020204" pitchFamily="34" charset="0"/>
              <a:cs typeface="Arial" panose="020B0604020202020204" pitchFamily="34" charset="0"/>
            </a:endParaRPr>
          </a:p>
        </p:txBody>
      </p:sp>
      <p:sp>
        <p:nvSpPr>
          <p:cNvPr id="8" name="Shape 4"/>
          <p:cNvSpPr/>
          <p:nvPr/>
        </p:nvSpPr>
        <p:spPr>
          <a:xfrm>
            <a:off x="1651520" y="3896812"/>
            <a:ext cx="728453" cy="258812"/>
          </a:xfrm>
          <a:prstGeom prst="roundRect">
            <a:avLst>
              <a:gd name="adj" fmla="val 63838"/>
            </a:avLst>
          </a:prstGeom>
          <a:solidFill>
            <a:srgbClr val="4D4000"/>
          </a:solidFill>
          <a:ln/>
        </p:spPr>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4524" y="3986733"/>
            <a:ext cx="119870" cy="110133"/>
          </a:xfrm>
          <a:prstGeom prst="rect">
            <a:avLst/>
          </a:prstGeom>
        </p:spPr>
      </p:pic>
      <p:sp>
        <p:nvSpPr>
          <p:cNvPr id="10" name="Text 5"/>
          <p:cNvSpPr/>
          <p:nvPr/>
        </p:nvSpPr>
        <p:spPr>
          <a:xfrm>
            <a:off x="1896960" y="3938112"/>
            <a:ext cx="866466"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050" dirty="0">
              <a:latin typeface="Arial" panose="020B0604020202020204" pitchFamily="34" charset="0"/>
              <a:cs typeface="Arial" panose="020B0604020202020204" pitchFamily="34" charset="0"/>
            </a:endParaRPr>
          </a:p>
        </p:txBody>
      </p:sp>
      <p:sp>
        <p:nvSpPr>
          <p:cNvPr id="11" name="Shape 6"/>
          <p:cNvSpPr/>
          <p:nvPr/>
        </p:nvSpPr>
        <p:spPr>
          <a:xfrm>
            <a:off x="2386029" y="3897526"/>
            <a:ext cx="939279" cy="258812"/>
          </a:xfrm>
          <a:prstGeom prst="roundRect">
            <a:avLst>
              <a:gd name="adj" fmla="val 63838"/>
            </a:avLst>
          </a:prstGeom>
          <a:solidFill>
            <a:srgbClr val="4D4000"/>
          </a:solidFill>
          <a:ln/>
        </p:spPr>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749" y="3995447"/>
            <a:ext cx="119870" cy="110133"/>
          </a:xfrm>
          <a:prstGeom prst="rect">
            <a:avLst/>
          </a:prstGeom>
        </p:spPr>
      </p:pic>
      <p:sp>
        <p:nvSpPr>
          <p:cNvPr id="13" name="Text 7"/>
          <p:cNvSpPr/>
          <p:nvPr/>
        </p:nvSpPr>
        <p:spPr>
          <a:xfrm>
            <a:off x="2631469" y="3938826"/>
            <a:ext cx="1077290"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050" dirty="0">
              <a:latin typeface="Arial" panose="020B0604020202020204" pitchFamily="34" charset="0"/>
              <a:cs typeface="Arial" panose="020B0604020202020204" pitchFamily="34" charset="0"/>
            </a:endParaRPr>
          </a:p>
        </p:txBody>
      </p:sp>
      <p:sp>
        <p:nvSpPr>
          <p:cNvPr id="14" name="Shape 8"/>
          <p:cNvSpPr/>
          <p:nvPr/>
        </p:nvSpPr>
        <p:spPr>
          <a:xfrm>
            <a:off x="3323645" y="3897526"/>
            <a:ext cx="599836" cy="258812"/>
          </a:xfrm>
          <a:prstGeom prst="roundRect">
            <a:avLst>
              <a:gd name="adj" fmla="val 63838"/>
            </a:avLst>
          </a:prstGeom>
          <a:solidFill>
            <a:srgbClr val="4D4000"/>
          </a:solidFill>
          <a:ln/>
        </p:spPr>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82406" y="3989963"/>
            <a:ext cx="119870" cy="110133"/>
          </a:xfrm>
          <a:prstGeom prst="rect">
            <a:avLst/>
          </a:prstGeom>
        </p:spPr>
      </p:pic>
      <p:sp>
        <p:nvSpPr>
          <p:cNvPr id="16" name="Text 9"/>
          <p:cNvSpPr/>
          <p:nvPr/>
        </p:nvSpPr>
        <p:spPr>
          <a:xfrm>
            <a:off x="3539477" y="3912668"/>
            <a:ext cx="73784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DAX</a:t>
            </a:r>
            <a:endParaRPr lang="en-US" sz="1050" dirty="0">
              <a:latin typeface="Arial" panose="020B0604020202020204" pitchFamily="34" charset="0"/>
              <a:cs typeface="Arial" panose="020B0604020202020204" pitchFamily="34" charset="0"/>
            </a:endParaRPr>
          </a:p>
        </p:txBody>
      </p:sp>
      <p:sp>
        <p:nvSpPr>
          <p:cNvPr id="17" name="Shape 10"/>
          <p:cNvSpPr/>
          <p:nvPr/>
        </p:nvSpPr>
        <p:spPr>
          <a:xfrm>
            <a:off x="3940003" y="3897526"/>
            <a:ext cx="809447" cy="258812"/>
          </a:xfrm>
          <a:prstGeom prst="roundRect">
            <a:avLst>
              <a:gd name="adj" fmla="val 63838"/>
            </a:avLst>
          </a:prstGeom>
          <a:solidFill>
            <a:srgbClr val="4D4000"/>
          </a:solidFill>
          <a:ln/>
        </p:spPr>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7484" y="3984256"/>
            <a:ext cx="119870" cy="110133"/>
          </a:xfrm>
          <a:prstGeom prst="rect">
            <a:avLst/>
          </a:prstGeom>
        </p:spPr>
      </p:pic>
      <p:sp>
        <p:nvSpPr>
          <p:cNvPr id="19" name="Text 11"/>
          <p:cNvSpPr/>
          <p:nvPr/>
        </p:nvSpPr>
        <p:spPr>
          <a:xfrm>
            <a:off x="4185444" y="3938826"/>
            <a:ext cx="94745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54609" y="24259"/>
            <a:ext cx="2799680" cy="292819"/>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Agenda</a:t>
            </a:r>
            <a:endParaRPr lang="en-US" sz="3600" dirty="0">
              <a:latin typeface="Arial" panose="020B0604020202020204" pitchFamily="34" charset="0"/>
            </a:endParaRPr>
          </a:p>
        </p:txBody>
      </p:sp>
      <p:sp>
        <p:nvSpPr>
          <p:cNvPr id="3" name="Text 1"/>
          <p:cNvSpPr/>
          <p:nvPr/>
        </p:nvSpPr>
        <p:spPr>
          <a:xfrm>
            <a:off x="877491" y="578792"/>
            <a:ext cx="7389019" cy="490315"/>
          </a:xfrm>
          <a:prstGeom prst="rect">
            <a:avLst/>
          </a:prstGeom>
          <a:noFill/>
          <a:ln/>
        </p:spPr>
        <p:txBody>
          <a:bodyPr wrap="square" lIns="0" tIns="0" rIns="0" bIns="0" rtlCol="0" anchor="t">
            <a:noAutofit/>
          </a:bodyPr>
          <a:lstStyle/>
          <a:p>
            <a:pPr marL="0" indent="0" algn="l">
              <a:lnSpc>
                <a:spcPct val="11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presentation walks through the end-to-end analytics project — from understanding the business problem to delivering actionable insights and recommendations.</a:t>
            </a:r>
            <a:endParaRPr lang="en-US" sz="1400" dirty="0">
              <a:latin typeface="Arial" panose="020B0604020202020204" pitchFamily="34" charset="0"/>
            </a:endParaRPr>
          </a:p>
        </p:txBody>
      </p:sp>
      <p:sp>
        <p:nvSpPr>
          <p:cNvPr id="4" name="Text 2"/>
          <p:cNvSpPr/>
          <p:nvPr/>
        </p:nvSpPr>
        <p:spPr>
          <a:xfrm>
            <a:off x="877491"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01</a:t>
            </a:r>
            <a:endParaRPr lang="en-US" sz="1200" dirty="0">
              <a:latin typeface="Arial" panose="020B0604020202020204" pitchFamily="34" charset="0"/>
            </a:endParaRPr>
          </a:p>
        </p:txBody>
      </p:sp>
      <p:sp>
        <p:nvSpPr>
          <p:cNvPr id="5" name="Shape 3"/>
          <p:cNvSpPr/>
          <p:nvPr/>
        </p:nvSpPr>
        <p:spPr>
          <a:xfrm>
            <a:off x="877491" y="1324719"/>
            <a:ext cx="3654177" cy="14288"/>
          </a:xfrm>
          <a:prstGeom prst="rect">
            <a:avLst/>
          </a:prstGeom>
          <a:solidFill>
            <a:srgbClr val="FFE14D"/>
          </a:solidFill>
          <a:ln/>
        </p:spPr>
      </p:sp>
      <p:sp>
        <p:nvSpPr>
          <p:cNvPr id="6" name="Text 4"/>
          <p:cNvSpPr/>
          <p:nvPr/>
        </p:nvSpPr>
        <p:spPr>
          <a:xfrm>
            <a:off x="877491"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Business Overview</a:t>
            </a:r>
            <a:endParaRPr lang="en-US" sz="1400" dirty="0">
              <a:latin typeface="Arial" panose="020B0604020202020204" pitchFamily="34" charset="0"/>
            </a:endParaRPr>
          </a:p>
        </p:txBody>
      </p:sp>
      <p:sp>
        <p:nvSpPr>
          <p:cNvPr id="7" name="Text 5"/>
          <p:cNvSpPr/>
          <p:nvPr/>
        </p:nvSpPr>
        <p:spPr>
          <a:xfrm>
            <a:off x="877491"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sz="1200" dirty="0">
              <a:latin typeface="Arial" panose="020B0604020202020204" pitchFamily="34" charset="0"/>
            </a:endParaRPr>
          </a:p>
        </p:txBody>
      </p:sp>
      <p:sp>
        <p:nvSpPr>
          <p:cNvPr id="8" name="Text 6"/>
          <p:cNvSpPr/>
          <p:nvPr/>
        </p:nvSpPr>
        <p:spPr>
          <a:xfrm>
            <a:off x="4612332"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02</a:t>
            </a:r>
            <a:endParaRPr lang="en-US" sz="1200" dirty="0">
              <a:latin typeface="Arial" panose="020B0604020202020204" pitchFamily="34" charset="0"/>
            </a:endParaRPr>
          </a:p>
        </p:txBody>
      </p:sp>
      <p:sp>
        <p:nvSpPr>
          <p:cNvPr id="9" name="Shape 7"/>
          <p:cNvSpPr/>
          <p:nvPr/>
        </p:nvSpPr>
        <p:spPr>
          <a:xfrm>
            <a:off x="4612332" y="1324719"/>
            <a:ext cx="3654177" cy="14288"/>
          </a:xfrm>
          <a:prstGeom prst="rect">
            <a:avLst/>
          </a:prstGeom>
          <a:solidFill>
            <a:srgbClr val="FFE14D"/>
          </a:solidFill>
          <a:ln/>
        </p:spPr>
      </p:sp>
      <p:sp>
        <p:nvSpPr>
          <p:cNvPr id="10" name="Text 8"/>
          <p:cNvSpPr/>
          <p:nvPr/>
        </p:nvSpPr>
        <p:spPr>
          <a:xfrm>
            <a:off x="4612332"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Problem Statement</a:t>
            </a:r>
            <a:endParaRPr lang="en-US" sz="1400" dirty="0">
              <a:latin typeface="Arial" panose="020B0604020202020204" pitchFamily="34" charset="0"/>
            </a:endParaRPr>
          </a:p>
        </p:txBody>
      </p:sp>
      <p:sp>
        <p:nvSpPr>
          <p:cNvPr id="11" name="Text 9"/>
          <p:cNvSpPr/>
          <p:nvPr/>
        </p:nvSpPr>
        <p:spPr>
          <a:xfrm>
            <a:off x="4612332"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Key business challenges</a:t>
            </a:r>
            <a:endParaRPr lang="en-US" sz="1200" dirty="0">
              <a:latin typeface="Arial" panose="020B0604020202020204" pitchFamily="34" charset="0"/>
            </a:endParaRPr>
          </a:p>
        </p:txBody>
      </p:sp>
      <p:sp>
        <p:nvSpPr>
          <p:cNvPr id="12" name="Text 10"/>
          <p:cNvSpPr/>
          <p:nvPr/>
        </p:nvSpPr>
        <p:spPr>
          <a:xfrm>
            <a:off x="877491"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03</a:t>
            </a:r>
            <a:endParaRPr lang="en-US" sz="1200" dirty="0">
              <a:latin typeface="Arial" panose="020B0604020202020204" pitchFamily="34" charset="0"/>
            </a:endParaRPr>
          </a:p>
        </p:txBody>
      </p:sp>
      <p:sp>
        <p:nvSpPr>
          <p:cNvPr id="13" name="Shape 11"/>
          <p:cNvSpPr/>
          <p:nvPr/>
        </p:nvSpPr>
        <p:spPr>
          <a:xfrm>
            <a:off x="877491" y="2074143"/>
            <a:ext cx="3654177" cy="14288"/>
          </a:xfrm>
          <a:prstGeom prst="rect">
            <a:avLst/>
          </a:prstGeom>
          <a:solidFill>
            <a:srgbClr val="FFE14D"/>
          </a:solidFill>
          <a:ln/>
        </p:spPr>
      </p:sp>
      <p:sp>
        <p:nvSpPr>
          <p:cNvPr id="14" name="Text 12"/>
          <p:cNvSpPr/>
          <p:nvPr/>
        </p:nvSpPr>
        <p:spPr>
          <a:xfrm>
            <a:off x="877491"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Project Objectives</a:t>
            </a:r>
            <a:endParaRPr lang="en-US" sz="1400" dirty="0">
              <a:latin typeface="Arial" panose="020B0604020202020204" pitchFamily="34" charset="0"/>
            </a:endParaRPr>
          </a:p>
        </p:txBody>
      </p:sp>
      <p:sp>
        <p:nvSpPr>
          <p:cNvPr id="15" name="Text 13"/>
          <p:cNvSpPr/>
          <p:nvPr/>
        </p:nvSpPr>
        <p:spPr>
          <a:xfrm>
            <a:off x="877491"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What we set out to achieve</a:t>
            </a:r>
            <a:endParaRPr lang="en-US" sz="1200" dirty="0">
              <a:latin typeface="Arial" panose="020B0604020202020204" pitchFamily="34" charset="0"/>
            </a:endParaRPr>
          </a:p>
        </p:txBody>
      </p:sp>
      <p:sp>
        <p:nvSpPr>
          <p:cNvPr id="16" name="Text 14"/>
          <p:cNvSpPr/>
          <p:nvPr/>
        </p:nvSpPr>
        <p:spPr>
          <a:xfrm>
            <a:off x="4612332"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04</a:t>
            </a:r>
            <a:endParaRPr lang="en-US" sz="1200" dirty="0">
              <a:latin typeface="Arial" panose="020B0604020202020204" pitchFamily="34" charset="0"/>
            </a:endParaRPr>
          </a:p>
        </p:txBody>
      </p:sp>
      <p:sp>
        <p:nvSpPr>
          <p:cNvPr id="17" name="Shape 15"/>
          <p:cNvSpPr/>
          <p:nvPr/>
        </p:nvSpPr>
        <p:spPr>
          <a:xfrm>
            <a:off x="4612332" y="2074143"/>
            <a:ext cx="3654177" cy="14288"/>
          </a:xfrm>
          <a:prstGeom prst="rect">
            <a:avLst/>
          </a:prstGeom>
          <a:solidFill>
            <a:srgbClr val="FFE14D"/>
          </a:solidFill>
          <a:ln/>
        </p:spPr>
      </p:sp>
      <p:sp>
        <p:nvSpPr>
          <p:cNvPr id="18" name="Text 16"/>
          <p:cNvSpPr/>
          <p:nvPr/>
        </p:nvSpPr>
        <p:spPr>
          <a:xfrm>
            <a:off x="4612332"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Architecture</a:t>
            </a:r>
            <a:endParaRPr lang="en-US" sz="1400" dirty="0">
              <a:latin typeface="Arial" panose="020B0604020202020204" pitchFamily="34" charset="0"/>
            </a:endParaRPr>
          </a:p>
        </p:txBody>
      </p:sp>
      <p:sp>
        <p:nvSpPr>
          <p:cNvPr id="19" name="Text 17"/>
          <p:cNvSpPr/>
          <p:nvPr/>
        </p:nvSpPr>
        <p:spPr>
          <a:xfrm>
            <a:off x="4612332"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Technology stack &amp; pipeline</a:t>
            </a:r>
            <a:endParaRPr lang="en-US" sz="1200" dirty="0">
              <a:latin typeface="Arial" panose="020B0604020202020204" pitchFamily="34" charset="0"/>
            </a:endParaRPr>
          </a:p>
        </p:txBody>
      </p:sp>
      <p:sp>
        <p:nvSpPr>
          <p:cNvPr id="20" name="Text 18"/>
          <p:cNvSpPr/>
          <p:nvPr/>
        </p:nvSpPr>
        <p:spPr>
          <a:xfrm>
            <a:off x="877491"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05</a:t>
            </a:r>
            <a:endParaRPr lang="en-US" sz="1200" dirty="0">
              <a:latin typeface="Arial" panose="020B0604020202020204" pitchFamily="34" charset="0"/>
            </a:endParaRPr>
          </a:p>
        </p:txBody>
      </p:sp>
      <p:sp>
        <p:nvSpPr>
          <p:cNvPr id="21" name="Shape 19"/>
          <p:cNvSpPr/>
          <p:nvPr/>
        </p:nvSpPr>
        <p:spPr>
          <a:xfrm>
            <a:off x="877491" y="2823567"/>
            <a:ext cx="3654177" cy="14288"/>
          </a:xfrm>
          <a:prstGeom prst="rect">
            <a:avLst/>
          </a:prstGeom>
          <a:solidFill>
            <a:srgbClr val="FFE14D"/>
          </a:solidFill>
          <a:ln/>
        </p:spPr>
      </p:sp>
      <p:sp>
        <p:nvSpPr>
          <p:cNvPr id="22" name="Text 20"/>
          <p:cNvSpPr/>
          <p:nvPr/>
        </p:nvSpPr>
        <p:spPr>
          <a:xfrm>
            <a:off x="877491" y="2904827"/>
            <a:ext cx="197308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1400" dirty="0">
              <a:latin typeface="Arial" panose="020B0604020202020204" pitchFamily="34" charset="0"/>
            </a:endParaRPr>
          </a:p>
        </p:txBody>
      </p:sp>
      <p:sp>
        <p:nvSpPr>
          <p:cNvPr id="23" name="Text 21"/>
          <p:cNvSpPr/>
          <p:nvPr/>
        </p:nvSpPr>
        <p:spPr>
          <a:xfrm>
            <a:off x="877491"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Preparing raw data for analysis</a:t>
            </a:r>
            <a:endParaRPr lang="en-US" sz="1200" dirty="0">
              <a:latin typeface="Arial" panose="020B0604020202020204" pitchFamily="34" charset="0"/>
            </a:endParaRPr>
          </a:p>
        </p:txBody>
      </p:sp>
      <p:sp>
        <p:nvSpPr>
          <p:cNvPr id="24" name="Text 22"/>
          <p:cNvSpPr/>
          <p:nvPr/>
        </p:nvSpPr>
        <p:spPr>
          <a:xfrm>
            <a:off x="4612332"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06</a:t>
            </a:r>
            <a:endParaRPr lang="en-US" sz="1200" dirty="0">
              <a:latin typeface="Arial" panose="020B0604020202020204" pitchFamily="34" charset="0"/>
            </a:endParaRPr>
          </a:p>
        </p:txBody>
      </p:sp>
      <p:sp>
        <p:nvSpPr>
          <p:cNvPr id="25" name="Shape 23"/>
          <p:cNvSpPr/>
          <p:nvPr/>
        </p:nvSpPr>
        <p:spPr>
          <a:xfrm>
            <a:off x="4612332" y="2823567"/>
            <a:ext cx="3654177" cy="14288"/>
          </a:xfrm>
          <a:prstGeom prst="rect">
            <a:avLst/>
          </a:prstGeom>
          <a:solidFill>
            <a:srgbClr val="FFE14D"/>
          </a:solidFill>
          <a:ln/>
        </p:spPr>
      </p:sp>
      <p:sp>
        <p:nvSpPr>
          <p:cNvPr id="26" name="Text 24"/>
          <p:cNvSpPr/>
          <p:nvPr/>
        </p:nvSpPr>
        <p:spPr>
          <a:xfrm>
            <a:off x="4612332" y="2904827"/>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a:t>
            </a:r>
            <a:endParaRPr lang="en-US" sz="1400" dirty="0">
              <a:latin typeface="Arial" panose="020B0604020202020204" pitchFamily="34" charset="0"/>
            </a:endParaRPr>
          </a:p>
        </p:txBody>
      </p:sp>
      <p:sp>
        <p:nvSpPr>
          <p:cNvPr id="27" name="Text 25"/>
          <p:cNvSpPr/>
          <p:nvPr/>
        </p:nvSpPr>
        <p:spPr>
          <a:xfrm>
            <a:off x="4612332"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Star Schema design</a:t>
            </a:r>
            <a:endParaRPr lang="en-US" sz="1200" dirty="0">
              <a:latin typeface="Arial" panose="020B0604020202020204" pitchFamily="34" charset="0"/>
            </a:endParaRPr>
          </a:p>
        </p:txBody>
      </p:sp>
      <p:sp>
        <p:nvSpPr>
          <p:cNvPr id="28" name="Text 26"/>
          <p:cNvSpPr/>
          <p:nvPr/>
        </p:nvSpPr>
        <p:spPr>
          <a:xfrm>
            <a:off x="877491"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07</a:t>
            </a:r>
            <a:endParaRPr lang="en-US" sz="1200" dirty="0">
              <a:latin typeface="Arial" panose="020B0604020202020204" pitchFamily="34" charset="0"/>
            </a:endParaRPr>
          </a:p>
        </p:txBody>
      </p:sp>
      <p:sp>
        <p:nvSpPr>
          <p:cNvPr id="29" name="Shape 27"/>
          <p:cNvSpPr/>
          <p:nvPr/>
        </p:nvSpPr>
        <p:spPr>
          <a:xfrm>
            <a:off x="877491" y="3572991"/>
            <a:ext cx="3654177" cy="14288"/>
          </a:xfrm>
          <a:prstGeom prst="rect">
            <a:avLst/>
          </a:prstGeom>
          <a:solidFill>
            <a:srgbClr val="FFE14D"/>
          </a:solidFill>
          <a:ln/>
        </p:spPr>
      </p:sp>
      <p:sp>
        <p:nvSpPr>
          <p:cNvPr id="30" name="Text 28"/>
          <p:cNvSpPr/>
          <p:nvPr/>
        </p:nvSpPr>
        <p:spPr>
          <a:xfrm>
            <a:off x="877491" y="3654251"/>
            <a:ext cx="1376958"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SQL Business Analysis</a:t>
            </a:r>
            <a:endParaRPr lang="en-US" sz="1400" dirty="0">
              <a:latin typeface="Arial" panose="020B0604020202020204" pitchFamily="34" charset="0"/>
            </a:endParaRPr>
          </a:p>
        </p:txBody>
      </p:sp>
      <p:sp>
        <p:nvSpPr>
          <p:cNvPr id="31" name="Text 29"/>
          <p:cNvSpPr/>
          <p:nvPr/>
        </p:nvSpPr>
        <p:spPr>
          <a:xfrm>
            <a:off x="877491"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solved</a:t>
            </a:r>
            <a:endParaRPr lang="en-US" sz="1200" dirty="0">
              <a:latin typeface="Arial" panose="020B0604020202020204" pitchFamily="34" charset="0"/>
            </a:endParaRPr>
          </a:p>
        </p:txBody>
      </p:sp>
      <p:sp>
        <p:nvSpPr>
          <p:cNvPr id="32" name="Text 30"/>
          <p:cNvSpPr/>
          <p:nvPr/>
        </p:nvSpPr>
        <p:spPr>
          <a:xfrm>
            <a:off x="4612332"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08</a:t>
            </a:r>
            <a:endParaRPr lang="en-US" sz="1200" dirty="0">
              <a:latin typeface="Arial" panose="020B0604020202020204" pitchFamily="34" charset="0"/>
            </a:endParaRPr>
          </a:p>
        </p:txBody>
      </p:sp>
      <p:sp>
        <p:nvSpPr>
          <p:cNvPr id="33" name="Shape 31"/>
          <p:cNvSpPr/>
          <p:nvPr/>
        </p:nvSpPr>
        <p:spPr>
          <a:xfrm>
            <a:off x="4612332" y="3572991"/>
            <a:ext cx="3654177" cy="14288"/>
          </a:xfrm>
          <a:prstGeom prst="rect">
            <a:avLst/>
          </a:prstGeom>
          <a:solidFill>
            <a:srgbClr val="FFE14D"/>
          </a:solidFill>
          <a:ln/>
        </p:spPr>
      </p:sp>
      <p:sp>
        <p:nvSpPr>
          <p:cNvPr id="34" name="Text 32"/>
          <p:cNvSpPr/>
          <p:nvPr/>
        </p:nvSpPr>
        <p:spPr>
          <a:xfrm>
            <a:off x="4612332" y="3654251"/>
            <a:ext cx="129993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a:t>
            </a:r>
            <a:endParaRPr lang="en-US" sz="1400" dirty="0">
              <a:latin typeface="Arial" panose="020B0604020202020204" pitchFamily="34" charset="0"/>
            </a:endParaRPr>
          </a:p>
        </p:txBody>
      </p:sp>
      <p:sp>
        <p:nvSpPr>
          <p:cNvPr id="35" name="Text 33"/>
          <p:cNvSpPr/>
          <p:nvPr/>
        </p:nvSpPr>
        <p:spPr>
          <a:xfrm>
            <a:off x="4612332"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 reporting</a:t>
            </a:r>
            <a:endParaRPr lang="en-US" sz="1200" dirty="0">
              <a:latin typeface="Arial" panose="020B0604020202020204" pitchFamily="34" charset="0"/>
            </a:endParaRPr>
          </a:p>
        </p:txBody>
      </p:sp>
      <p:sp>
        <p:nvSpPr>
          <p:cNvPr id="36" name="Text 34"/>
          <p:cNvSpPr/>
          <p:nvPr/>
        </p:nvSpPr>
        <p:spPr>
          <a:xfrm>
            <a:off x="877491"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09</a:t>
            </a:r>
            <a:endParaRPr lang="en-US" sz="1200" dirty="0">
              <a:latin typeface="Arial" panose="020B0604020202020204" pitchFamily="34" charset="0"/>
            </a:endParaRPr>
          </a:p>
        </p:txBody>
      </p:sp>
      <p:sp>
        <p:nvSpPr>
          <p:cNvPr id="37" name="Shape 35"/>
          <p:cNvSpPr/>
          <p:nvPr/>
        </p:nvSpPr>
        <p:spPr>
          <a:xfrm>
            <a:off x="877491" y="4322415"/>
            <a:ext cx="3654177" cy="14288"/>
          </a:xfrm>
          <a:prstGeom prst="rect">
            <a:avLst/>
          </a:prstGeom>
          <a:solidFill>
            <a:srgbClr val="FFE14D"/>
          </a:solidFill>
          <a:ln/>
        </p:spPr>
      </p:sp>
      <p:sp>
        <p:nvSpPr>
          <p:cNvPr id="38" name="Text 36"/>
          <p:cNvSpPr/>
          <p:nvPr/>
        </p:nvSpPr>
        <p:spPr>
          <a:xfrm>
            <a:off x="877491" y="4403675"/>
            <a:ext cx="2010891"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Key Insights &amp; Recommendations</a:t>
            </a:r>
            <a:endParaRPr lang="en-US" sz="1400" dirty="0">
              <a:latin typeface="Arial" panose="020B0604020202020204" pitchFamily="34" charset="0"/>
            </a:endParaRPr>
          </a:p>
        </p:txBody>
      </p:sp>
      <p:sp>
        <p:nvSpPr>
          <p:cNvPr id="39" name="Text 37"/>
          <p:cNvSpPr/>
          <p:nvPr/>
        </p:nvSpPr>
        <p:spPr>
          <a:xfrm>
            <a:off x="877491"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Findings and next steps</a:t>
            </a:r>
            <a:endParaRPr lang="en-US" sz="1200" dirty="0">
              <a:latin typeface="Arial" panose="020B0604020202020204" pitchFamily="34" charset="0"/>
            </a:endParaRPr>
          </a:p>
        </p:txBody>
      </p:sp>
      <p:sp>
        <p:nvSpPr>
          <p:cNvPr id="40" name="Text 38"/>
          <p:cNvSpPr/>
          <p:nvPr/>
        </p:nvSpPr>
        <p:spPr>
          <a:xfrm>
            <a:off x="4612332"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10</a:t>
            </a:r>
            <a:endParaRPr lang="en-US" sz="1200" dirty="0">
              <a:latin typeface="Arial" panose="020B0604020202020204" pitchFamily="34" charset="0"/>
            </a:endParaRPr>
          </a:p>
        </p:txBody>
      </p:sp>
      <p:sp>
        <p:nvSpPr>
          <p:cNvPr id="41" name="Shape 39"/>
          <p:cNvSpPr/>
          <p:nvPr/>
        </p:nvSpPr>
        <p:spPr>
          <a:xfrm>
            <a:off x="4612332" y="4322415"/>
            <a:ext cx="3654177" cy="14288"/>
          </a:xfrm>
          <a:prstGeom prst="rect">
            <a:avLst/>
          </a:prstGeom>
          <a:solidFill>
            <a:srgbClr val="FFE14D"/>
          </a:solidFill>
          <a:ln/>
        </p:spPr>
      </p:sp>
      <p:sp>
        <p:nvSpPr>
          <p:cNvPr id="42" name="Text 40"/>
          <p:cNvSpPr/>
          <p:nvPr/>
        </p:nvSpPr>
        <p:spPr>
          <a:xfrm>
            <a:off x="4612332" y="4403675"/>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Conclusion</a:t>
            </a:r>
            <a:endParaRPr lang="en-US" sz="1400" dirty="0">
              <a:latin typeface="Arial" panose="020B0604020202020204" pitchFamily="34" charset="0"/>
            </a:endParaRPr>
          </a:p>
        </p:txBody>
      </p:sp>
      <p:sp>
        <p:nvSpPr>
          <p:cNvPr id="43" name="Text 41"/>
          <p:cNvSpPr/>
          <p:nvPr/>
        </p:nvSpPr>
        <p:spPr>
          <a:xfrm>
            <a:off x="4612332"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Project summary</a:t>
            </a:r>
            <a:endParaRPr lang="en-US" sz="12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304800" y="-72730"/>
            <a:ext cx="3277791" cy="305967"/>
          </a:xfrm>
          <a:prstGeom prst="rect">
            <a:avLst/>
          </a:prstGeom>
          <a:noFill/>
          <a:ln/>
        </p:spPr>
        <p:txBody>
          <a:bodyPr wrap="none" lIns="0" tIns="0" rIns="0" bIns="0" rtlCol="0" anchor="t"/>
          <a:lstStyle/>
          <a:p>
            <a:pPr marL="0" indent="0" algn="l">
              <a:lnSpc>
                <a:spcPct val="104000"/>
              </a:lnSpc>
              <a:buNone/>
            </a:pPr>
            <a:r>
              <a:rPr lang="en-US" sz="2000" b="1" dirty="0">
                <a:solidFill>
                  <a:srgbClr val="FFE14D"/>
                </a:solidFill>
                <a:latin typeface="Arial" panose="020B0604020202020204" pitchFamily="34" charset="0"/>
                <a:ea typeface="Calibri" panose="020F0502020204030204" pitchFamily="34" charset="0"/>
                <a:cs typeface="Arial" panose="020B0604020202020204" pitchFamily="34" charset="0"/>
              </a:rPr>
              <a:t>Business</a:t>
            </a: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 </a:t>
            </a:r>
            <a:r>
              <a:rPr lang="en-US" sz="2000" b="1" dirty="0">
                <a:solidFill>
                  <a:srgbClr val="FFE14D"/>
                </a:solidFill>
                <a:latin typeface="Arial" panose="020B0604020202020204" pitchFamily="34" charset="0"/>
                <a:ea typeface="Calibri" panose="020F0502020204030204" pitchFamily="34" charset="0"/>
                <a:cs typeface="Arial" panose="020B0604020202020204" pitchFamily="34" charset="0"/>
              </a:rPr>
              <a:t>Overview</a:t>
            </a:r>
            <a:endParaRPr lang="en-US" sz="3600" dirty="0">
              <a:latin typeface="Arial" panose="020B0604020202020204" pitchFamily="34" charset="0"/>
            </a:endParaRPr>
          </a:p>
        </p:txBody>
      </p:sp>
      <p:sp>
        <p:nvSpPr>
          <p:cNvPr id="4" name="Text 1"/>
          <p:cNvSpPr/>
          <p:nvPr/>
        </p:nvSpPr>
        <p:spPr>
          <a:xfrm>
            <a:off x="301452" y="484701"/>
            <a:ext cx="2370683" cy="176213"/>
          </a:xfrm>
          <a:prstGeom prst="rect">
            <a:avLst/>
          </a:prstGeom>
          <a:noFill/>
          <a:ln/>
        </p:spPr>
        <p:txBody>
          <a:bodyPr wrap="none" lIns="0" tIns="0" rIns="0" bIns="0" rtlCol="0" anchor="t"/>
          <a:lstStyle/>
          <a:p>
            <a:pPr marL="0" indent="0" algn="l">
              <a:lnSpc>
                <a:spcPct val="104000"/>
              </a:lnSpc>
              <a:buNone/>
            </a:pPr>
            <a:r>
              <a:rPr lang="en-US" sz="1400" dirty="0">
                <a:solidFill>
                  <a:srgbClr val="FFE14D"/>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sz="1400" dirty="0">
              <a:latin typeface="Arial" panose="020B0604020202020204" pitchFamily="34" charset="0"/>
            </a:endParaRPr>
          </a:p>
        </p:txBody>
      </p:sp>
      <p:sp>
        <p:nvSpPr>
          <p:cNvPr id="5" name="Text 2"/>
          <p:cNvSpPr/>
          <p:nvPr/>
        </p:nvSpPr>
        <p:spPr>
          <a:xfrm>
            <a:off x="243840" y="731086"/>
            <a:ext cx="5334000" cy="1157801"/>
          </a:xfrm>
          <a:prstGeom prst="rect">
            <a:avLst/>
          </a:prstGeom>
          <a:noFill/>
          <a:ln/>
        </p:spPr>
        <p:txBody>
          <a:bodyPr wrap="square" lIns="0" tIns="0" rIns="0" bIns="0" rtlCol="0" anchor="t">
            <a:noAutofit/>
          </a:bodyPr>
          <a:lstStyle/>
          <a:p>
            <a:pPr marL="0" indent="0" algn="l">
              <a:lnSpc>
                <a:spcPct val="12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 Jewellers is a multi-branch jewellery retail business offering Gold, Diamond and Silver products. The business handles sales, returns, and old gold buy-back transactions, serving thousands of customers across multiple branches.</a:t>
            </a:r>
            <a:endParaRPr lang="en-US" sz="1400" dirty="0">
              <a:latin typeface="Arial" panose="020B0604020202020204" pitchFamily="34" charset="0"/>
            </a:endParaRPr>
          </a:p>
        </p:txBody>
      </p:sp>
      <p:sp>
        <p:nvSpPr>
          <p:cNvPr id="6" name="Shape 3"/>
          <p:cNvSpPr/>
          <p:nvPr/>
        </p:nvSpPr>
        <p:spPr>
          <a:xfrm>
            <a:off x="353786" y="2125543"/>
            <a:ext cx="2266014" cy="1199218"/>
          </a:xfrm>
          <a:prstGeom prst="roundRect">
            <a:avLst>
              <a:gd name="adj" fmla="val 21384"/>
            </a:avLst>
          </a:prstGeom>
          <a:solidFill>
            <a:srgbClr val="46464A"/>
          </a:solidFill>
          <a:ln/>
        </p:spPr>
      </p:sp>
      <p:sp>
        <p:nvSpPr>
          <p:cNvPr id="7" name="Text 4"/>
          <p:cNvSpPr/>
          <p:nvPr/>
        </p:nvSpPr>
        <p:spPr>
          <a:xfrm>
            <a:off x="634529" y="2215083"/>
            <a:ext cx="1410295" cy="176213"/>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a:t>
            </a: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 Range</a:t>
            </a:r>
            <a:endParaRPr lang="en-US" dirty="0">
              <a:latin typeface="Arial" panose="020B0604020202020204" pitchFamily="34" charset="0"/>
            </a:endParaRPr>
          </a:p>
        </p:txBody>
      </p:sp>
      <p:sp>
        <p:nvSpPr>
          <p:cNvPr id="8" name="Text 5"/>
          <p:cNvSpPr/>
          <p:nvPr/>
        </p:nvSpPr>
        <p:spPr>
          <a:xfrm>
            <a:off x="502630" y="2521702"/>
            <a:ext cx="2037606" cy="695251"/>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Diamond, Silver &amp; Platinum jewellery across all branches</a:t>
            </a:r>
            <a:endParaRPr lang="en-US" sz="1200" dirty="0">
              <a:latin typeface="Arial" panose="020B0604020202020204" pitchFamily="34" charset="0"/>
            </a:endParaRPr>
          </a:p>
        </p:txBody>
      </p:sp>
      <p:sp>
        <p:nvSpPr>
          <p:cNvPr id="9" name="Shape 6"/>
          <p:cNvSpPr/>
          <p:nvPr/>
        </p:nvSpPr>
        <p:spPr>
          <a:xfrm>
            <a:off x="2915989" y="2088207"/>
            <a:ext cx="2266014" cy="1228876"/>
          </a:xfrm>
          <a:prstGeom prst="roundRect">
            <a:avLst>
              <a:gd name="adj" fmla="val 21384"/>
            </a:avLst>
          </a:prstGeom>
          <a:solidFill>
            <a:srgbClr val="46464A"/>
          </a:solidFill>
          <a:ln/>
        </p:spPr>
      </p:sp>
      <p:sp>
        <p:nvSpPr>
          <p:cNvPr id="10" name="Text 7"/>
          <p:cNvSpPr/>
          <p:nvPr/>
        </p:nvSpPr>
        <p:spPr>
          <a:xfrm>
            <a:off x="3042865" y="2125543"/>
            <a:ext cx="1410295" cy="265753"/>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Transaction Types</a:t>
            </a:r>
            <a:endParaRPr lang="en-US" sz="1600" dirty="0">
              <a:latin typeface="Arial" panose="020B0604020202020204" pitchFamily="34" charset="0"/>
            </a:endParaRPr>
          </a:p>
        </p:txBody>
      </p:sp>
      <p:sp>
        <p:nvSpPr>
          <p:cNvPr id="11" name="Text 8"/>
          <p:cNvSpPr/>
          <p:nvPr/>
        </p:nvSpPr>
        <p:spPr>
          <a:xfrm>
            <a:off x="3042865" y="2461468"/>
            <a:ext cx="2037606" cy="763633"/>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Sales, returns, and old gold buy-back activities managed centrally</a:t>
            </a:r>
            <a:endParaRPr lang="en-US" sz="1200" dirty="0">
              <a:latin typeface="Arial" panose="020B0604020202020204" pitchFamily="34" charset="0"/>
            </a:endParaRPr>
          </a:p>
        </p:txBody>
      </p:sp>
      <p:sp>
        <p:nvSpPr>
          <p:cNvPr id="12" name="Shape 9"/>
          <p:cNvSpPr/>
          <p:nvPr/>
        </p:nvSpPr>
        <p:spPr>
          <a:xfrm>
            <a:off x="528488" y="3424421"/>
            <a:ext cx="4699695" cy="695251"/>
          </a:xfrm>
          <a:prstGeom prst="roundRect">
            <a:avLst>
              <a:gd name="adj" fmla="val 27385"/>
            </a:avLst>
          </a:prstGeom>
          <a:solidFill>
            <a:srgbClr val="46464A"/>
          </a:solidFill>
          <a:ln/>
        </p:spPr>
      </p:sp>
      <p:sp>
        <p:nvSpPr>
          <p:cNvPr id="13" name="Text 10"/>
          <p:cNvSpPr/>
          <p:nvPr/>
        </p:nvSpPr>
        <p:spPr>
          <a:xfrm>
            <a:off x="634528" y="3504011"/>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Customer Base</a:t>
            </a:r>
            <a:endParaRPr lang="en-US" dirty="0">
              <a:latin typeface="Arial" panose="020B0604020202020204" pitchFamily="34" charset="0"/>
            </a:endParaRPr>
          </a:p>
        </p:txBody>
      </p:sp>
      <p:sp>
        <p:nvSpPr>
          <p:cNvPr id="14" name="Text 11"/>
          <p:cNvSpPr/>
          <p:nvPr/>
        </p:nvSpPr>
        <p:spPr>
          <a:xfrm>
            <a:off x="634529" y="3759814"/>
            <a:ext cx="4445943" cy="252520"/>
          </a:xfrm>
          <a:prstGeom prst="rect">
            <a:avLst/>
          </a:prstGeom>
          <a:noFill/>
          <a:ln/>
        </p:spPr>
        <p:txBody>
          <a:bodyPr wrap="none" lIns="0" tIns="0" rIns="0" bIns="0" rtlCol="0" anchor="t"/>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Thousands of customers served across multiple retail </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branches</a:t>
            </a:r>
            <a:endParaRPr lang="en-US" sz="1200" dirty="0">
              <a:latin typeface="Arial" panose="020B0604020202020204" pitchFamily="34" charset="0"/>
            </a:endParaRPr>
          </a:p>
        </p:txBody>
      </p:sp>
      <p:sp>
        <p:nvSpPr>
          <p:cNvPr id="15" name="Shape 12"/>
          <p:cNvSpPr/>
          <p:nvPr/>
        </p:nvSpPr>
        <p:spPr>
          <a:xfrm>
            <a:off x="482308" y="4318992"/>
            <a:ext cx="4699695" cy="664220"/>
          </a:xfrm>
          <a:prstGeom prst="roundRect">
            <a:avLst>
              <a:gd name="adj" fmla="val 28664"/>
            </a:avLst>
          </a:prstGeom>
          <a:solidFill>
            <a:srgbClr val="4D4000"/>
          </a:solidFill>
          <a:ln/>
        </p:spPr>
      </p:sp>
      <p:pic>
        <p:nvPicPr>
          <p:cNvPr id="16" name="Image 1" descr="preencoded.png"/>
          <p:cNvPicPr>
            <a:picLocks noChangeAspect="1"/>
          </p:cNvPicPr>
          <p:nvPr/>
        </p:nvPicPr>
        <p:blipFill>
          <a:blip r:embed="rId4"/>
          <a:stretch>
            <a:fillRect/>
          </a:stretch>
        </p:blipFill>
        <p:spPr>
          <a:xfrm>
            <a:off x="634529" y="4541938"/>
            <a:ext cx="158651" cy="126876"/>
          </a:xfrm>
          <a:prstGeom prst="rect">
            <a:avLst/>
          </a:prstGeom>
        </p:spPr>
      </p:pic>
      <p:sp>
        <p:nvSpPr>
          <p:cNvPr id="17" name="Text 13"/>
          <p:cNvSpPr/>
          <p:nvPr/>
        </p:nvSpPr>
        <p:spPr>
          <a:xfrm>
            <a:off x="894710" y="4318993"/>
            <a:ext cx="4160416" cy="527224"/>
          </a:xfrm>
          <a:prstGeom prst="rect">
            <a:avLst/>
          </a:prstGeom>
          <a:noFill/>
          <a:ln/>
        </p:spPr>
        <p:txBody>
          <a:bodyPr wrap="square" lIns="0" tIns="0" rIns="0" bIns="0" rtlCol="0" anchor="t">
            <a:normAutofit/>
          </a:bodyPr>
          <a:lstStyle/>
          <a:p>
            <a:pPr marL="0" indent="0" algn="l">
              <a:lnSpc>
                <a:spcPct val="128000"/>
              </a:lnSpc>
              <a:buNone/>
            </a:pPr>
            <a:r>
              <a:rPr lang="en-US" sz="1400" b="1" dirty="0">
                <a:solidFill>
                  <a:srgbClr val="FFFFFF"/>
                </a:solidFill>
                <a:latin typeface="Arial" panose="020B0604020202020204" pitchFamily="34" charset="0"/>
                <a:ea typeface="Calibri" panose="020F0502020204030204" pitchFamily="34" charset="0"/>
                <a:cs typeface="Arial" panose="020B0604020202020204" pitchFamily="34" charset="0"/>
              </a:rPr>
              <a:t>Purpose:</a:t>
            </a:r>
            <a:r>
              <a:rPr lang="en-US" sz="1400" dirty="0">
                <a:solidFill>
                  <a:srgbClr val="FFFFFF"/>
                </a:solidFill>
                <a:latin typeface="Arial" panose="020B0604020202020204" pitchFamily="34" charset="0"/>
                <a:ea typeface="Calibri" panose="020F0502020204030204" pitchFamily="34" charset="0"/>
                <a:cs typeface="Arial" panose="020B0604020202020204" pitchFamily="34" charset="0"/>
              </a:rPr>
              <a:t> Convert raw transactional data into actionable business insights.</a:t>
            </a:r>
            <a:endParaRPr lang="en-US" sz="1400"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707115" y="46509"/>
            <a:ext cx="3229942" cy="346546"/>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Problem</a:t>
            </a: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 </a:t>
            </a: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Statement</a:t>
            </a:r>
            <a:endParaRPr lang="en-US" sz="3600" dirty="0">
              <a:latin typeface="Arial" panose="020B0604020202020204" pitchFamily="34" charset="0"/>
            </a:endParaRPr>
          </a:p>
        </p:txBody>
      </p:sp>
      <p:sp>
        <p:nvSpPr>
          <p:cNvPr id="4" name="Text 1"/>
          <p:cNvSpPr/>
          <p:nvPr/>
        </p:nvSpPr>
        <p:spPr>
          <a:xfrm>
            <a:off x="3707115" y="558814"/>
            <a:ext cx="1951583" cy="173236"/>
          </a:xfrm>
          <a:prstGeom prst="rect">
            <a:avLst/>
          </a:prstGeom>
          <a:noFill/>
          <a:ln/>
        </p:spPr>
        <p:txBody>
          <a:bodyPr wrap="none" lIns="0" tIns="0" rIns="0" bIns="0" rtlCol="0" anchor="t"/>
          <a:lstStyle/>
          <a:p>
            <a:pPr marL="0" indent="0" algn="l">
              <a:lnSpc>
                <a:spcPct val="104000"/>
              </a:lnSpc>
              <a:buNone/>
            </a:pPr>
            <a:r>
              <a:rPr lang="en-US" sz="1600" dirty="0">
                <a:solidFill>
                  <a:srgbClr val="FFE14D"/>
                </a:solidFill>
                <a:latin typeface="Arial" panose="020B0604020202020204" pitchFamily="34" charset="0"/>
                <a:ea typeface="Calibri" panose="020F0502020204030204" pitchFamily="34" charset="0"/>
                <a:cs typeface="Arial" panose="020B0604020202020204" pitchFamily="34" charset="0"/>
              </a:rPr>
              <a:t>Business Challenges</a:t>
            </a:r>
            <a:endParaRPr lang="en-US" sz="1600" dirty="0">
              <a:latin typeface="Arial" panose="020B0604020202020204" pitchFamily="34" charset="0"/>
            </a:endParaRPr>
          </a:p>
        </p:txBody>
      </p:sp>
      <p:sp>
        <p:nvSpPr>
          <p:cNvPr id="5" name="Text 2"/>
          <p:cNvSpPr/>
          <p:nvPr/>
        </p:nvSpPr>
        <p:spPr>
          <a:xfrm>
            <a:off x="3779520" y="852563"/>
            <a:ext cx="5120640" cy="845864"/>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GoldVista's operations were constrained by manual processes and a lack of centralized visibility, making it difficult to monitor performance across branches, products, customers, and staff.</a:t>
            </a:r>
            <a:endParaRPr lang="en-US" sz="1400" dirty="0">
              <a:latin typeface="Arial" panose="020B0604020202020204" pitchFamily="34"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1825600"/>
            <a:ext cx="4731097" cy="899592"/>
          </a:xfrm>
          <a:prstGeom prst="rect">
            <a:avLst/>
          </a:prstGeom>
        </p:spPr>
      </p:pic>
      <p:sp>
        <p:nvSpPr>
          <p:cNvPr id="7" name="Text 3"/>
          <p:cNvSpPr/>
          <p:nvPr/>
        </p:nvSpPr>
        <p:spPr>
          <a:xfrm>
            <a:off x="4109963" y="1964606"/>
            <a:ext cx="151462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&amp; Visibility</a:t>
            </a:r>
            <a:endParaRPr lang="en-US" sz="1600" dirty="0">
              <a:latin typeface="Arial" panose="020B0604020202020204" pitchFamily="34" charset="0"/>
            </a:endParaRPr>
          </a:p>
        </p:txBody>
      </p:sp>
      <p:sp>
        <p:nvSpPr>
          <p:cNvPr id="8" name="Text 4"/>
          <p:cNvSpPr/>
          <p:nvPr/>
        </p:nvSpPr>
        <p:spPr>
          <a:xfrm>
            <a:off x="4109963" y="2205633"/>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Manual reporting processes with no centralized dashboard. Poor visibility into returns and buy-back activities across branches.</a:t>
            </a:r>
            <a:endParaRPr lang="en-US" sz="1200" dirty="0">
              <a:latin typeface="Arial" panose="020B0604020202020204" pitchFamily="34"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2838227"/>
            <a:ext cx="4731097" cy="899592"/>
          </a:xfrm>
          <a:prstGeom prst="rect">
            <a:avLst/>
          </a:prstGeom>
        </p:spPr>
      </p:pic>
      <p:sp>
        <p:nvSpPr>
          <p:cNvPr id="10" name="Text 5"/>
          <p:cNvSpPr/>
          <p:nvPr/>
        </p:nvSpPr>
        <p:spPr>
          <a:xfrm>
            <a:off x="4109963" y="2884460"/>
            <a:ext cx="1594172"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Performance Tracking</a:t>
            </a:r>
            <a:endParaRPr lang="en-US" sz="1600" dirty="0">
              <a:latin typeface="Arial" panose="020B0604020202020204" pitchFamily="34" charset="0"/>
            </a:endParaRPr>
          </a:p>
        </p:txBody>
      </p:sp>
      <p:sp>
        <p:nvSpPr>
          <p:cNvPr id="11" name="Text 6"/>
          <p:cNvSpPr/>
          <p:nvPr/>
        </p:nvSpPr>
        <p:spPr>
          <a:xfrm>
            <a:off x="4109963" y="3218259"/>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Difficulty comparing branch performance and monitoring individual salesperson effectiveness.</a:t>
            </a:r>
            <a:endParaRPr lang="en-US" sz="1200" dirty="0">
              <a:latin typeface="Arial" panose="020B0604020202020204" pitchFamily="34"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3850853"/>
            <a:ext cx="4731097" cy="899592"/>
          </a:xfrm>
          <a:prstGeom prst="rect">
            <a:avLst/>
          </a:prstGeom>
        </p:spPr>
      </p:pic>
      <p:sp>
        <p:nvSpPr>
          <p:cNvPr id="13" name="Text 7"/>
          <p:cNvSpPr/>
          <p:nvPr/>
        </p:nvSpPr>
        <p:spPr>
          <a:xfrm>
            <a:off x="4109963" y="3903241"/>
            <a:ext cx="138633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Analytics Gaps</a:t>
            </a:r>
            <a:endParaRPr lang="en-US" sz="1600" dirty="0">
              <a:latin typeface="Arial" panose="020B0604020202020204" pitchFamily="34" charset="0"/>
            </a:endParaRPr>
          </a:p>
        </p:txBody>
      </p:sp>
      <p:sp>
        <p:nvSpPr>
          <p:cNvPr id="14" name="Text 8"/>
          <p:cNvSpPr/>
          <p:nvPr/>
        </p:nvSpPr>
        <p:spPr>
          <a:xfrm>
            <a:off x="4109963" y="4230885"/>
            <a:ext cx="4395936" cy="519559"/>
          </a:xfrm>
          <a:prstGeom prst="rect">
            <a:avLst/>
          </a:prstGeom>
          <a:noFill/>
          <a:ln/>
        </p:spPr>
        <p:txBody>
          <a:bodyPr wrap="square" lIns="0" tIns="0" rIns="0" bIns="0" rtlCol="0" anchor="t">
            <a:norm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Limited customer analytics and no product performance tracking to guide business decisions.</a:t>
            </a:r>
            <a:endParaRPr lang="en-US" sz="1200"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0664" y="309311"/>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Project Objectives</a:t>
            </a:r>
            <a:endParaRPr lang="en-US" sz="3200" dirty="0">
              <a:latin typeface="Arial" panose="020B0604020202020204" pitchFamily="34" charset="0"/>
            </a:endParaRPr>
          </a:p>
        </p:txBody>
      </p:sp>
      <p:sp>
        <p:nvSpPr>
          <p:cNvPr id="3" name="Text 1"/>
          <p:cNvSpPr/>
          <p:nvPr/>
        </p:nvSpPr>
        <p:spPr>
          <a:xfrm>
            <a:off x="550664" y="1173481"/>
            <a:ext cx="8042672" cy="79767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project aimed to build a comprehensive BI solution addressing every layer of GoldVista's operations — from executive KPIs to frontline salesperson performance.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2126010"/>
            <a:ext cx="344165" cy="344165"/>
          </a:xfrm>
          <a:prstGeom prst="rect">
            <a:avLst/>
          </a:prstGeom>
        </p:spPr>
      </p:pic>
      <p:sp>
        <p:nvSpPr>
          <p:cNvPr id="5" name="Text 2"/>
          <p:cNvSpPr/>
          <p:nvPr/>
        </p:nvSpPr>
        <p:spPr>
          <a:xfrm>
            <a:off x="1066874" y="2126010"/>
            <a:ext cx="1773882"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Interactive BI Solution</a:t>
            </a:r>
            <a:endParaRPr lang="en-US" sz="1600" dirty="0">
              <a:latin typeface="Arial" panose="020B0604020202020204" pitchFamily="34" charset="0"/>
            </a:endParaRPr>
          </a:p>
        </p:txBody>
      </p:sp>
      <p:sp>
        <p:nvSpPr>
          <p:cNvPr id="6" name="Text 3"/>
          <p:cNvSpPr/>
          <p:nvPr/>
        </p:nvSpPr>
        <p:spPr>
          <a:xfrm>
            <a:off x="1066874" y="2399854"/>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Build an interactive BI solution to track executive KPIs and enable data-driven decision-making across the business.</a:t>
            </a:r>
            <a:endParaRPr lang="en-US" sz="12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2126010"/>
            <a:ext cx="344165" cy="344165"/>
          </a:xfrm>
          <a:prstGeom prst="rect">
            <a:avLst/>
          </a:prstGeom>
        </p:spPr>
      </p:pic>
      <p:sp>
        <p:nvSpPr>
          <p:cNvPr id="8" name="Text 4"/>
          <p:cNvSpPr/>
          <p:nvPr/>
        </p:nvSpPr>
        <p:spPr>
          <a:xfrm>
            <a:off x="5174233" y="2126010"/>
            <a:ext cx="2267843"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&amp; Customer Analysis</a:t>
            </a:r>
            <a:endParaRPr lang="en-US" sz="1600" dirty="0">
              <a:latin typeface="Arial" panose="020B0604020202020204" pitchFamily="34" charset="0"/>
            </a:endParaRPr>
          </a:p>
        </p:txBody>
      </p:sp>
      <p:sp>
        <p:nvSpPr>
          <p:cNvPr id="9" name="Text 5"/>
          <p:cNvSpPr/>
          <p:nvPr/>
        </p:nvSpPr>
        <p:spPr>
          <a:xfrm>
            <a:off x="5174233" y="2399854"/>
            <a:ext cx="3419103" cy="660797"/>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branch performance and understand customer behavior to identify trends and opportunities.</a:t>
            </a:r>
            <a:endParaRPr lang="en-US" sz="12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1066874" y="3335982"/>
            <a:ext cx="2393231"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&amp; Returns Monitoring</a:t>
            </a:r>
            <a:endParaRPr lang="en-US" sz="1600" dirty="0">
              <a:latin typeface="Arial" panose="020B0604020202020204" pitchFamily="34" charset="0"/>
            </a:endParaRPr>
          </a:p>
        </p:txBody>
      </p:sp>
      <p:sp>
        <p:nvSpPr>
          <p:cNvPr id="12" name="Text 7"/>
          <p:cNvSpPr/>
          <p:nvPr/>
        </p:nvSpPr>
        <p:spPr>
          <a:xfrm>
            <a:off x="1066874" y="3609826"/>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Evaluate product performance and monitor returns and buy-back trends to optimize inventory and operations.</a:t>
            </a:r>
            <a:endParaRPr lang="en-US" sz="12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5174233" y="3335982"/>
            <a:ext cx="2555156"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&amp; Salesperson Insights</a:t>
            </a:r>
            <a:endParaRPr lang="en-US" sz="1600" dirty="0">
              <a:latin typeface="Arial" panose="020B0604020202020204" pitchFamily="34" charset="0"/>
            </a:endParaRPr>
          </a:p>
        </p:txBody>
      </p:sp>
      <p:sp>
        <p:nvSpPr>
          <p:cNvPr id="15" name="Text 9"/>
          <p:cNvSpPr/>
          <p:nvPr/>
        </p:nvSpPr>
        <p:spPr>
          <a:xfrm>
            <a:off x="5174233" y="3609826"/>
            <a:ext cx="3419103" cy="440531"/>
          </a:xfrm>
          <a:prstGeom prst="rect">
            <a:avLst/>
          </a:prstGeom>
          <a:noFill/>
          <a:ln/>
        </p:spPr>
        <p:txBody>
          <a:bodyPr wrap="square" lIns="0" tIns="0" rIns="0" bIns="0" rtlCol="0" anchor="t">
            <a:normAutofit fontScale="925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payment method preferences and measure salesperson effectiveness across all branches.</a:t>
            </a:r>
            <a:endParaRPr lang="en-US" sz="12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3273" y="168770"/>
            <a:ext cx="3086546" cy="32861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Technology Stack</a:t>
            </a:r>
            <a:endParaRPr lang="en-US" sz="2800" dirty="0">
              <a:latin typeface="Arial" panose="020B0604020202020204" pitchFamily="34" charset="0"/>
            </a:endParaRPr>
          </a:p>
        </p:txBody>
      </p:sp>
      <p:sp>
        <p:nvSpPr>
          <p:cNvPr id="3" name="Text 1"/>
          <p:cNvSpPr/>
          <p:nvPr/>
        </p:nvSpPr>
        <p:spPr>
          <a:xfrm>
            <a:off x="473273" y="615701"/>
            <a:ext cx="8654653" cy="509439"/>
          </a:xfrm>
          <a:prstGeom prst="rect">
            <a:avLst/>
          </a:prstGeom>
          <a:noFill/>
          <a:ln/>
        </p:spPr>
        <p:txBody>
          <a:bodyPr wrap="none" lIns="0" tIns="0" rIns="0" bIns="0" rtlCol="0" anchor="t"/>
          <a:lstStyle/>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Each layer of the project leverages a purpose-built tool, forming a modern, end-to-end analytics pipeline from raw</a:t>
            </a:r>
          </a:p>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data to interactive dashboards.</a:t>
            </a:r>
            <a:endParaRPr lang="en-US" sz="1400" dirty="0">
              <a:latin typeface="Arial" panose="020B0604020202020204" pitchFamily="34" charset="0"/>
            </a:endParaRPr>
          </a:p>
        </p:txBody>
      </p:sp>
      <p:sp>
        <p:nvSpPr>
          <p:cNvPr id="4" name="Shape 2"/>
          <p:cNvSpPr/>
          <p:nvPr/>
        </p:nvSpPr>
        <p:spPr>
          <a:xfrm>
            <a:off x="473273" y="1239515"/>
            <a:ext cx="4047902" cy="1094482"/>
          </a:xfrm>
          <a:prstGeom prst="roundRect">
            <a:avLst>
              <a:gd name="adj" fmla="val 16216"/>
            </a:avLst>
          </a:prstGeom>
          <a:solidFill>
            <a:srgbClr val="46464A"/>
          </a:solidFill>
          <a:ln/>
        </p:spPr>
      </p:sp>
      <p:sp>
        <p:nvSpPr>
          <p:cNvPr id="5" name="Shape 3"/>
          <p:cNvSpPr/>
          <p:nvPr/>
        </p:nvSpPr>
        <p:spPr>
          <a:xfrm>
            <a:off x="591592" y="1357833"/>
            <a:ext cx="354955" cy="354955"/>
          </a:xfrm>
          <a:prstGeom prst="roundRect">
            <a:avLst>
              <a:gd name="adj" fmla="val 16099022"/>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23" y="1455390"/>
            <a:ext cx="159693" cy="159693"/>
          </a:xfrm>
          <a:prstGeom prst="rect">
            <a:avLst/>
          </a:prstGeom>
        </p:spPr>
      </p:pic>
      <p:sp>
        <p:nvSpPr>
          <p:cNvPr id="7" name="Text 4"/>
          <p:cNvSpPr/>
          <p:nvPr/>
        </p:nvSpPr>
        <p:spPr>
          <a:xfrm>
            <a:off x="591592"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100" dirty="0">
              <a:latin typeface="Arial" panose="020B0604020202020204" pitchFamily="34" charset="0"/>
            </a:endParaRPr>
          </a:p>
        </p:txBody>
      </p:sp>
      <p:sp>
        <p:nvSpPr>
          <p:cNvPr id="8" name="Text 5"/>
          <p:cNvSpPr/>
          <p:nvPr/>
        </p:nvSpPr>
        <p:spPr>
          <a:xfrm>
            <a:off x="591592"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Database layer for storing and querying transactional data</a:t>
            </a:r>
            <a:endParaRPr lang="en-US" sz="1050" dirty="0">
              <a:latin typeface="Arial" panose="020B0604020202020204" pitchFamily="34" charset="0"/>
            </a:endParaRPr>
          </a:p>
        </p:txBody>
      </p:sp>
      <p:sp>
        <p:nvSpPr>
          <p:cNvPr id="9" name="Shape 6"/>
          <p:cNvSpPr/>
          <p:nvPr/>
        </p:nvSpPr>
        <p:spPr>
          <a:xfrm>
            <a:off x="4622825" y="1239515"/>
            <a:ext cx="4047902" cy="1094482"/>
          </a:xfrm>
          <a:prstGeom prst="roundRect">
            <a:avLst>
              <a:gd name="adj" fmla="val 16216"/>
            </a:avLst>
          </a:prstGeom>
          <a:solidFill>
            <a:srgbClr val="46464A"/>
          </a:solidFill>
          <a:ln/>
        </p:spPr>
      </p:sp>
      <p:sp>
        <p:nvSpPr>
          <p:cNvPr id="10" name="Shape 7"/>
          <p:cNvSpPr/>
          <p:nvPr/>
        </p:nvSpPr>
        <p:spPr>
          <a:xfrm>
            <a:off x="4741143" y="1357833"/>
            <a:ext cx="354955" cy="354955"/>
          </a:xfrm>
          <a:prstGeom prst="roundRect">
            <a:avLst>
              <a:gd name="adj" fmla="val 16099022"/>
            </a:avLst>
          </a:prstGeom>
          <a:solidFill>
            <a:srgbClr val="FFE14D"/>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8774" y="1455390"/>
            <a:ext cx="159693" cy="159693"/>
          </a:xfrm>
          <a:prstGeom prst="rect">
            <a:avLst/>
          </a:prstGeom>
        </p:spPr>
      </p:pic>
      <p:sp>
        <p:nvSpPr>
          <p:cNvPr id="12" name="Text 8"/>
          <p:cNvSpPr/>
          <p:nvPr/>
        </p:nvSpPr>
        <p:spPr>
          <a:xfrm>
            <a:off x="4741143"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a:t>
            </a:r>
            <a:endParaRPr lang="en-US" sz="1100" dirty="0">
              <a:latin typeface="Arial" panose="020B0604020202020204" pitchFamily="34" charset="0"/>
            </a:endParaRPr>
          </a:p>
        </p:txBody>
      </p:sp>
      <p:sp>
        <p:nvSpPr>
          <p:cNvPr id="13" name="Text 9"/>
          <p:cNvSpPr/>
          <p:nvPr/>
        </p:nvSpPr>
        <p:spPr>
          <a:xfrm>
            <a:off x="4741143"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and transformation using SQL views</a:t>
            </a:r>
            <a:endParaRPr lang="en-US" sz="1050" dirty="0">
              <a:latin typeface="Arial" panose="020B0604020202020204" pitchFamily="34" charset="0"/>
            </a:endParaRPr>
          </a:p>
        </p:txBody>
      </p:sp>
      <p:sp>
        <p:nvSpPr>
          <p:cNvPr id="14" name="Shape 10"/>
          <p:cNvSpPr/>
          <p:nvPr/>
        </p:nvSpPr>
        <p:spPr>
          <a:xfrm>
            <a:off x="473273" y="2435647"/>
            <a:ext cx="4047902" cy="1094482"/>
          </a:xfrm>
          <a:prstGeom prst="roundRect">
            <a:avLst>
              <a:gd name="adj" fmla="val 16216"/>
            </a:avLst>
          </a:prstGeom>
          <a:solidFill>
            <a:srgbClr val="46464A"/>
          </a:solidFill>
          <a:ln/>
        </p:spPr>
      </p:sp>
      <p:sp>
        <p:nvSpPr>
          <p:cNvPr id="15" name="Shape 11"/>
          <p:cNvSpPr/>
          <p:nvPr/>
        </p:nvSpPr>
        <p:spPr>
          <a:xfrm>
            <a:off x="591592" y="2553965"/>
            <a:ext cx="354955" cy="354955"/>
          </a:xfrm>
          <a:prstGeom prst="roundRect">
            <a:avLst>
              <a:gd name="adj" fmla="val 16099022"/>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9223" y="2651522"/>
            <a:ext cx="159693" cy="159693"/>
          </a:xfrm>
          <a:prstGeom prst="rect">
            <a:avLst/>
          </a:prstGeom>
        </p:spPr>
      </p:pic>
      <p:sp>
        <p:nvSpPr>
          <p:cNvPr id="17" name="Text 12"/>
          <p:cNvSpPr/>
          <p:nvPr/>
        </p:nvSpPr>
        <p:spPr>
          <a:xfrm>
            <a:off x="591592"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 + DAX</a:t>
            </a:r>
            <a:endParaRPr lang="en-US" sz="1100" dirty="0">
              <a:latin typeface="Arial" panose="020B0604020202020204" pitchFamily="34" charset="0"/>
            </a:endParaRPr>
          </a:p>
        </p:txBody>
      </p:sp>
      <p:sp>
        <p:nvSpPr>
          <p:cNvPr id="18" name="Text 13"/>
          <p:cNvSpPr/>
          <p:nvPr/>
        </p:nvSpPr>
        <p:spPr>
          <a:xfrm>
            <a:off x="591592"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Business analysis and calculated measures</a:t>
            </a:r>
            <a:endParaRPr lang="en-US" sz="1050" dirty="0">
              <a:latin typeface="Arial" panose="020B0604020202020204" pitchFamily="34" charset="0"/>
            </a:endParaRPr>
          </a:p>
        </p:txBody>
      </p:sp>
      <p:sp>
        <p:nvSpPr>
          <p:cNvPr id="19" name="Shape 14"/>
          <p:cNvSpPr/>
          <p:nvPr/>
        </p:nvSpPr>
        <p:spPr>
          <a:xfrm>
            <a:off x="4622825" y="2435647"/>
            <a:ext cx="4047902" cy="1094482"/>
          </a:xfrm>
          <a:prstGeom prst="roundRect">
            <a:avLst>
              <a:gd name="adj" fmla="val 16216"/>
            </a:avLst>
          </a:prstGeom>
          <a:solidFill>
            <a:srgbClr val="46464A"/>
          </a:solidFill>
          <a:ln/>
        </p:spPr>
      </p:sp>
      <p:sp>
        <p:nvSpPr>
          <p:cNvPr id="20" name="Shape 15"/>
          <p:cNvSpPr/>
          <p:nvPr/>
        </p:nvSpPr>
        <p:spPr>
          <a:xfrm>
            <a:off x="4741143" y="2553965"/>
            <a:ext cx="354955" cy="354955"/>
          </a:xfrm>
          <a:prstGeom prst="roundRect">
            <a:avLst>
              <a:gd name="adj" fmla="val 16099022"/>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8774" y="2651522"/>
            <a:ext cx="159693" cy="159693"/>
          </a:xfrm>
          <a:prstGeom prst="rect">
            <a:avLst/>
          </a:prstGeom>
        </p:spPr>
      </p:pic>
      <p:sp>
        <p:nvSpPr>
          <p:cNvPr id="22" name="Text 16"/>
          <p:cNvSpPr/>
          <p:nvPr/>
        </p:nvSpPr>
        <p:spPr>
          <a:xfrm>
            <a:off x="4741143"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100" dirty="0">
              <a:latin typeface="Arial" panose="020B0604020202020204" pitchFamily="34" charset="0"/>
            </a:endParaRPr>
          </a:p>
        </p:txBody>
      </p:sp>
      <p:sp>
        <p:nvSpPr>
          <p:cNvPr id="23" name="Text 17"/>
          <p:cNvSpPr/>
          <p:nvPr/>
        </p:nvSpPr>
        <p:spPr>
          <a:xfrm>
            <a:off x="4741143"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visualization and dashboard layer</a:t>
            </a:r>
            <a:endParaRPr lang="en-US" sz="1050" dirty="0">
              <a:latin typeface="Arial" panose="020B0604020202020204" pitchFamily="34" charset="0"/>
            </a:endParaRPr>
          </a:p>
        </p:txBody>
      </p:sp>
      <p:sp>
        <p:nvSpPr>
          <p:cNvPr id="24" name="Shape 18"/>
          <p:cNvSpPr/>
          <p:nvPr/>
        </p:nvSpPr>
        <p:spPr>
          <a:xfrm>
            <a:off x="473273" y="3631778"/>
            <a:ext cx="4047902" cy="1094482"/>
          </a:xfrm>
          <a:prstGeom prst="roundRect">
            <a:avLst>
              <a:gd name="adj" fmla="val 16216"/>
            </a:avLst>
          </a:prstGeom>
          <a:solidFill>
            <a:srgbClr val="46464A"/>
          </a:solidFill>
          <a:ln/>
        </p:spPr>
      </p:sp>
      <p:sp>
        <p:nvSpPr>
          <p:cNvPr id="25" name="Shape 19"/>
          <p:cNvSpPr/>
          <p:nvPr/>
        </p:nvSpPr>
        <p:spPr>
          <a:xfrm>
            <a:off x="591592" y="3750097"/>
            <a:ext cx="354955" cy="354955"/>
          </a:xfrm>
          <a:prstGeom prst="roundRect">
            <a:avLst>
              <a:gd name="adj" fmla="val 16099022"/>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9223" y="3847654"/>
            <a:ext cx="159693" cy="159693"/>
          </a:xfrm>
          <a:prstGeom prst="rect">
            <a:avLst/>
          </a:prstGeom>
        </p:spPr>
      </p:pic>
      <p:sp>
        <p:nvSpPr>
          <p:cNvPr id="27" name="Text 20"/>
          <p:cNvSpPr/>
          <p:nvPr/>
        </p:nvSpPr>
        <p:spPr>
          <a:xfrm>
            <a:off x="591592"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100" dirty="0">
              <a:latin typeface="Arial" panose="020B0604020202020204" pitchFamily="34" charset="0"/>
            </a:endParaRPr>
          </a:p>
        </p:txBody>
      </p:sp>
      <p:sp>
        <p:nvSpPr>
          <p:cNvPr id="28" name="Text 21"/>
          <p:cNvSpPr/>
          <p:nvPr/>
        </p:nvSpPr>
        <p:spPr>
          <a:xfrm>
            <a:off x="591592"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Version control for all project files and scripts</a:t>
            </a:r>
            <a:endParaRPr lang="en-US" sz="1050" dirty="0">
              <a:latin typeface="Arial" panose="020B0604020202020204" pitchFamily="34" charset="0"/>
            </a:endParaRPr>
          </a:p>
        </p:txBody>
      </p:sp>
      <p:sp>
        <p:nvSpPr>
          <p:cNvPr id="29" name="Shape 22"/>
          <p:cNvSpPr/>
          <p:nvPr/>
        </p:nvSpPr>
        <p:spPr>
          <a:xfrm>
            <a:off x="4622825" y="3631778"/>
            <a:ext cx="4047902" cy="1094482"/>
          </a:xfrm>
          <a:prstGeom prst="roundRect">
            <a:avLst>
              <a:gd name="adj" fmla="val 16216"/>
            </a:avLst>
          </a:prstGeom>
          <a:solidFill>
            <a:srgbClr val="46464A"/>
          </a:solidFill>
          <a:ln/>
        </p:spPr>
      </p:sp>
      <p:sp>
        <p:nvSpPr>
          <p:cNvPr id="30" name="Shape 23"/>
          <p:cNvSpPr/>
          <p:nvPr/>
        </p:nvSpPr>
        <p:spPr>
          <a:xfrm>
            <a:off x="4741143" y="3750097"/>
            <a:ext cx="354955" cy="354955"/>
          </a:xfrm>
          <a:prstGeom prst="roundRect">
            <a:avLst>
              <a:gd name="adj" fmla="val 16099022"/>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38774" y="3847654"/>
            <a:ext cx="159693" cy="159693"/>
          </a:xfrm>
          <a:prstGeom prst="rect">
            <a:avLst/>
          </a:prstGeom>
        </p:spPr>
      </p:pic>
      <p:sp>
        <p:nvSpPr>
          <p:cNvPr id="32" name="Text 24"/>
          <p:cNvSpPr/>
          <p:nvPr/>
        </p:nvSpPr>
        <p:spPr>
          <a:xfrm>
            <a:off x="4741143"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100" dirty="0">
              <a:latin typeface="Arial" panose="020B0604020202020204" pitchFamily="34" charset="0"/>
            </a:endParaRPr>
          </a:p>
        </p:txBody>
      </p:sp>
      <p:sp>
        <p:nvSpPr>
          <p:cNvPr id="33" name="Text 25"/>
          <p:cNvSpPr/>
          <p:nvPr/>
        </p:nvSpPr>
        <p:spPr>
          <a:xfrm>
            <a:off x="4741143"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Documentation and supplementary data analysis</a:t>
            </a:r>
            <a:endParaRPr lang="en-US" sz="105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4674" y="128290"/>
            <a:ext cx="2694325" cy="313670"/>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Project Architecture</a:t>
            </a:r>
            <a:endParaRPr lang="en-US" sz="2400" dirty="0">
              <a:latin typeface="Arial" panose="020B0604020202020204" pitchFamily="34" charset="0"/>
            </a:endParaRPr>
          </a:p>
        </p:txBody>
      </p:sp>
      <p:sp>
        <p:nvSpPr>
          <p:cNvPr id="3" name="Text 1"/>
          <p:cNvSpPr/>
          <p:nvPr/>
        </p:nvSpPr>
        <p:spPr>
          <a:xfrm>
            <a:off x="586742" y="441961"/>
            <a:ext cx="7414258" cy="708660"/>
          </a:xfrm>
          <a:prstGeom prst="rect">
            <a:avLst/>
          </a:prstGeom>
          <a:noFill/>
          <a:ln/>
        </p:spPr>
        <p:txBody>
          <a:bodyPr wrap="square" lIns="0" tIns="0" rIns="0" bIns="0" rtlCol="0" anchor="t">
            <a:noAutofit/>
          </a:bodyPr>
          <a:lstStyle/>
          <a:p>
            <a:pPr>
              <a:lnSpc>
                <a:spcPct val="110000"/>
              </a:lnSpc>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complete data flow moves from raw source data through a structured pipeline transaction data through to business insights and recommendations</a:t>
            </a:r>
            <a:endParaRPr lang="en-US" sz="1400" dirty="0">
              <a:latin typeface="Arial" panose="020B0604020202020204" pitchFamily="34" charset="0"/>
            </a:endParaRPr>
          </a:p>
        </p:txBody>
      </p:sp>
      <p:sp>
        <p:nvSpPr>
          <p:cNvPr id="5" name="Text 2"/>
          <p:cNvSpPr/>
          <p:nvPr/>
        </p:nvSpPr>
        <p:spPr>
          <a:xfrm>
            <a:off x="411480" y="4122420"/>
            <a:ext cx="8008621" cy="883920"/>
          </a:xfrm>
          <a:prstGeom prst="rect">
            <a:avLst/>
          </a:prstGeom>
          <a:noFill/>
          <a:ln/>
        </p:spPr>
        <p:txBody>
          <a:bodyPr wrap="square" lIns="0" tIns="0" rIns="0" bIns="0" rtlCol="0" anchor="t">
            <a:normAutofit lnSpcReduction="10000"/>
          </a:bodyPr>
          <a:lstStyle/>
          <a:p>
            <a:pPr marL="0" indent="0" algn="just">
              <a:lnSpc>
                <a:spcPct val="110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Source data from GoldVista's branches flows into a PostgreSQL database, where SQL cleaning views standardize and prepare the data. A star schema organizes the cleaned data into fact and dimension tables, which Power BI consumes to build its data model with DAX measures. The result is a set of interactive dashboards that enable business decision-making across the organization.</a:t>
            </a:r>
            <a:endParaRPr lang="en-US" sz="1400" dirty="0">
              <a:latin typeface="Arial" panose="020B0604020202020204" pitchFamily="34" charset="0"/>
            </a:endParaRPr>
          </a:p>
        </p:txBody>
      </p:sp>
      <p:pic>
        <p:nvPicPr>
          <p:cNvPr id="6" name="Image 0">
            <a:extLst>
              <a:ext uri="{FF2B5EF4-FFF2-40B4-BE49-F238E27FC236}">
                <a16:creationId xmlns:a16="http://schemas.microsoft.com/office/drawing/2014/main" id="{9B174F78-4CF4-2448-B7C5-6ABA8BF631F0}"/>
              </a:ext>
            </a:extLst>
          </p:cNvPr>
          <p:cNvPicPr>
            <a:picLocks noChangeAspect="1"/>
          </p:cNvPicPr>
          <p:nvPr/>
        </p:nvPicPr>
        <p:blipFill>
          <a:blip r:embed="rId3"/>
          <a:stretch>
            <a:fillRect/>
          </a:stretch>
        </p:blipFill>
        <p:spPr>
          <a:xfrm>
            <a:off x="1295400" y="891540"/>
            <a:ext cx="6065520" cy="32368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228228" y="477932"/>
            <a:ext cx="5121012" cy="992728"/>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3200" dirty="0">
              <a:latin typeface="Arial" panose="020B0604020202020204" pitchFamily="34" charset="0"/>
            </a:endParaRPr>
          </a:p>
        </p:txBody>
      </p:sp>
      <p:sp>
        <p:nvSpPr>
          <p:cNvPr id="4" name="Text 1"/>
          <p:cNvSpPr/>
          <p:nvPr/>
        </p:nvSpPr>
        <p:spPr>
          <a:xfrm>
            <a:off x="162520" y="1853162"/>
            <a:ext cx="5438180" cy="132437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Before building the dashboards, the raw transactional data was cleaned and validated using SQL to ensure accuracy and consistency. This section covers the data preparation process, the DAX measures that powered the Power BI dashboards, the challenges encountered, and future enhancement opportunities.</a:t>
            </a:r>
            <a:endParaRPr lang="en-US" sz="1400" dirty="0">
              <a:latin typeface="Arial" panose="020B0604020202020204" pitchFamily="34" charset="0"/>
            </a:endParaRPr>
          </a:p>
        </p:txBody>
      </p:sp>
      <p:sp>
        <p:nvSpPr>
          <p:cNvPr id="5" name="Shape 2"/>
          <p:cNvSpPr/>
          <p:nvPr/>
        </p:nvSpPr>
        <p:spPr>
          <a:xfrm>
            <a:off x="550664" y="3556174"/>
            <a:ext cx="1530138" cy="268336"/>
          </a:xfrm>
          <a:prstGeom prst="roundRect">
            <a:avLst>
              <a:gd name="adj" fmla="val 63838"/>
            </a:avLst>
          </a:prstGeom>
          <a:solidFill>
            <a:srgbClr val="4D4000"/>
          </a:solidFill>
          <a:ln/>
        </p:spPr>
      </p:sp>
      <p:sp>
        <p:nvSpPr>
          <p:cNvPr id="6" name="Text 3"/>
          <p:cNvSpPr/>
          <p:nvPr/>
        </p:nvSpPr>
        <p:spPr>
          <a:xfrm>
            <a:off x="633264" y="3597473"/>
            <a:ext cx="1500262" cy="176213"/>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DATA ENGINEERING</a:t>
            </a:r>
            <a:endParaRPr lang="en-US" sz="1000" dirty="0">
              <a:latin typeface="Arial" panose="020B0604020202020204" pitchFamily="34" charset="0"/>
            </a:endParaRPr>
          </a:p>
        </p:txBody>
      </p:sp>
      <p:sp>
        <p:nvSpPr>
          <p:cNvPr id="7" name="Shape 4"/>
          <p:cNvSpPr/>
          <p:nvPr/>
        </p:nvSpPr>
        <p:spPr>
          <a:xfrm>
            <a:off x="2303988" y="3597965"/>
            <a:ext cx="876619" cy="226546"/>
          </a:xfrm>
          <a:prstGeom prst="roundRect">
            <a:avLst>
              <a:gd name="adj" fmla="val 61572"/>
            </a:avLst>
          </a:prstGeom>
          <a:noFill/>
          <a:ln w="4763">
            <a:solidFill>
              <a:srgbClr val="FFE14D"/>
            </a:solidFill>
            <a:prstDash val="solid"/>
          </a:ln>
        </p:spPr>
      </p:sp>
      <p:sp>
        <p:nvSpPr>
          <p:cNvPr id="8" name="Text 5"/>
          <p:cNvSpPr/>
          <p:nvPr/>
        </p:nvSpPr>
        <p:spPr>
          <a:xfrm>
            <a:off x="2376560" y="3631985"/>
            <a:ext cx="989781"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POWER BI</a:t>
            </a:r>
            <a:endParaRPr lang="en-US" sz="1000" dirty="0">
              <a:latin typeface="Arial" panose="020B0604020202020204" pitchFamily="34" charset="0"/>
            </a:endParaRPr>
          </a:p>
        </p:txBody>
      </p:sp>
      <p:sp>
        <p:nvSpPr>
          <p:cNvPr id="9" name="Shape 6"/>
          <p:cNvSpPr/>
          <p:nvPr/>
        </p:nvSpPr>
        <p:spPr>
          <a:xfrm>
            <a:off x="3529422" y="3622000"/>
            <a:ext cx="388144" cy="268337"/>
          </a:xfrm>
          <a:prstGeom prst="roundRect">
            <a:avLst>
              <a:gd name="adj" fmla="val 61572"/>
            </a:avLst>
          </a:prstGeom>
          <a:noFill/>
          <a:ln w="4763">
            <a:solidFill>
              <a:srgbClr val="FFE14D"/>
            </a:solidFill>
            <a:prstDash val="solid"/>
          </a:ln>
        </p:spPr>
      </p:sp>
      <p:sp>
        <p:nvSpPr>
          <p:cNvPr id="10" name="Text 7"/>
          <p:cNvSpPr/>
          <p:nvPr/>
        </p:nvSpPr>
        <p:spPr>
          <a:xfrm>
            <a:off x="3595760" y="3631986"/>
            <a:ext cx="670620"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SQL</a:t>
            </a:r>
            <a:endParaRPr lang="en-US" sz="10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1652" y="0"/>
            <a:ext cx="3151584" cy="239018"/>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The Data Cleaning Process</a:t>
            </a:r>
            <a:endParaRPr lang="en-US" sz="2400" dirty="0">
              <a:latin typeface="Arial" panose="020B0604020202020204" pitchFamily="34" charset="0"/>
            </a:endParaRPr>
          </a:p>
        </p:txBody>
      </p:sp>
      <p:sp>
        <p:nvSpPr>
          <p:cNvPr id="3" name="Text 1"/>
          <p:cNvSpPr/>
          <p:nvPr/>
        </p:nvSpPr>
        <p:spPr>
          <a:xfrm>
            <a:off x="411480" y="416495"/>
            <a:ext cx="8282940" cy="641449"/>
          </a:xfrm>
          <a:prstGeom prst="rect">
            <a:avLst/>
          </a:prstGeom>
          <a:noFill/>
          <a:ln/>
        </p:spPr>
        <p:txBody>
          <a:bodyPr wrap="square" lIns="0" tIns="0" rIns="0" bIns="0" rtlCol="0" anchor="t">
            <a:noAutofit/>
          </a:bodyPr>
          <a:lstStyle/>
          <a:p>
            <a:pPr marL="0" indent="0" algn="l">
              <a:lnSpc>
                <a:spcPct val="10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Raw transactional data was cleaned and validated using SQL to ensure accuracy and consistency before any analysis was performed. The following steps were applied to prepare the dataset for reporting.</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119635"/>
            <a:ext cx="6658288" cy="516285"/>
          </a:xfrm>
          <a:prstGeom prst="rect">
            <a:avLst/>
          </a:prstGeom>
        </p:spPr>
      </p:pic>
      <p:sp>
        <p:nvSpPr>
          <p:cNvPr id="5" name="Text 2"/>
          <p:cNvSpPr/>
          <p:nvPr/>
        </p:nvSpPr>
        <p:spPr>
          <a:xfrm>
            <a:off x="1673125" y="1297112"/>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1</a:t>
            </a:r>
            <a:endParaRPr lang="en-US" dirty="0">
              <a:latin typeface="Arial" panose="020B0604020202020204" pitchFamily="34" charset="0"/>
            </a:endParaRPr>
          </a:p>
        </p:txBody>
      </p:sp>
      <p:sp>
        <p:nvSpPr>
          <p:cNvPr id="6" name="Text 3"/>
          <p:cNvSpPr/>
          <p:nvPr/>
        </p:nvSpPr>
        <p:spPr>
          <a:xfrm>
            <a:off x="1963489" y="1215183"/>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Remove Duplicates</a:t>
            </a:r>
            <a:endParaRPr lang="en-US" sz="1200" dirty="0">
              <a:latin typeface="Arial" panose="020B0604020202020204" pitchFamily="34" charset="0"/>
            </a:endParaRPr>
          </a:p>
        </p:txBody>
      </p:sp>
      <p:sp>
        <p:nvSpPr>
          <p:cNvPr id="7" name="Text 4"/>
          <p:cNvSpPr/>
          <p:nvPr/>
        </p:nvSpPr>
        <p:spPr>
          <a:xfrm>
            <a:off x="1963489" y="136691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Removed duplicate records to prevent duplicate sales calculations.</a:t>
            </a:r>
            <a:endParaRPr lang="en-US" sz="1200" dirty="0">
              <a:latin typeface="Arial" panose="020B0604020202020204" pitchFamily="34" charset="0"/>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689647"/>
            <a:ext cx="6658288" cy="516285"/>
          </a:xfrm>
          <a:prstGeom prst="rect">
            <a:avLst/>
          </a:prstGeom>
        </p:spPr>
      </p:pic>
      <p:sp>
        <p:nvSpPr>
          <p:cNvPr id="9" name="Text 5"/>
          <p:cNvSpPr/>
          <p:nvPr/>
        </p:nvSpPr>
        <p:spPr>
          <a:xfrm>
            <a:off x="1673125" y="1867124"/>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2</a:t>
            </a:r>
            <a:endParaRPr lang="en-US" dirty="0">
              <a:latin typeface="Arial" panose="020B0604020202020204" pitchFamily="34" charset="0"/>
            </a:endParaRPr>
          </a:p>
        </p:txBody>
      </p:sp>
      <p:sp>
        <p:nvSpPr>
          <p:cNvPr id="10" name="Text 6"/>
          <p:cNvSpPr/>
          <p:nvPr/>
        </p:nvSpPr>
        <p:spPr>
          <a:xfrm>
            <a:off x="1963489" y="1785194"/>
            <a:ext cx="1140710"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Handle NULL Values</a:t>
            </a:r>
            <a:endParaRPr lang="en-US" sz="1200" dirty="0">
              <a:latin typeface="Arial" panose="020B0604020202020204" pitchFamily="34" charset="0"/>
            </a:endParaRPr>
          </a:p>
        </p:txBody>
      </p:sp>
      <p:sp>
        <p:nvSpPr>
          <p:cNvPr id="11" name="Text 7"/>
          <p:cNvSpPr/>
          <p:nvPr/>
        </p:nvSpPr>
        <p:spPr>
          <a:xfrm>
            <a:off x="1963489" y="1936924"/>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Handled missing (NULL) values to improve data completeness.</a:t>
            </a:r>
            <a:endParaRPr lang="en-US" sz="1200" dirty="0">
              <a:latin typeface="Arial" panose="020B0604020202020204" pitchFamily="34"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259658"/>
            <a:ext cx="6658288" cy="516285"/>
          </a:xfrm>
          <a:prstGeom prst="rect">
            <a:avLst/>
          </a:prstGeom>
        </p:spPr>
      </p:pic>
      <p:sp>
        <p:nvSpPr>
          <p:cNvPr id="13" name="Text 8"/>
          <p:cNvSpPr/>
          <p:nvPr/>
        </p:nvSpPr>
        <p:spPr>
          <a:xfrm>
            <a:off x="1673125" y="2437136"/>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3</a:t>
            </a:r>
            <a:endParaRPr lang="en-US" dirty="0">
              <a:latin typeface="Arial" panose="020B0604020202020204" pitchFamily="34" charset="0"/>
            </a:endParaRPr>
          </a:p>
        </p:txBody>
      </p:sp>
      <p:sp>
        <p:nvSpPr>
          <p:cNvPr id="14" name="Text 9"/>
          <p:cNvSpPr/>
          <p:nvPr/>
        </p:nvSpPr>
        <p:spPr>
          <a:xfrm>
            <a:off x="1963489" y="2355206"/>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Standardize Dates</a:t>
            </a:r>
            <a:endParaRPr lang="en-US" sz="1200" dirty="0">
              <a:latin typeface="Arial" panose="020B0604020202020204" pitchFamily="34" charset="0"/>
            </a:endParaRPr>
          </a:p>
        </p:txBody>
      </p:sp>
      <p:sp>
        <p:nvSpPr>
          <p:cNvPr id="15" name="Text 10"/>
          <p:cNvSpPr/>
          <p:nvPr/>
        </p:nvSpPr>
        <p:spPr>
          <a:xfrm>
            <a:off x="1963489" y="2506936"/>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Standardized date formats to enable accurate time-based analysis.</a:t>
            </a:r>
            <a:endParaRPr lang="en-US" sz="1200" dirty="0">
              <a:latin typeface="Arial" panose="020B0604020202020204" pitchFamily="34" charset="0"/>
            </a:endParaRPr>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829670"/>
            <a:ext cx="6658288" cy="516285"/>
          </a:xfrm>
          <a:prstGeom prst="rect">
            <a:avLst/>
          </a:prstGeom>
        </p:spPr>
      </p:pic>
      <p:sp>
        <p:nvSpPr>
          <p:cNvPr id="17" name="Text 11"/>
          <p:cNvSpPr/>
          <p:nvPr/>
        </p:nvSpPr>
        <p:spPr>
          <a:xfrm>
            <a:off x="1673125" y="3007148"/>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4</a:t>
            </a:r>
            <a:endParaRPr lang="en-US" dirty="0">
              <a:latin typeface="Arial" panose="020B0604020202020204" pitchFamily="34" charset="0"/>
            </a:endParaRPr>
          </a:p>
        </p:txBody>
      </p:sp>
      <p:sp>
        <p:nvSpPr>
          <p:cNvPr id="18" name="Text 12"/>
          <p:cNvSpPr/>
          <p:nvPr/>
        </p:nvSpPr>
        <p:spPr>
          <a:xfrm>
            <a:off x="1963489" y="2925218"/>
            <a:ext cx="1301872"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Correct Inconsistencies</a:t>
            </a:r>
            <a:endParaRPr lang="en-US" sz="1200" dirty="0">
              <a:latin typeface="Arial" panose="020B0604020202020204" pitchFamily="34" charset="0"/>
            </a:endParaRPr>
          </a:p>
        </p:txBody>
      </p:sp>
      <p:sp>
        <p:nvSpPr>
          <p:cNvPr id="19" name="Text 13"/>
          <p:cNvSpPr/>
          <p:nvPr/>
        </p:nvSpPr>
        <p:spPr>
          <a:xfrm>
            <a:off x="1963489" y="3076948"/>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Corrected inconsistent data to maintain quality across tables.</a:t>
            </a:r>
            <a:endParaRPr lang="en-US" sz="1200" dirty="0">
              <a:latin typeface="Arial" panose="020B0604020202020204" pitchFamily="34" charset="0"/>
            </a:endParaRPr>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399682"/>
            <a:ext cx="6658288" cy="516285"/>
          </a:xfrm>
          <a:prstGeom prst="rect">
            <a:avLst/>
          </a:prstGeom>
        </p:spPr>
      </p:pic>
      <p:sp>
        <p:nvSpPr>
          <p:cNvPr id="21" name="Text 14"/>
          <p:cNvSpPr/>
          <p:nvPr/>
        </p:nvSpPr>
        <p:spPr>
          <a:xfrm>
            <a:off x="1673125" y="3577159"/>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5</a:t>
            </a:r>
            <a:endParaRPr lang="en-US" dirty="0">
              <a:latin typeface="Arial" panose="020B0604020202020204" pitchFamily="34" charset="0"/>
            </a:endParaRPr>
          </a:p>
        </p:txBody>
      </p:sp>
      <p:sp>
        <p:nvSpPr>
          <p:cNvPr id="22" name="Text 15"/>
          <p:cNvSpPr/>
          <p:nvPr/>
        </p:nvSpPr>
        <p:spPr>
          <a:xfrm>
            <a:off x="1963489" y="3495229"/>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Flag Returns</a:t>
            </a:r>
            <a:endParaRPr lang="en-US" sz="1200" dirty="0">
              <a:latin typeface="Arial" panose="020B0604020202020204" pitchFamily="34" charset="0"/>
            </a:endParaRPr>
          </a:p>
        </p:txBody>
      </p:sp>
      <p:sp>
        <p:nvSpPr>
          <p:cNvPr id="23" name="Text 16"/>
          <p:cNvSpPr/>
          <p:nvPr/>
        </p:nvSpPr>
        <p:spPr>
          <a:xfrm>
            <a:off x="1963489" y="3646960"/>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Flagged return transactions to separate sales from returns.</a:t>
            </a:r>
            <a:endParaRPr lang="en-US" sz="1200" dirty="0">
              <a:latin typeface="Arial" panose="020B0604020202020204" pitchFamily="34" charset="0"/>
            </a:endParaRPr>
          </a:p>
        </p:txBody>
      </p:sp>
      <p:pic>
        <p:nvPicPr>
          <p:cNvPr id="2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969693"/>
            <a:ext cx="6658288" cy="516285"/>
          </a:xfrm>
          <a:prstGeom prst="rect">
            <a:avLst/>
          </a:prstGeom>
        </p:spPr>
      </p:pic>
      <p:sp>
        <p:nvSpPr>
          <p:cNvPr id="25" name="Text 17"/>
          <p:cNvSpPr/>
          <p:nvPr/>
        </p:nvSpPr>
        <p:spPr>
          <a:xfrm>
            <a:off x="1673125" y="4147171"/>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dirty="0">
              <a:latin typeface="Arial" panose="020B0604020202020204" pitchFamily="34" charset="0"/>
            </a:endParaRPr>
          </a:p>
        </p:txBody>
      </p:sp>
      <p:sp>
        <p:nvSpPr>
          <p:cNvPr id="26" name="Text 18"/>
          <p:cNvSpPr/>
          <p:nvPr/>
        </p:nvSpPr>
        <p:spPr>
          <a:xfrm>
            <a:off x="1963489" y="4065241"/>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Create SQL Views</a:t>
            </a:r>
            <a:endParaRPr lang="en-US" sz="1200" dirty="0">
              <a:latin typeface="Arial" panose="020B0604020202020204" pitchFamily="34" charset="0"/>
            </a:endParaRPr>
          </a:p>
        </p:txBody>
      </p:sp>
      <p:sp>
        <p:nvSpPr>
          <p:cNvPr id="27" name="Text 19"/>
          <p:cNvSpPr/>
          <p:nvPr/>
        </p:nvSpPr>
        <p:spPr>
          <a:xfrm>
            <a:off x="1963489" y="4216971"/>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Created SQL views to simplify reporting and Power BI integration.</a:t>
            </a:r>
            <a:endParaRPr lang="en-US" sz="1200" dirty="0">
              <a:latin typeface="Arial" panose="020B0604020202020204" pitchFamily="34" charset="0"/>
            </a:endParaRPr>
          </a:p>
        </p:txBody>
      </p:sp>
      <p:pic>
        <p:nvPicPr>
          <p:cNvPr id="28"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4539705"/>
            <a:ext cx="6658288" cy="516285"/>
          </a:xfrm>
          <a:prstGeom prst="rect">
            <a:avLst/>
          </a:prstGeom>
        </p:spPr>
      </p:pic>
      <p:sp>
        <p:nvSpPr>
          <p:cNvPr id="29" name="Text 20"/>
          <p:cNvSpPr/>
          <p:nvPr/>
        </p:nvSpPr>
        <p:spPr>
          <a:xfrm>
            <a:off x="1673125" y="4717183"/>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7</a:t>
            </a:r>
            <a:endParaRPr lang="en-US" dirty="0">
              <a:latin typeface="Arial" panose="020B0604020202020204" pitchFamily="34" charset="0"/>
            </a:endParaRPr>
          </a:p>
        </p:txBody>
      </p:sp>
      <p:sp>
        <p:nvSpPr>
          <p:cNvPr id="30" name="Text 21"/>
          <p:cNvSpPr/>
          <p:nvPr/>
        </p:nvSpPr>
        <p:spPr>
          <a:xfrm>
            <a:off x="1963489" y="4635253"/>
            <a:ext cx="1226549"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Validate Relationships</a:t>
            </a:r>
            <a:endParaRPr lang="en-US" sz="1200" dirty="0">
              <a:latin typeface="Arial" panose="020B0604020202020204" pitchFamily="34" charset="0"/>
            </a:endParaRPr>
          </a:p>
        </p:txBody>
      </p:sp>
      <p:sp>
        <p:nvSpPr>
          <p:cNvPr id="31" name="Text 22"/>
          <p:cNvSpPr/>
          <p:nvPr/>
        </p:nvSpPr>
        <p:spPr>
          <a:xfrm>
            <a:off x="1963489" y="478698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Validated relationships to ensure referential integrity between tables.</a:t>
            </a:r>
            <a:endParaRPr lang="en-US" sz="12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05185"/>
            <a:ext cx="5523533" cy="382488"/>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Key Outcomes of Data Cleaning</a:t>
            </a:r>
            <a:endParaRPr lang="en-US" sz="2400" dirty="0">
              <a:latin typeface="Arial" panose="020B0604020202020204" pitchFamily="34" charset="0"/>
            </a:endParaRPr>
          </a:p>
        </p:txBody>
      </p:sp>
      <p:sp>
        <p:nvSpPr>
          <p:cNvPr id="3" name="Shape 1"/>
          <p:cNvSpPr/>
          <p:nvPr/>
        </p:nvSpPr>
        <p:spPr>
          <a:xfrm>
            <a:off x="451545" y="994172"/>
            <a:ext cx="4470499" cy="3744144"/>
          </a:xfrm>
          <a:prstGeom prst="roundRect">
            <a:avLst>
              <a:gd name="adj" fmla="val 8826"/>
            </a:avLst>
          </a:prstGeom>
          <a:solidFill>
            <a:srgbClr val="FFE14D"/>
          </a:solidFill>
          <a:ln/>
        </p:spPr>
      </p:sp>
      <p:sp>
        <p:nvSpPr>
          <p:cNvPr id="4" name="Text 2"/>
          <p:cNvSpPr/>
          <p:nvPr/>
        </p:nvSpPr>
        <p:spPr>
          <a:xfrm>
            <a:off x="589211" y="1131838"/>
            <a:ext cx="1991171" cy="191244"/>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Arial" panose="020B0604020202020204" pitchFamily="34" charset="0"/>
                <a:ea typeface="Calibri" panose="020F0502020204030204" pitchFamily="34" charset="0"/>
                <a:cs typeface="Arial" panose="020B0604020202020204" pitchFamily="34" charset="0"/>
              </a:rPr>
              <a:t>What Was Achieved</a:t>
            </a:r>
            <a:endParaRPr lang="en-US" sz="1200" dirty="0">
              <a:latin typeface="Arial" panose="020B0604020202020204" pitchFamily="34" charset="0"/>
            </a:endParaRPr>
          </a:p>
        </p:txBody>
      </p:sp>
      <p:sp>
        <p:nvSpPr>
          <p:cNvPr id="5" name="Text 3"/>
          <p:cNvSpPr/>
          <p:nvPr/>
        </p:nvSpPr>
        <p:spPr>
          <a:xfrm>
            <a:off x="589211" y="1460748"/>
            <a:ext cx="4195167" cy="1111002"/>
          </a:xfrm>
          <a:prstGeom prst="rect">
            <a:avLst/>
          </a:prstGeom>
          <a:noFill/>
          <a:ln/>
        </p:spPr>
        <p:txBody>
          <a:bodyPr wrap="square" lIns="0" tIns="0" rIns="0" bIns="0" rtlCol="0" anchor="t">
            <a:normAutofit fontScale="92500" lnSpcReduction="20000"/>
          </a:bodyPr>
          <a:lstStyle/>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Improved data accuracy and reliability across all tables</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Created a clean, validated dataset ready for reporting</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Enhanced dashboard performance and consistency</a:t>
            </a:r>
            <a:endParaRPr lang="en-US" sz="1400" dirty="0">
              <a:latin typeface="Arial" panose="020B0604020202020204" pitchFamily="34" charset="0"/>
            </a:endParaRPr>
          </a:p>
        </p:txBody>
      </p:sp>
      <p:sp>
        <p:nvSpPr>
          <p:cNvPr id="6" name="Text 4"/>
          <p:cNvSpPr/>
          <p:nvPr/>
        </p:nvSpPr>
        <p:spPr>
          <a:xfrm>
            <a:off x="589211" y="2911837"/>
            <a:ext cx="4195167" cy="1232044"/>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These steps ensured that the dashboards were built on accurate and reliable data, enabling management to analyze business performance interactively using filters and slicers.</a:t>
            </a:r>
            <a:endParaRPr lang="en-US" sz="1400" dirty="0">
              <a:latin typeface="Arial" panose="020B0604020202020204" pitchFamily="34" charset="0"/>
            </a:endParaRPr>
          </a:p>
        </p:txBody>
      </p:sp>
      <p:pic>
        <p:nvPicPr>
          <p:cNvPr id="7" name="Image 0" descr="preencoded.png"/>
          <p:cNvPicPr>
            <a:picLocks noChangeAspect="1"/>
          </p:cNvPicPr>
          <p:nvPr/>
        </p:nvPicPr>
        <p:blipFill>
          <a:blip r:embed="rId3"/>
          <a:stretch>
            <a:fillRect/>
          </a:stretch>
        </p:blipFill>
        <p:spPr>
          <a:xfrm>
            <a:off x="5163592" y="1149028"/>
            <a:ext cx="3434432" cy="3434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5785" y="222721"/>
            <a:ext cx="3830762" cy="358527"/>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SQL Business Analysis</a:t>
            </a:r>
            <a:endParaRPr lang="en-US" sz="2400" dirty="0">
              <a:latin typeface="Arial" panose="020B0604020202020204" pitchFamily="34" charset="0"/>
            </a:endParaRPr>
          </a:p>
        </p:txBody>
      </p:sp>
      <p:sp>
        <p:nvSpPr>
          <p:cNvPr id="3" name="Text 1"/>
          <p:cNvSpPr/>
          <p:nvPr/>
        </p:nvSpPr>
        <p:spPr>
          <a:xfrm>
            <a:off x="387252" y="729808"/>
            <a:ext cx="8497668" cy="588452"/>
          </a:xfrm>
          <a:prstGeom prst="rect">
            <a:avLst/>
          </a:prstGeom>
          <a:noFill/>
          <a:ln/>
        </p:spPr>
        <p:txBody>
          <a:bodyPr wrap="square" lIns="0" tIns="0" rIns="0" bIns="0" rtlCol="0" anchor="t">
            <a:noAutofit/>
          </a:bodyPr>
          <a:lstStyle/>
          <a:p>
            <a:pPr marL="0" indent="0" algn="l">
              <a:lnSpc>
                <a:spcPct val="129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were solved using advanced SQL techniques — including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GROUP BY</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JOINs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Window Functions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CASE statements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CTEs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Aggregate Functions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t>
            </a:r>
            <a:endParaRPr lang="en-US" sz="1400" dirty="0">
              <a:latin typeface="Arial" panose="020B0604020202020204" pitchFamily="34" charset="0"/>
            </a:endParaRPr>
          </a:p>
        </p:txBody>
      </p:sp>
      <p:sp>
        <p:nvSpPr>
          <p:cNvPr id="4" name="Shape 2"/>
          <p:cNvSpPr/>
          <p:nvPr/>
        </p:nvSpPr>
        <p:spPr>
          <a:xfrm>
            <a:off x="516285" y="1538808"/>
            <a:ext cx="3995217" cy="709910"/>
          </a:xfrm>
          <a:prstGeom prst="roundRect">
            <a:avLst>
              <a:gd name="adj" fmla="val 27274"/>
            </a:avLst>
          </a:prstGeom>
          <a:solidFill>
            <a:srgbClr val="46464A"/>
          </a:solidFill>
          <a:ln/>
        </p:spPr>
      </p:sp>
      <p:sp>
        <p:nvSpPr>
          <p:cNvPr id="5" name="Text 3"/>
          <p:cNvSpPr/>
          <p:nvPr/>
        </p:nvSpPr>
        <p:spPr>
          <a:xfrm>
            <a:off x="645319"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Executive Analysis</a:t>
            </a:r>
            <a:endParaRPr lang="en-US" sz="1600" dirty="0">
              <a:latin typeface="Arial" panose="020B0604020202020204" pitchFamily="34" charset="0"/>
            </a:endParaRPr>
          </a:p>
        </p:txBody>
      </p:sp>
      <p:sp>
        <p:nvSpPr>
          <p:cNvPr id="6" name="Text 4"/>
          <p:cNvSpPr/>
          <p:nvPr/>
        </p:nvSpPr>
        <p:spPr>
          <a:xfrm>
            <a:off x="645319"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Company-wide KPIs</a:t>
            </a:r>
            <a:endParaRPr lang="en-US" sz="1200" dirty="0">
              <a:latin typeface="Arial" panose="020B0604020202020204" pitchFamily="34" charset="0"/>
            </a:endParaRPr>
          </a:p>
        </p:txBody>
      </p:sp>
      <p:sp>
        <p:nvSpPr>
          <p:cNvPr id="7" name="Shape 5"/>
          <p:cNvSpPr/>
          <p:nvPr/>
        </p:nvSpPr>
        <p:spPr>
          <a:xfrm>
            <a:off x="4632499" y="1538808"/>
            <a:ext cx="3995217" cy="709910"/>
          </a:xfrm>
          <a:prstGeom prst="roundRect">
            <a:avLst>
              <a:gd name="adj" fmla="val 27274"/>
            </a:avLst>
          </a:prstGeom>
          <a:solidFill>
            <a:srgbClr val="46464A"/>
          </a:solidFill>
          <a:ln/>
        </p:spPr>
      </p:sp>
      <p:sp>
        <p:nvSpPr>
          <p:cNvPr id="8" name="Text 6"/>
          <p:cNvSpPr/>
          <p:nvPr/>
        </p:nvSpPr>
        <p:spPr>
          <a:xfrm>
            <a:off x="4761533"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Analysis</a:t>
            </a:r>
            <a:endParaRPr lang="en-US" sz="1600" dirty="0">
              <a:latin typeface="Arial" panose="020B0604020202020204" pitchFamily="34" charset="0"/>
            </a:endParaRPr>
          </a:p>
        </p:txBody>
      </p:sp>
      <p:sp>
        <p:nvSpPr>
          <p:cNvPr id="9" name="Text 7"/>
          <p:cNvSpPr/>
          <p:nvPr/>
        </p:nvSpPr>
        <p:spPr>
          <a:xfrm>
            <a:off x="4761533"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Compare branch performance</a:t>
            </a:r>
            <a:endParaRPr lang="en-US" sz="1200" dirty="0">
              <a:latin typeface="Arial" panose="020B0604020202020204" pitchFamily="34" charset="0"/>
            </a:endParaRPr>
          </a:p>
        </p:txBody>
      </p:sp>
      <p:sp>
        <p:nvSpPr>
          <p:cNvPr id="10" name="Shape 8"/>
          <p:cNvSpPr/>
          <p:nvPr/>
        </p:nvSpPr>
        <p:spPr>
          <a:xfrm>
            <a:off x="516285" y="2369716"/>
            <a:ext cx="3995217" cy="709910"/>
          </a:xfrm>
          <a:prstGeom prst="roundRect">
            <a:avLst>
              <a:gd name="adj" fmla="val 27274"/>
            </a:avLst>
          </a:prstGeom>
          <a:solidFill>
            <a:srgbClr val="46464A"/>
          </a:solidFill>
          <a:ln/>
        </p:spPr>
      </p:sp>
      <p:sp>
        <p:nvSpPr>
          <p:cNvPr id="11" name="Text 9"/>
          <p:cNvSpPr/>
          <p:nvPr/>
        </p:nvSpPr>
        <p:spPr>
          <a:xfrm>
            <a:off x="645319"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Analysis</a:t>
            </a:r>
            <a:endParaRPr lang="en-US" sz="1600" dirty="0">
              <a:latin typeface="Arial" panose="020B0604020202020204" pitchFamily="34" charset="0"/>
            </a:endParaRPr>
          </a:p>
        </p:txBody>
      </p:sp>
      <p:sp>
        <p:nvSpPr>
          <p:cNvPr id="12" name="Text 10"/>
          <p:cNvSpPr/>
          <p:nvPr/>
        </p:nvSpPr>
        <p:spPr>
          <a:xfrm>
            <a:off x="645319"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Best-selling products</a:t>
            </a:r>
            <a:endParaRPr lang="en-US" sz="1200" dirty="0">
              <a:latin typeface="Arial" panose="020B0604020202020204" pitchFamily="34" charset="0"/>
            </a:endParaRPr>
          </a:p>
        </p:txBody>
      </p:sp>
      <p:sp>
        <p:nvSpPr>
          <p:cNvPr id="13" name="Shape 11"/>
          <p:cNvSpPr/>
          <p:nvPr/>
        </p:nvSpPr>
        <p:spPr>
          <a:xfrm>
            <a:off x="4632499" y="2369716"/>
            <a:ext cx="3995217" cy="709910"/>
          </a:xfrm>
          <a:prstGeom prst="roundRect">
            <a:avLst>
              <a:gd name="adj" fmla="val 27274"/>
            </a:avLst>
          </a:prstGeom>
          <a:solidFill>
            <a:srgbClr val="46464A"/>
          </a:solidFill>
          <a:ln/>
        </p:spPr>
      </p:sp>
      <p:sp>
        <p:nvSpPr>
          <p:cNvPr id="14" name="Text 12"/>
          <p:cNvSpPr/>
          <p:nvPr/>
        </p:nvSpPr>
        <p:spPr>
          <a:xfrm>
            <a:off x="4761533"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Analysis</a:t>
            </a:r>
            <a:endParaRPr lang="en-US" sz="1600" dirty="0">
              <a:latin typeface="Arial" panose="020B0604020202020204" pitchFamily="34" charset="0"/>
            </a:endParaRPr>
          </a:p>
        </p:txBody>
      </p:sp>
      <p:sp>
        <p:nvSpPr>
          <p:cNvPr id="15" name="Text 13"/>
          <p:cNvSpPr/>
          <p:nvPr/>
        </p:nvSpPr>
        <p:spPr>
          <a:xfrm>
            <a:off x="4761533"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Customer behavior patterns</a:t>
            </a:r>
            <a:endParaRPr lang="en-US" sz="1200" dirty="0">
              <a:latin typeface="Arial" panose="020B0604020202020204" pitchFamily="34" charset="0"/>
            </a:endParaRPr>
          </a:p>
        </p:txBody>
      </p:sp>
      <p:sp>
        <p:nvSpPr>
          <p:cNvPr id="16" name="Shape 14"/>
          <p:cNvSpPr/>
          <p:nvPr/>
        </p:nvSpPr>
        <p:spPr>
          <a:xfrm>
            <a:off x="516285" y="3200623"/>
            <a:ext cx="3995217" cy="709910"/>
          </a:xfrm>
          <a:prstGeom prst="roundRect">
            <a:avLst>
              <a:gd name="adj" fmla="val 27274"/>
            </a:avLst>
          </a:prstGeom>
          <a:solidFill>
            <a:srgbClr val="46464A"/>
          </a:solidFill>
          <a:ln/>
        </p:spPr>
      </p:sp>
      <p:sp>
        <p:nvSpPr>
          <p:cNvPr id="17" name="Text 15"/>
          <p:cNvSpPr/>
          <p:nvPr/>
        </p:nvSpPr>
        <p:spPr>
          <a:xfrm>
            <a:off x="645319"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Returns Analysis</a:t>
            </a:r>
            <a:endParaRPr lang="en-US" sz="1600" dirty="0">
              <a:latin typeface="Arial" panose="020B0604020202020204" pitchFamily="34" charset="0"/>
            </a:endParaRPr>
          </a:p>
        </p:txBody>
      </p:sp>
      <p:sp>
        <p:nvSpPr>
          <p:cNvPr id="18" name="Text 16"/>
          <p:cNvSpPr/>
          <p:nvPr/>
        </p:nvSpPr>
        <p:spPr>
          <a:xfrm>
            <a:off x="645319"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trends and rates</a:t>
            </a:r>
            <a:endParaRPr lang="en-US" sz="1200" dirty="0">
              <a:latin typeface="Arial" panose="020B0604020202020204" pitchFamily="34" charset="0"/>
            </a:endParaRPr>
          </a:p>
        </p:txBody>
      </p:sp>
      <p:sp>
        <p:nvSpPr>
          <p:cNvPr id="19" name="Shape 17"/>
          <p:cNvSpPr/>
          <p:nvPr/>
        </p:nvSpPr>
        <p:spPr>
          <a:xfrm>
            <a:off x="4632499" y="3200623"/>
            <a:ext cx="3995217" cy="709910"/>
          </a:xfrm>
          <a:prstGeom prst="roundRect">
            <a:avLst>
              <a:gd name="adj" fmla="val 27274"/>
            </a:avLst>
          </a:prstGeom>
          <a:solidFill>
            <a:srgbClr val="46464A"/>
          </a:solidFill>
          <a:ln/>
        </p:spPr>
      </p:sp>
      <p:sp>
        <p:nvSpPr>
          <p:cNvPr id="20" name="Text 18"/>
          <p:cNvSpPr/>
          <p:nvPr/>
        </p:nvSpPr>
        <p:spPr>
          <a:xfrm>
            <a:off x="4761533"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Buy-back Analysis</a:t>
            </a:r>
            <a:endParaRPr lang="en-US" sz="1600" dirty="0">
              <a:latin typeface="Arial" panose="020B0604020202020204" pitchFamily="34" charset="0"/>
            </a:endParaRPr>
          </a:p>
        </p:txBody>
      </p:sp>
      <p:sp>
        <p:nvSpPr>
          <p:cNvPr id="21" name="Text 19"/>
          <p:cNvSpPr/>
          <p:nvPr/>
        </p:nvSpPr>
        <p:spPr>
          <a:xfrm>
            <a:off x="4761533"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Old gold activity tracking</a:t>
            </a:r>
            <a:endParaRPr lang="en-US" sz="1200" dirty="0">
              <a:latin typeface="Arial" panose="020B0604020202020204" pitchFamily="34" charset="0"/>
            </a:endParaRPr>
          </a:p>
        </p:txBody>
      </p:sp>
      <p:sp>
        <p:nvSpPr>
          <p:cNvPr id="22" name="Shape 20"/>
          <p:cNvSpPr/>
          <p:nvPr/>
        </p:nvSpPr>
        <p:spPr>
          <a:xfrm>
            <a:off x="516285" y="4031531"/>
            <a:ext cx="3995217" cy="709910"/>
          </a:xfrm>
          <a:prstGeom prst="roundRect">
            <a:avLst>
              <a:gd name="adj" fmla="val 27274"/>
            </a:avLst>
          </a:prstGeom>
          <a:solidFill>
            <a:srgbClr val="46464A"/>
          </a:solidFill>
          <a:ln/>
        </p:spPr>
      </p:sp>
      <p:sp>
        <p:nvSpPr>
          <p:cNvPr id="23" name="Text 21"/>
          <p:cNvSpPr/>
          <p:nvPr/>
        </p:nvSpPr>
        <p:spPr>
          <a:xfrm>
            <a:off x="645319" y="4160565"/>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Analysis</a:t>
            </a:r>
            <a:endParaRPr lang="en-US" sz="1600" dirty="0">
              <a:latin typeface="Arial" panose="020B0604020202020204" pitchFamily="34" charset="0"/>
            </a:endParaRPr>
          </a:p>
        </p:txBody>
      </p:sp>
      <p:sp>
        <p:nvSpPr>
          <p:cNvPr id="24" name="Text 22"/>
          <p:cNvSpPr/>
          <p:nvPr/>
        </p:nvSpPr>
        <p:spPr>
          <a:xfrm>
            <a:off x="645319"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Payment method preferences</a:t>
            </a:r>
            <a:endParaRPr lang="en-US" sz="1200" dirty="0">
              <a:latin typeface="Arial" panose="020B0604020202020204" pitchFamily="34" charset="0"/>
            </a:endParaRPr>
          </a:p>
        </p:txBody>
      </p:sp>
      <p:sp>
        <p:nvSpPr>
          <p:cNvPr id="25" name="Shape 23"/>
          <p:cNvSpPr/>
          <p:nvPr/>
        </p:nvSpPr>
        <p:spPr>
          <a:xfrm>
            <a:off x="4632499" y="4031531"/>
            <a:ext cx="3995217" cy="709910"/>
          </a:xfrm>
          <a:prstGeom prst="roundRect">
            <a:avLst>
              <a:gd name="adj" fmla="val 27274"/>
            </a:avLst>
          </a:prstGeom>
          <a:solidFill>
            <a:srgbClr val="46464A"/>
          </a:solidFill>
          <a:ln/>
        </p:spPr>
      </p:sp>
      <p:sp>
        <p:nvSpPr>
          <p:cNvPr id="26" name="Text 24"/>
          <p:cNvSpPr/>
          <p:nvPr/>
        </p:nvSpPr>
        <p:spPr>
          <a:xfrm>
            <a:off x="4761533" y="4160565"/>
            <a:ext cx="1589856"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Salesperson Analysis</a:t>
            </a:r>
            <a:endParaRPr lang="en-US" sz="1600" dirty="0">
              <a:latin typeface="Arial" panose="020B0604020202020204" pitchFamily="34" charset="0"/>
            </a:endParaRPr>
          </a:p>
        </p:txBody>
      </p:sp>
      <p:sp>
        <p:nvSpPr>
          <p:cNvPr id="27" name="Text 25"/>
          <p:cNvSpPr/>
          <p:nvPr/>
        </p:nvSpPr>
        <p:spPr>
          <a:xfrm>
            <a:off x="4761533"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Employee performance metrics</a:t>
            </a:r>
            <a:endParaRPr lang="en-US" sz="1200" dirty="0">
              <a:latin typeface="Arial" panose="020B0604020202020204" pitchFamily="34" charset="0"/>
            </a:endParaRPr>
          </a:p>
        </p:txBody>
      </p:sp>
    </p:spTree>
    <p:extLst>
      <p:ext uri="{BB962C8B-B14F-4D97-AF65-F5344CB8AC3E}">
        <p14:creationId xmlns:p14="http://schemas.microsoft.com/office/powerpoint/2010/main" val="1805831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6822" y="177477"/>
            <a:ext cx="790277" cy="233214"/>
          </a:xfrm>
          <a:prstGeom prst="roundRect">
            <a:avLst>
              <a:gd name="adj" fmla="val 6383"/>
            </a:avLst>
          </a:prstGeom>
          <a:solidFill>
            <a:srgbClr val="494904"/>
          </a:solidFill>
          <a:ln/>
        </p:spPr>
      </p:sp>
      <p:sp>
        <p:nvSpPr>
          <p:cNvPr id="3" name="Text 1"/>
          <p:cNvSpPr/>
          <p:nvPr/>
        </p:nvSpPr>
        <p:spPr>
          <a:xfrm>
            <a:off x="496119" y="199668"/>
            <a:ext cx="1098649" cy="158800"/>
          </a:xfrm>
          <a:prstGeom prst="rect">
            <a:avLst/>
          </a:prstGeom>
          <a:noFill/>
          <a:ln/>
        </p:spPr>
        <p:txBody>
          <a:bodyPr wrap="none" lIns="0" tIns="0" rIns="0" bIns="0" rtlCol="0" anchor="t"/>
          <a:lstStyle/>
          <a:p>
            <a:pPr marL="0" indent="0" algn="l">
              <a:lnSpc>
                <a:spcPct val="133000"/>
              </a:lnSpc>
              <a:buNone/>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CHALLENGE 1</a:t>
            </a:r>
            <a:endParaRPr lang="en-US" sz="1000" dirty="0">
              <a:latin typeface="Arial" panose="020B0604020202020204" pitchFamily="34" charset="0"/>
            </a:endParaRPr>
          </a:p>
        </p:txBody>
      </p:sp>
      <p:sp>
        <p:nvSpPr>
          <p:cNvPr id="4" name="Text 2"/>
          <p:cNvSpPr/>
          <p:nvPr/>
        </p:nvSpPr>
        <p:spPr>
          <a:xfrm>
            <a:off x="406822" y="447057"/>
            <a:ext cx="4646488" cy="387548"/>
          </a:xfrm>
          <a:prstGeom prst="rect">
            <a:avLst/>
          </a:prstGeom>
          <a:noFill/>
          <a:ln/>
        </p:spPr>
        <p:txBody>
          <a:bodyPr wrap="none" lIns="0" tIns="0" rIns="0" bIns="0" rtlCol="0" anchor="t"/>
          <a:lstStyle/>
          <a:p>
            <a:pPr marL="0" indent="0" algn="l">
              <a:lnSpc>
                <a:spcPct val="104000"/>
              </a:lnSpc>
              <a:buNone/>
            </a:pPr>
            <a:r>
              <a:rPr lang="en-US" sz="3600" dirty="0">
                <a:solidFill>
                  <a:srgbClr val="FEFEFE"/>
                </a:solidFill>
                <a:latin typeface="Arial" panose="020B0604020202020204" pitchFamily="34" charset="0"/>
                <a:ea typeface="Calibri" panose="020F0502020204030204" pitchFamily="34" charset="0"/>
                <a:cs typeface="Arial" panose="020B0604020202020204" pitchFamily="34" charset="0"/>
              </a:rPr>
              <a:t>Executive Sales Performance</a:t>
            </a:r>
            <a:endParaRPr lang="en-US" sz="3600" dirty="0">
              <a:latin typeface="Arial" panose="020B0604020202020204" pitchFamily="34" charset="0"/>
            </a:endParaRPr>
          </a:p>
        </p:txBody>
      </p:sp>
      <p:sp>
        <p:nvSpPr>
          <p:cNvPr id="5" name="Text 3"/>
          <p:cNvSpPr/>
          <p:nvPr/>
        </p:nvSpPr>
        <p:spPr>
          <a:xfrm>
            <a:off x="423564" y="1030846"/>
            <a:ext cx="8608963" cy="615661"/>
          </a:xfrm>
          <a:prstGeom prst="rect">
            <a:avLst/>
          </a:prstGeom>
          <a:noFill/>
          <a:ln/>
        </p:spPr>
        <p:txBody>
          <a:bodyPr wrap="none" lIns="0" tIns="0" rIns="0" bIns="0" rtlCol="0" anchor="t"/>
          <a:lstStyle/>
          <a:p>
            <a:pPr marL="0" indent="0" algn="l">
              <a:lnSpc>
                <a:spcPct val="133000"/>
              </a:lnSpc>
              <a:buNone/>
            </a:pPr>
            <a:r>
              <a:rPr lang="en-US" sz="14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 Provide management with a high-level overview of company performance through key sales </a:t>
            </a:r>
          </a:p>
          <a:p>
            <a:pPr marL="0" indent="0" algn="l">
              <a:lnSpc>
                <a:spcPct val="133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KPIs and revenue trends.</a:t>
            </a:r>
            <a:endParaRPr lang="en-US" sz="1400" dirty="0">
              <a:latin typeface="Arial" panose="020B0604020202020204" pitchFamily="34" charset="0"/>
            </a:endParaRPr>
          </a:p>
        </p:txBody>
      </p:sp>
      <p:sp>
        <p:nvSpPr>
          <p:cNvPr id="6" name="Shape 4"/>
          <p:cNvSpPr/>
          <p:nvPr/>
        </p:nvSpPr>
        <p:spPr>
          <a:xfrm>
            <a:off x="406822" y="1946448"/>
            <a:ext cx="4103191" cy="2861771"/>
          </a:xfrm>
          <a:prstGeom prst="roundRect">
            <a:avLst>
              <a:gd name="adj" fmla="val 761"/>
            </a:avLst>
          </a:prstGeom>
          <a:solidFill>
            <a:srgbClr val="F5F547"/>
          </a:solidFill>
          <a:ln/>
        </p:spPr>
      </p:sp>
      <p:sp>
        <p:nvSpPr>
          <p:cNvPr id="7" name="Text 5"/>
          <p:cNvSpPr/>
          <p:nvPr/>
        </p:nvSpPr>
        <p:spPr>
          <a:xfrm>
            <a:off x="530796" y="2070422"/>
            <a:ext cx="2007766" cy="193849"/>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rial" panose="020B0604020202020204" pitchFamily="34" charset="0"/>
                <a:ea typeface="Calibri" panose="020F0502020204030204" pitchFamily="34" charset="0"/>
                <a:cs typeface="Arial" panose="020B0604020202020204" pitchFamily="34" charset="0"/>
              </a:rPr>
              <a:t>Key Insights</a:t>
            </a:r>
            <a:endParaRPr lang="en-US" dirty="0">
              <a:latin typeface="Arial" panose="020B0604020202020204" pitchFamily="34" charset="0"/>
            </a:endParaRPr>
          </a:p>
        </p:txBody>
      </p:sp>
      <p:sp>
        <p:nvSpPr>
          <p:cNvPr id="8" name="Text 6"/>
          <p:cNvSpPr/>
          <p:nvPr/>
        </p:nvSpPr>
        <p:spPr>
          <a:xfrm>
            <a:off x="530796" y="2388245"/>
            <a:ext cx="3855244" cy="1959694"/>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Total revenue shows a consistent growth trend over the reporting period.</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Revenue is primarily driven by Gold jewellery compared to other divisions.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22K products contribute the largest share of total sales.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A small number of branches generate a significant portion of company revenue.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Monthly sales fluctuate during festive and promotional periods, indicating seasonal demand.</a:t>
            </a:r>
            <a:endParaRPr lang="en-US" sz="1100" dirty="0">
              <a:latin typeface="Arial" panose="020B0604020202020204" pitchFamily="34" charset="0"/>
            </a:endParaRPr>
          </a:p>
        </p:txBody>
      </p:sp>
      <p:sp>
        <p:nvSpPr>
          <p:cNvPr id="9" name="Text 7"/>
          <p:cNvSpPr/>
          <p:nvPr/>
        </p:nvSpPr>
        <p:spPr>
          <a:xfrm>
            <a:off x="4728046" y="2070422"/>
            <a:ext cx="2007766" cy="193849"/>
          </a:xfrm>
          <a:prstGeom prst="rect">
            <a:avLst/>
          </a:prstGeom>
          <a:noFill/>
          <a:ln/>
        </p:spPr>
        <p:txBody>
          <a:bodyPr wrap="none" lIns="0" tIns="0" rIns="0" bIns="0" rtlCol="0" anchor="t"/>
          <a:lstStyle/>
          <a:p>
            <a:pPr marL="0" indent="0" algn="l">
              <a:lnSpc>
                <a:spcPct val="104000"/>
              </a:lnSpc>
              <a:buNone/>
            </a:pPr>
            <a:r>
              <a:rPr lang="en-US" dirty="0">
                <a:solidFill>
                  <a:srgbClr val="FEFEFE"/>
                </a:solidFill>
                <a:latin typeface="Arial" panose="020B0604020202020204" pitchFamily="34" charset="0"/>
                <a:ea typeface="Calibri" panose="020F0502020204030204" pitchFamily="34" charset="0"/>
                <a:cs typeface="Arial" panose="020B0604020202020204" pitchFamily="34" charset="0"/>
              </a:rPr>
              <a:t>Recommendations</a:t>
            </a:r>
            <a:endParaRPr lang="en-US" dirty="0">
              <a:latin typeface="Arial" panose="020B0604020202020204" pitchFamily="34" charset="0"/>
            </a:endParaRPr>
          </a:p>
        </p:txBody>
      </p:sp>
      <p:sp>
        <p:nvSpPr>
          <p:cNvPr id="10" name="Text 8"/>
          <p:cNvSpPr/>
          <p:nvPr/>
        </p:nvSpPr>
        <p:spPr>
          <a:xfrm>
            <a:off x="4728046" y="2388245"/>
            <a:ext cx="3924598" cy="195969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Increase inventory levels for high-demand 22K products.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Plan marketing campaigns around seasonal sales peaks.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Benchmark top-performing branches and replicate strategies across locations.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Monitor executive KPIs regularly to enable proactive decision-making.</a:t>
            </a:r>
            <a:endParaRPr lang="en-US" sz="1200"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481831" y="116384"/>
            <a:ext cx="716161" cy="204564"/>
          </a:xfrm>
          <a:prstGeom prst="roundRect">
            <a:avLst>
              <a:gd name="adj" fmla="val 6595"/>
            </a:avLst>
          </a:prstGeom>
          <a:solidFill>
            <a:srgbClr val="494904"/>
          </a:solidFill>
          <a:ln/>
        </p:spPr>
      </p:sp>
      <p:sp>
        <p:nvSpPr>
          <p:cNvPr id="4" name="Text 1"/>
          <p:cNvSpPr/>
          <p:nvPr/>
        </p:nvSpPr>
        <p:spPr>
          <a:xfrm>
            <a:off x="549250" y="150094"/>
            <a:ext cx="1038523" cy="137145"/>
          </a:xfrm>
          <a:prstGeom prst="rect">
            <a:avLst/>
          </a:prstGeom>
          <a:noFill/>
          <a:ln/>
        </p:spPr>
        <p:txBody>
          <a:bodyPr wrap="none" lIns="0" tIns="0" rIns="0" bIns="0" rtlCol="0" anchor="t"/>
          <a:lstStyle/>
          <a:p>
            <a:pPr marL="0" indent="0" algn="l">
              <a:lnSpc>
                <a:spcPct val="127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2</a:t>
            </a:r>
            <a:endParaRPr lang="en-US" sz="900" dirty="0">
              <a:latin typeface="Arial" panose="020B0604020202020204" pitchFamily="34" charset="0"/>
            </a:endParaRPr>
          </a:p>
        </p:txBody>
      </p:sp>
      <p:sp>
        <p:nvSpPr>
          <p:cNvPr id="5" name="Text 2"/>
          <p:cNvSpPr/>
          <p:nvPr/>
        </p:nvSpPr>
        <p:spPr>
          <a:xfrm>
            <a:off x="481831" y="393055"/>
            <a:ext cx="4295775" cy="351309"/>
          </a:xfrm>
          <a:prstGeom prst="rect">
            <a:avLst/>
          </a:prstGeom>
          <a:noFill/>
          <a:ln/>
        </p:spPr>
        <p:txBody>
          <a:bodyPr wrap="none" lIns="0" tIns="0" rIns="0" bIns="0" rtlCol="0" anchor="t"/>
          <a:lstStyle/>
          <a:p>
            <a:pPr marL="0" indent="0" algn="l">
              <a:lnSpc>
                <a:spcPct val="104000"/>
              </a:lnSpc>
              <a:buNone/>
            </a:pPr>
            <a:r>
              <a:rPr lang="en-US" sz="2800" dirty="0">
                <a:solidFill>
                  <a:srgbClr val="FEFEFE"/>
                </a:solidFill>
                <a:latin typeface="Arial" panose="020B0604020202020204" pitchFamily="34" charset="0"/>
                <a:ea typeface="Calibri" panose="020F0502020204030204" pitchFamily="34" charset="0"/>
                <a:cs typeface="Arial" panose="020B0604020202020204" pitchFamily="34" charset="0"/>
              </a:rPr>
              <a:t>Branch Performance Analysis</a:t>
            </a:r>
            <a:endParaRPr lang="en-US" sz="2800" dirty="0">
              <a:latin typeface="Arial" panose="020B0604020202020204" pitchFamily="34" charset="0"/>
            </a:endParaRPr>
          </a:p>
        </p:txBody>
      </p:sp>
      <p:sp>
        <p:nvSpPr>
          <p:cNvPr id="6" name="Text 3"/>
          <p:cNvSpPr/>
          <p:nvPr/>
        </p:nvSpPr>
        <p:spPr>
          <a:xfrm>
            <a:off x="517549" y="865570"/>
            <a:ext cx="4722763" cy="490790"/>
          </a:xfrm>
          <a:prstGeom prst="rect">
            <a:avLst/>
          </a:prstGeom>
          <a:noFill/>
          <a:ln/>
        </p:spPr>
        <p:txBody>
          <a:bodyPr wrap="square" lIns="0" tIns="0" rIns="0" bIns="0" rtlCol="0" anchor="t">
            <a:noAutofit/>
          </a:bodyPr>
          <a:lstStyle/>
          <a:p>
            <a:pPr marL="0" indent="0" algn="l">
              <a:lnSpc>
                <a:spcPct val="127000"/>
              </a:lnSpc>
              <a:buNone/>
            </a:pPr>
            <a:r>
              <a:rPr lang="en-US" sz="11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 Evaluate branch-level performance and identify opportunities for operational improvement.</a:t>
            </a:r>
            <a:endParaRPr lang="en-US" sz="11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262" y="1366726"/>
            <a:ext cx="4737050" cy="1932384"/>
          </a:xfrm>
          <a:prstGeom prst="rect">
            <a:avLst/>
          </a:prstGeom>
        </p:spPr>
      </p:pic>
      <p:sp>
        <p:nvSpPr>
          <p:cNvPr id="8" name="Text 4"/>
          <p:cNvSpPr/>
          <p:nvPr/>
        </p:nvSpPr>
        <p:spPr>
          <a:xfrm>
            <a:off x="665634" y="1493580"/>
            <a:ext cx="1405161" cy="175617"/>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400" dirty="0">
              <a:latin typeface="Arial" panose="020B0604020202020204" pitchFamily="34" charset="0"/>
            </a:endParaRPr>
          </a:p>
        </p:txBody>
      </p:sp>
      <p:sp>
        <p:nvSpPr>
          <p:cNvPr id="9" name="Text 5"/>
          <p:cNvSpPr/>
          <p:nvPr/>
        </p:nvSpPr>
        <p:spPr>
          <a:xfrm>
            <a:off x="665634" y="1747279"/>
            <a:ext cx="4426595" cy="1455725"/>
          </a:xfrm>
          <a:prstGeom prst="rect">
            <a:avLst/>
          </a:prstGeom>
          <a:noFill/>
          <a:ln/>
        </p:spPr>
        <p:txBody>
          <a:bodyPr wrap="square" lIns="0" tIns="0" rIns="0" bIns="0" rtlCol="0" anchor="t">
            <a:noAutofit/>
          </a:bodyPr>
          <a:lstStyle/>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Revenue performance varies significantly across branches.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Some </a:t>
            </a: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branches</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achieve high revenue with fewer transactions, indicating higher average transaction values.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Branch-specific karat preferences differ based on customer demographics.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Salesperson productivity varies considerably </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within</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branches.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Payment preferences differ across locations.</a:t>
            </a:r>
            <a:endParaRPr lang="en-US" sz="105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1831" y="3329656"/>
            <a:ext cx="4737050" cy="1697459"/>
          </a:xfrm>
          <a:prstGeom prst="rect">
            <a:avLst/>
          </a:prstGeom>
        </p:spPr>
      </p:pic>
      <p:sp>
        <p:nvSpPr>
          <p:cNvPr id="11" name="Text 6"/>
          <p:cNvSpPr/>
          <p:nvPr/>
        </p:nvSpPr>
        <p:spPr>
          <a:xfrm>
            <a:off x="665634" y="3456310"/>
            <a:ext cx="1405161" cy="175617"/>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400" dirty="0">
              <a:latin typeface="Arial" panose="020B0604020202020204" pitchFamily="34" charset="0"/>
            </a:endParaRPr>
          </a:p>
        </p:txBody>
      </p:sp>
      <p:sp>
        <p:nvSpPr>
          <p:cNvPr id="12" name="Text 7"/>
          <p:cNvSpPr/>
          <p:nvPr/>
        </p:nvSpPr>
        <p:spPr>
          <a:xfrm>
            <a:off x="665634" y="3693021"/>
            <a:ext cx="4426595" cy="1206639"/>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Share best practices from high-performing branches with lower-performing locations.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Conduct branch-level performance reviews using KPI scorecards.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Optimize branch inventory according to local customer preferences.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Introduce branch-specific sales improvement initiatives.</a:t>
            </a:r>
            <a:endParaRPr lang="en-US" sz="105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7539" y="153441"/>
            <a:ext cx="790277" cy="233214"/>
          </a:xfrm>
          <a:prstGeom prst="roundRect">
            <a:avLst>
              <a:gd name="adj" fmla="val 6383"/>
            </a:avLst>
          </a:prstGeom>
          <a:solidFill>
            <a:srgbClr val="494904"/>
          </a:solidFill>
          <a:ln/>
        </p:spPr>
      </p:sp>
      <p:sp>
        <p:nvSpPr>
          <p:cNvPr id="3" name="Text 1"/>
          <p:cNvSpPr/>
          <p:nvPr/>
        </p:nvSpPr>
        <p:spPr>
          <a:xfrm>
            <a:off x="496119" y="19064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3</a:t>
            </a:r>
            <a:endParaRPr lang="en-US" sz="750" dirty="0">
              <a:latin typeface="Arial" panose="020B0604020202020204" pitchFamily="34" charset="0"/>
            </a:endParaRPr>
          </a:p>
        </p:txBody>
      </p:sp>
      <p:sp>
        <p:nvSpPr>
          <p:cNvPr id="4" name="Text 2"/>
          <p:cNvSpPr/>
          <p:nvPr/>
        </p:nvSpPr>
        <p:spPr>
          <a:xfrm>
            <a:off x="358959" y="612949"/>
            <a:ext cx="4702299"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Sales &amp; Product Performance</a:t>
            </a:r>
            <a:endParaRPr lang="en-US" sz="2400" dirty="0">
              <a:latin typeface="Arial" panose="020B0604020202020204" pitchFamily="34" charset="0"/>
            </a:endParaRPr>
          </a:p>
        </p:txBody>
      </p:sp>
      <p:sp>
        <p:nvSpPr>
          <p:cNvPr id="5" name="Text 3"/>
          <p:cNvSpPr/>
          <p:nvPr/>
        </p:nvSpPr>
        <p:spPr>
          <a:xfrm>
            <a:off x="479048" y="1117632"/>
            <a:ext cx="8608963" cy="277035"/>
          </a:xfrm>
          <a:prstGeom prst="rect">
            <a:avLst/>
          </a:prstGeom>
          <a:noFill/>
          <a:ln/>
        </p:spPr>
        <p:txBody>
          <a:bodyPr wrap="none" lIns="0" tIns="0" rIns="0" bIns="0" rtlCol="0" anchor="t"/>
          <a:lstStyle/>
          <a:p>
            <a:pPr marL="0" indent="0" algn="l">
              <a:lnSpc>
                <a:spcPct val="133000"/>
              </a:lnSpc>
              <a:buNone/>
            </a:pPr>
            <a:r>
              <a:rPr lang="en-US" sz="10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Identify high-performing products and evaluate product profitability.</a:t>
            </a:r>
            <a:endParaRPr lang="en-US" sz="1050" dirty="0">
              <a:latin typeface="Arial" panose="020B0604020202020204" pitchFamily="34" charset="0"/>
            </a:endParaRPr>
          </a:p>
        </p:txBody>
      </p:sp>
      <p:sp>
        <p:nvSpPr>
          <p:cNvPr id="6" name="Text 4"/>
          <p:cNvSpPr/>
          <p:nvPr/>
        </p:nvSpPr>
        <p:spPr>
          <a:xfrm>
            <a:off x="427539" y="162326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EFEFE"/>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7" name="Text 5"/>
          <p:cNvSpPr/>
          <p:nvPr/>
        </p:nvSpPr>
        <p:spPr>
          <a:xfrm>
            <a:off x="496119" y="2045716"/>
            <a:ext cx="3924598" cy="220302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Rings and Chains contribute a major share of total revenue.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Certain Item Type × Karat combinations consistently outperform others.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Products with higher making charges generate better profit margins.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Discount patterns differ across </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product</a:t>
            </a: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 categories.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A small number of products contribute disproportionately to overall sales.</a:t>
            </a:r>
            <a:endParaRPr lang="en-US" sz="1100" dirty="0">
              <a:latin typeface="Arial" panose="020B0604020202020204" pitchFamily="34" charset="0"/>
            </a:endParaRPr>
          </a:p>
        </p:txBody>
      </p:sp>
      <p:sp>
        <p:nvSpPr>
          <p:cNvPr id="8" name="Shape 6"/>
          <p:cNvSpPr/>
          <p:nvPr/>
        </p:nvSpPr>
        <p:spPr>
          <a:xfrm>
            <a:off x="4638749" y="1720191"/>
            <a:ext cx="4103191" cy="2246412"/>
          </a:xfrm>
          <a:prstGeom prst="roundRect">
            <a:avLst>
              <a:gd name="adj" fmla="val 828"/>
            </a:avLst>
          </a:prstGeom>
          <a:solidFill>
            <a:srgbClr val="F5F547"/>
          </a:solidFill>
          <a:ln/>
        </p:spPr>
      </p:sp>
      <p:sp>
        <p:nvSpPr>
          <p:cNvPr id="9" name="Text 7"/>
          <p:cNvSpPr/>
          <p:nvPr/>
        </p:nvSpPr>
        <p:spPr>
          <a:xfrm>
            <a:off x="4762723" y="182272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0" name="Text 8"/>
          <p:cNvSpPr/>
          <p:nvPr/>
        </p:nvSpPr>
        <p:spPr>
          <a:xfrm>
            <a:off x="4762722" y="2107264"/>
            <a:ext cx="3855244" cy="1703488"/>
          </a:xfrm>
          <a:prstGeom prst="rect">
            <a:avLst/>
          </a:prstGeom>
          <a:noFill/>
          <a:ln/>
        </p:spPr>
        <p:txBody>
          <a:bodyPr wrap="square" lIns="0" tIns="0" rIns="0" bIns="0" rtlCol="0" anchor="t">
            <a:normAutofit lnSpcReduction="10000"/>
          </a:bodyPr>
          <a:lstStyle/>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Prioritize inventory replenishment for top-selling products.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Focus promotional campaigns on high-margin product categories.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Review low-performing products for redesign or discontinuation.</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Strengthen discount approval policies to protect profitability.</a:t>
            </a:r>
            <a:endParaRPr lang="en-US" sz="11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140494"/>
            <a:ext cx="1098649" cy="233214"/>
          </a:xfrm>
          <a:prstGeom prst="roundRect">
            <a:avLst>
              <a:gd name="adj" fmla="val 6383"/>
            </a:avLst>
          </a:prstGeom>
          <a:solidFill>
            <a:srgbClr val="494904"/>
          </a:solidFill>
          <a:ln/>
        </p:spPr>
      </p:sp>
      <p:sp>
        <p:nvSpPr>
          <p:cNvPr id="3" name="Text 1"/>
          <p:cNvSpPr/>
          <p:nvPr/>
        </p:nvSpPr>
        <p:spPr>
          <a:xfrm>
            <a:off x="570533" y="140494"/>
            <a:ext cx="1098649" cy="158800"/>
          </a:xfrm>
          <a:prstGeom prst="rect">
            <a:avLst/>
          </a:prstGeom>
          <a:noFill/>
          <a:ln/>
        </p:spPr>
        <p:txBody>
          <a:bodyPr wrap="none" lIns="0" tIns="0" rIns="0" bIns="0" rtlCol="0" anchor="t"/>
          <a:lstStyle/>
          <a:p>
            <a:pPr marL="0" indent="0" algn="l">
              <a:lnSpc>
                <a:spcPct val="133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4</a:t>
            </a:r>
            <a:endParaRPr lang="en-US" sz="900" dirty="0">
              <a:latin typeface="Arial" panose="020B0604020202020204" pitchFamily="34" charset="0"/>
            </a:endParaRPr>
          </a:p>
        </p:txBody>
      </p:sp>
      <p:sp>
        <p:nvSpPr>
          <p:cNvPr id="4" name="Text 2"/>
          <p:cNvSpPr/>
          <p:nvPr/>
        </p:nvSpPr>
        <p:spPr>
          <a:xfrm>
            <a:off x="223763" y="497682"/>
            <a:ext cx="3645843"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Customer Intelligence</a:t>
            </a:r>
            <a:endParaRPr lang="en-US" sz="2400" dirty="0">
              <a:latin typeface="Arial" panose="020B0604020202020204" pitchFamily="34" charset="0"/>
            </a:endParaRPr>
          </a:p>
        </p:txBody>
      </p:sp>
      <p:sp>
        <p:nvSpPr>
          <p:cNvPr id="5" name="Text 3"/>
          <p:cNvSpPr/>
          <p:nvPr/>
        </p:nvSpPr>
        <p:spPr>
          <a:xfrm>
            <a:off x="496119" y="959644"/>
            <a:ext cx="8608963" cy="348854"/>
          </a:xfrm>
          <a:prstGeom prst="rect">
            <a:avLst/>
          </a:prstGeom>
          <a:noFill/>
          <a:ln/>
        </p:spPr>
        <p:txBody>
          <a:bodyPr wrap="none" lIns="0" tIns="0" rIns="0" bIns="0" rtlCol="0" anchor="t"/>
          <a:lstStyle/>
          <a:p>
            <a:pPr marL="0" indent="0" algn="l">
              <a:lnSpc>
                <a:spcPct val="133000"/>
              </a:lnSpc>
              <a:buNone/>
            </a:pPr>
            <a:r>
              <a:rPr lang="en-US" sz="12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 Understand customer behavior, loyalty, and long-term business value.</a:t>
            </a:r>
            <a:endParaRPr lang="en-US" sz="1200" dirty="0">
              <a:latin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391790" y="1321705"/>
            <a:ext cx="1759223" cy="1087264"/>
          </a:xfrm>
          <a:prstGeom prst="rect">
            <a:avLst/>
          </a:prstGeom>
        </p:spPr>
      </p:pic>
      <p:sp>
        <p:nvSpPr>
          <p:cNvPr id="7" name="Text 4"/>
          <p:cNvSpPr/>
          <p:nvPr/>
        </p:nvSpPr>
        <p:spPr>
          <a:xfrm>
            <a:off x="344574" y="2637607"/>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600" dirty="0">
              <a:latin typeface="Arial" panose="020B0604020202020204" pitchFamily="34" charset="0"/>
            </a:endParaRPr>
          </a:p>
        </p:txBody>
      </p:sp>
      <p:sp>
        <p:nvSpPr>
          <p:cNvPr id="8" name="Text 5"/>
          <p:cNvSpPr/>
          <p:nvPr/>
        </p:nvSpPr>
        <p:spPr>
          <a:xfrm>
            <a:off x="496119" y="2971800"/>
            <a:ext cx="3998342" cy="1897380"/>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A large percentage of customers make only one purchase.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Returning customers generate a substantial share of revenue.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VIP customers contribute significantly more revenue than other segments.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Customer lifetime value varies across segments.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Purchase frequency highlights opportunities for retention improvement.</a:t>
            </a:r>
            <a:endParaRPr lang="en-US" sz="1100" dirty="0">
              <a:latin typeface="Arial" panose="020B0604020202020204" pitchFamily="34" charset="0"/>
            </a:endParaRPr>
          </a:p>
        </p:txBody>
      </p:sp>
      <p:pic>
        <p:nvPicPr>
          <p:cNvPr id="9" name="Image 1" descr="preencoded.png"/>
          <p:cNvPicPr>
            <a:picLocks noChangeAspect="1"/>
          </p:cNvPicPr>
          <p:nvPr/>
        </p:nvPicPr>
        <p:blipFill>
          <a:blip r:embed="rId4"/>
          <a:stretch>
            <a:fillRect/>
          </a:stretch>
        </p:blipFill>
        <p:spPr>
          <a:xfrm>
            <a:off x="5566633" y="1457064"/>
            <a:ext cx="1759297" cy="1087264"/>
          </a:xfrm>
          <a:prstGeom prst="rect">
            <a:avLst/>
          </a:prstGeom>
        </p:spPr>
      </p:pic>
      <p:sp>
        <p:nvSpPr>
          <p:cNvPr id="10" name="Text 6"/>
          <p:cNvSpPr/>
          <p:nvPr/>
        </p:nvSpPr>
        <p:spPr>
          <a:xfrm>
            <a:off x="5152385" y="2746641"/>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600" dirty="0">
              <a:latin typeface="Arial" panose="020B0604020202020204" pitchFamily="34" charset="0"/>
            </a:endParaRPr>
          </a:p>
        </p:txBody>
      </p:sp>
      <p:sp>
        <p:nvSpPr>
          <p:cNvPr id="11" name="Text 7"/>
          <p:cNvSpPr/>
          <p:nvPr/>
        </p:nvSpPr>
        <p:spPr>
          <a:xfrm>
            <a:off x="4800600" y="3139104"/>
            <a:ext cx="3998416" cy="183675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Launch customer loyalty and rewards programs.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Develop personalized marketing campaigns based on customer segments.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Offer exclusive benefits to VIP customers.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Implement targeted campaigns to convert one-time buyers into repeat customers.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Track customer retention using cohort analysis.</a:t>
            </a:r>
            <a:endParaRPr lang="en-US" sz="110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974080" y="0"/>
            <a:ext cx="3169920" cy="5143500"/>
          </a:xfrm>
          <a:prstGeom prst="rect">
            <a:avLst/>
          </a:prstGeom>
        </p:spPr>
      </p:pic>
      <p:sp>
        <p:nvSpPr>
          <p:cNvPr id="3" name="Shape 0"/>
          <p:cNvSpPr/>
          <p:nvPr/>
        </p:nvSpPr>
        <p:spPr>
          <a:xfrm>
            <a:off x="496118" y="27883"/>
            <a:ext cx="898341" cy="199270"/>
          </a:xfrm>
          <a:prstGeom prst="roundRect">
            <a:avLst>
              <a:gd name="adj" fmla="val 6492"/>
            </a:avLst>
          </a:prstGeom>
          <a:solidFill>
            <a:srgbClr val="494904"/>
          </a:solidFill>
          <a:ln/>
        </p:spPr>
      </p:sp>
      <p:sp>
        <p:nvSpPr>
          <p:cNvPr id="4" name="Text 1"/>
          <p:cNvSpPr/>
          <p:nvPr/>
        </p:nvSpPr>
        <p:spPr>
          <a:xfrm>
            <a:off x="496119" y="67701"/>
            <a:ext cx="1068809" cy="147712"/>
          </a:xfrm>
          <a:prstGeom prst="rect">
            <a:avLst/>
          </a:prstGeom>
          <a:noFill/>
          <a:ln/>
        </p:spPr>
        <p:txBody>
          <a:bodyPr wrap="none" lIns="0" tIns="0" rIns="0" bIns="0" rtlCol="0" anchor="t"/>
          <a:lstStyle/>
          <a:p>
            <a:pPr marL="0" indent="0" algn="l">
              <a:lnSpc>
                <a:spcPct val="130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5</a:t>
            </a:r>
            <a:endParaRPr lang="en-US" sz="900" dirty="0">
              <a:latin typeface="Arial" panose="020B0604020202020204" pitchFamily="34" charset="0"/>
            </a:endParaRPr>
          </a:p>
        </p:txBody>
      </p:sp>
      <p:sp>
        <p:nvSpPr>
          <p:cNvPr id="5" name="Text 2"/>
          <p:cNvSpPr/>
          <p:nvPr/>
        </p:nvSpPr>
        <p:spPr>
          <a:xfrm>
            <a:off x="193253" y="247404"/>
            <a:ext cx="4378747" cy="369466"/>
          </a:xfrm>
          <a:prstGeom prst="rect">
            <a:avLst/>
          </a:prstGeom>
          <a:noFill/>
          <a:ln/>
        </p:spPr>
        <p:txBody>
          <a:bodyPr wrap="none" lIns="0" tIns="0" rIns="0" bIns="0" rtlCol="0" anchor="t"/>
          <a:lstStyle/>
          <a:p>
            <a:pPr marL="0" indent="0" algn="l">
              <a:lnSpc>
                <a:spcPct val="104000"/>
              </a:lnSpc>
              <a:buNone/>
            </a:pPr>
            <a:r>
              <a:rPr lang="en-US" sz="2000" dirty="0">
                <a:solidFill>
                  <a:srgbClr val="FEFEFE"/>
                </a:solidFill>
                <a:latin typeface="Arial" panose="020B0604020202020204" pitchFamily="34" charset="0"/>
                <a:ea typeface="Calibri" panose="020F0502020204030204" pitchFamily="34" charset="0"/>
                <a:cs typeface="Arial" panose="020B0604020202020204" pitchFamily="34" charset="0"/>
              </a:rPr>
              <a:t>Returns &amp; Buy-Back Analysis</a:t>
            </a:r>
            <a:endParaRPr lang="en-US" sz="2000" dirty="0">
              <a:latin typeface="Arial" panose="020B0604020202020204" pitchFamily="34" charset="0"/>
            </a:endParaRPr>
          </a:p>
        </p:txBody>
      </p:sp>
      <p:sp>
        <p:nvSpPr>
          <p:cNvPr id="6" name="Text 3"/>
          <p:cNvSpPr/>
          <p:nvPr/>
        </p:nvSpPr>
        <p:spPr>
          <a:xfrm>
            <a:off x="267518" y="642976"/>
            <a:ext cx="5179963" cy="277878"/>
          </a:xfrm>
          <a:prstGeom prst="rect">
            <a:avLst/>
          </a:prstGeom>
          <a:noFill/>
          <a:ln/>
        </p:spPr>
        <p:txBody>
          <a:bodyPr wrap="none" lIns="0" tIns="0" rIns="0" bIns="0" rtlCol="0" anchor="t"/>
          <a:lstStyle/>
          <a:p>
            <a:pPr marL="0" indent="0" algn="l">
              <a:lnSpc>
                <a:spcPct val="130000"/>
              </a:lnSpc>
              <a:buNone/>
            </a:pPr>
            <a:r>
              <a:rPr lang="en-US" sz="10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Analyze return patterns and evaluate old gold buy-back activities.</a:t>
            </a:r>
            <a:endParaRPr lang="en-US" sz="1050" dirty="0">
              <a:latin typeface="Arial" panose="020B0604020202020204" pitchFamily="34" charset="0"/>
            </a:endParaRPr>
          </a:p>
        </p:txBody>
      </p:sp>
      <p:sp>
        <p:nvSpPr>
          <p:cNvPr id="7" name="Shape 4"/>
          <p:cNvSpPr/>
          <p:nvPr/>
        </p:nvSpPr>
        <p:spPr>
          <a:xfrm>
            <a:off x="146006" y="934386"/>
            <a:ext cx="5523273" cy="2228894"/>
          </a:xfrm>
          <a:prstGeom prst="roundRect">
            <a:avLst>
              <a:gd name="adj" fmla="val 1130"/>
            </a:avLst>
          </a:prstGeom>
          <a:solidFill>
            <a:srgbClr val="3E3E3E"/>
          </a:solidFill>
          <a:ln/>
        </p:spPr>
      </p:sp>
      <p:sp>
        <p:nvSpPr>
          <p:cNvPr id="8" name="Text 5"/>
          <p:cNvSpPr/>
          <p:nvPr/>
        </p:nvSpPr>
        <p:spPr>
          <a:xfrm>
            <a:off x="316580" y="1022973"/>
            <a:ext cx="1477863" cy="184696"/>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400" dirty="0">
              <a:latin typeface="Arial" panose="020B0604020202020204" pitchFamily="34" charset="0"/>
            </a:endParaRPr>
          </a:p>
        </p:txBody>
      </p:sp>
      <p:sp>
        <p:nvSpPr>
          <p:cNvPr id="9" name="Text 6"/>
          <p:cNvSpPr/>
          <p:nvPr/>
        </p:nvSpPr>
        <p:spPr>
          <a:xfrm>
            <a:off x="267518" y="1227920"/>
            <a:ext cx="5105698" cy="1954502"/>
          </a:xfrm>
          <a:prstGeom prst="rect">
            <a:avLst/>
          </a:prstGeom>
          <a:noFill/>
          <a:ln/>
        </p:spPr>
        <p:txBody>
          <a:bodyPr wrap="square" lIns="0" tIns="0" rIns="0" bIns="0" rtlCol="0" anchor="t">
            <a:noAutofit/>
          </a:bodyPr>
          <a:lstStyle/>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Overall return rates remain relatively low, indicating good product quality.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Certain branches record higher return percentages than others.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Some item types experience more frequent returns.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Old gold buy-back programs contribute significantly to business activity.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Customers using buy-back programs often purchase higher-value products.</a:t>
            </a:r>
            <a:endParaRPr lang="en-US" sz="1200" dirty="0">
              <a:latin typeface="Arial" panose="020B0604020202020204" pitchFamily="34" charset="0"/>
            </a:endParaRPr>
          </a:p>
        </p:txBody>
      </p:sp>
      <p:sp>
        <p:nvSpPr>
          <p:cNvPr id="10" name="Shape 7"/>
          <p:cNvSpPr/>
          <p:nvPr/>
        </p:nvSpPr>
        <p:spPr>
          <a:xfrm>
            <a:off x="193253" y="3275879"/>
            <a:ext cx="5476026" cy="1703397"/>
          </a:xfrm>
          <a:prstGeom prst="roundRect">
            <a:avLst>
              <a:gd name="adj" fmla="val 1130"/>
            </a:avLst>
          </a:prstGeom>
          <a:solidFill>
            <a:srgbClr val="3E3E3E"/>
          </a:solidFill>
          <a:ln/>
        </p:spPr>
      </p:sp>
      <p:sp>
        <p:nvSpPr>
          <p:cNvPr id="11" name="Text 8"/>
          <p:cNvSpPr/>
          <p:nvPr/>
        </p:nvSpPr>
        <p:spPr>
          <a:xfrm>
            <a:off x="267518" y="3314211"/>
            <a:ext cx="1477863" cy="184696"/>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400" dirty="0">
              <a:latin typeface="Arial" panose="020B0604020202020204" pitchFamily="34" charset="0"/>
            </a:endParaRPr>
          </a:p>
        </p:txBody>
      </p:sp>
      <p:sp>
        <p:nvSpPr>
          <p:cNvPr id="12" name="Text 9"/>
          <p:cNvSpPr/>
          <p:nvPr/>
        </p:nvSpPr>
        <p:spPr>
          <a:xfrm>
            <a:off x="335280" y="3555206"/>
            <a:ext cx="5273040" cy="1340890"/>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Investigate branches with unusually high return rates.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Improve quality control for frequently returned products.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Expand old gold exchange campaigns to drive additional sales.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Use return trend monitoring to identify operational issues early.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Encourage customers to upgrade jewellery through buy-back offers.</a:t>
            </a:r>
            <a:endParaRPr lang="en-US" sz="1200"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6822" y="153441"/>
            <a:ext cx="790277" cy="233214"/>
          </a:xfrm>
          <a:prstGeom prst="roundRect">
            <a:avLst>
              <a:gd name="adj" fmla="val 6383"/>
            </a:avLst>
          </a:prstGeom>
          <a:solidFill>
            <a:srgbClr val="494904"/>
          </a:solidFill>
          <a:ln/>
        </p:spPr>
      </p:sp>
      <p:sp>
        <p:nvSpPr>
          <p:cNvPr id="3" name="Text 1"/>
          <p:cNvSpPr/>
          <p:nvPr/>
        </p:nvSpPr>
        <p:spPr>
          <a:xfrm>
            <a:off x="530796" y="19064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6</a:t>
            </a:r>
            <a:endParaRPr lang="en-US" sz="750" dirty="0">
              <a:latin typeface="Arial" panose="020B0604020202020204" pitchFamily="34" charset="0"/>
            </a:endParaRPr>
          </a:p>
        </p:txBody>
      </p:sp>
      <p:sp>
        <p:nvSpPr>
          <p:cNvPr id="4" name="Text 2"/>
          <p:cNvSpPr/>
          <p:nvPr/>
        </p:nvSpPr>
        <p:spPr>
          <a:xfrm>
            <a:off x="336099" y="543223"/>
            <a:ext cx="5830714"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Payment &amp; Salesperson Performance</a:t>
            </a:r>
            <a:endParaRPr lang="en-US" sz="2400" dirty="0">
              <a:latin typeface="Arial" panose="020B0604020202020204" pitchFamily="34" charset="0"/>
            </a:endParaRPr>
          </a:p>
        </p:txBody>
      </p:sp>
      <p:sp>
        <p:nvSpPr>
          <p:cNvPr id="5" name="Text 3"/>
          <p:cNvSpPr/>
          <p:nvPr/>
        </p:nvSpPr>
        <p:spPr>
          <a:xfrm>
            <a:off x="530796" y="1025315"/>
            <a:ext cx="8608963" cy="347252"/>
          </a:xfrm>
          <a:prstGeom prst="rect">
            <a:avLst/>
          </a:prstGeom>
          <a:noFill/>
          <a:ln/>
        </p:spPr>
        <p:txBody>
          <a:bodyPr wrap="none" lIns="0" tIns="0" rIns="0" bIns="0" rtlCol="0" anchor="t"/>
          <a:lstStyle/>
          <a:p>
            <a:pPr marL="0" indent="0" algn="l">
              <a:lnSpc>
                <a:spcPct val="133000"/>
              </a:lnSpc>
              <a:buNone/>
            </a:pPr>
            <a:r>
              <a:rPr lang="en-US" sz="9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 Evaluate payment behavior and salesperson effectiveness.</a:t>
            </a:r>
            <a:endParaRPr lang="en-US" sz="950" dirty="0">
              <a:latin typeface="Arial" panose="020B0604020202020204" pitchFamily="34" charset="0"/>
            </a:endParaRPr>
          </a:p>
        </p:txBody>
      </p:sp>
      <p:sp>
        <p:nvSpPr>
          <p:cNvPr id="6" name="Shape 4"/>
          <p:cNvSpPr/>
          <p:nvPr/>
        </p:nvSpPr>
        <p:spPr>
          <a:xfrm>
            <a:off x="387519" y="1500484"/>
            <a:ext cx="4103191" cy="2881015"/>
          </a:xfrm>
          <a:prstGeom prst="roundRect">
            <a:avLst>
              <a:gd name="adj" fmla="val 828"/>
            </a:avLst>
          </a:prstGeom>
          <a:solidFill>
            <a:srgbClr val="F5F547"/>
          </a:solidFill>
          <a:ln/>
        </p:spPr>
      </p:sp>
      <p:sp>
        <p:nvSpPr>
          <p:cNvPr id="7" name="Text 5"/>
          <p:cNvSpPr/>
          <p:nvPr/>
        </p:nvSpPr>
        <p:spPr>
          <a:xfrm>
            <a:off x="530796" y="1703226"/>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8" name="Text 6"/>
          <p:cNvSpPr/>
          <p:nvPr/>
        </p:nvSpPr>
        <p:spPr>
          <a:xfrm>
            <a:off x="538610" y="2025732"/>
            <a:ext cx="3855244" cy="221098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Cash remains the dominant payment mode, although digital payments continue to increase.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Payment preferences vary by branch.</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A small group of salespeople generates a significant proportion of revenue.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Some salespeople consistently offer higher discounts.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Balanced evaluation requires considering revenue, transaction count, and return rate together.</a:t>
            </a:r>
            <a:endParaRPr lang="en-US" sz="1050" dirty="0">
              <a:latin typeface="Arial" panose="020B0604020202020204" pitchFamily="34" charset="0"/>
            </a:endParaRPr>
          </a:p>
        </p:txBody>
      </p:sp>
      <p:sp>
        <p:nvSpPr>
          <p:cNvPr id="9" name="Text 7"/>
          <p:cNvSpPr/>
          <p:nvPr/>
        </p:nvSpPr>
        <p:spPr>
          <a:xfrm>
            <a:off x="4835277" y="1521336"/>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EFEFE"/>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0" name="Text 8"/>
          <p:cNvSpPr/>
          <p:nvPr/>
        </p:nvSpPr>
        <p:spPr>
          <a:xfrm>
            <a:off x="4653292" y="1863954"/>
            <a:ext cx="3924598" cy="188294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Encourage digital payments through customer incentives.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Recognize and reward top-performing salespeople.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Provide coaching for employees with lower performance metrics.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Implement approval workflows for excessive discounts.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Use dashboard insights during monthly performance reviews.</a:t>
            </a:r>
            <a:endParaRPr lang="en-US" sz="1100"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228601"/>
            <a:ext cx="790277" cy="259080"/>
          </a:xfrm>
          <a:prstGeom prst="roundRect">
            <a:avLst>
              <a:gd name="adj" fmla="val 6383"/>
            </a:avLst>
          </a:prstGeom>
          <a:solidFill>
            <a:srgbClr val="494904"/>
          </a:solidFill>
          <a:ln/>
        </p:spPr>
      </p:sp>
      <p:sp>
        <p:nvSpPr>
          <p:cNvPr id="3" name="Text 1"/>
          <p:cNvSpPr/>
          <p:nvPr/>
        </p:nvSpPr>
        <p:spPr>
          <a:xfrm>
            <a:off x="617339" y="28668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7</a:t>
            </a:r>
            <a:endParaRPr lang="en-US" sz="750" dirty="0">
              <a:latin typeface="Arial" panose="020B0604020202020204" pitchFamily="34" charset="0"/>
            </a:endParaRPr>
          </a:p>
        </p:txBody>
      </p:sp>
      <p:sp>
        <p:nvSpPr>
          <p:cNvPr id="4" name="Text 2"/>
          <p:cNvSpPr/>
          <p:nvPr/>
        </p:nvSpPr>
        <p:spPr>
          <a:xfrm>
            <a:off x="340890" y="607190"/>
            <a:ext cx="4773885"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Customer Retention &amp; Loyalty</a:t>
            </a:r>
            <a:endParaRPr lang="en-US" sz="2400" dirty="0">
              <a:latin typeface="Arial" panose="020B0604020202020204" pitchFamily="34" charset="0"/>
            </a:endParaRPr>
          </a:p>
        </p:txBody>
      </p:sp>
      <p:sp>
        <p:nvSpPr>
          <p:cNvPr id="5" name="Text 3"/>
          <p:cNvSpPr/>
          <p:nvPr/>
        </p:nvSpPr>
        <p:spPr>
          <a:xfrm>
            <a:off x="340890" y="1013915"/>
            <a:ext cx="8608963" cy="198462"/>
          </a:xfrm>
          <a:prstGeom prst="rect">
            <a:avLst/>
          </a:prstGeom>
          <a:noFill/>
          <a:ln/>
        </p:spPr>
        <p:txBody>
          <a:bodyPr wrap="none" lIns="0" tIns="0" rIns="0" bIns="0" rtlCol="0" anchor="t"/>
          <a:lstStyle/>
          <a:p>
            <a:pPr marL="0" indent="0" algn="l">
              <a:lnSpc>
                <a:spcPct val="133000"/>
              </a:lnSpc>
              <a:buNone/>
            </a:pPr>
            <a:r>
              <a:rPr lang="en-US" sz="9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 Measure customer retention and improve long-term customer relationships.</a:t>
            </a:r>
            <a:endParaRPr lang="en-US" sz="950" dirty="0">
              <a:latin typeface="Arial" panose="020B0604020202020204" pitchFamily="34" charset="0"/>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890" y="1436727"/>
            <a:ext cx="310083" cy="310083"/>
          </a:xfrm>
          <a:prstGeom prst="rect">
            <a:avLst/>
          </a:prstGeom>
        </p:spPr>
      </p:pic>
      <p:sp>
        <p:nvSpPr>
          <p:cNvPr id="7" name="Text 4"/>
          <p:cNvSpPr/>
          <p:nvPr/>
        </p:nvSpPr>
        <p:spPr>
          <a:xfrm>
            <a:off x="805977" y="14367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8" name="Text 5"/>
          <p:cNvSpPr/>
          <p:nvPr/>
        </p:nvSpPr>
        <p:spPr>
          <a:xfrm>
            <a:off x="650972" y="1704990"/>
            <a:ext cx="3843341" cy="242459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Repeat purchase rates indicate opportunities to improve customer loyalty.</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Returning </a:t>
            </a:r>
            <a:r>
              <a:rPr lang="en-US" sz="1600" dirty="0">
                <a:solidFill>
                  <a:srgbClr val="BFBFBF"/>
                </a:solidFill>
                <a:latin typeface="Arial" panose="020B0604020202020204" pitchFamily="34" charset="0"/>
                <a:ea typeface="Calibri" panose="020F0502020204030204" pitchFamily="34" charset="0"/>
                <a:cs typeface="Arial" panose="020B0604020202020204" pitchFamily="34" charset="0"/>
              </a:rPr>
              <a:t>customers</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 contribute stable long-term revenue.</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Cohort analysis reveals varying retention rates across customer groups.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Customer acquisition alone is insufficient for sustainable growth.</a:t>
            </a:r>
            <a:endParaRPr lang="en-US" sz="1200" dirty="0">
              <a:latin typeface="Arial" panose="020B0604020202020204" pitchFamily="34"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9687" y="1436727"/>
            <a:ext cx="310083" cy="310083"/>
          </a:xfrm>
          <a:prstGeom prst="rect">
            <a:avLst/>
          </a:prstGeom>
        </p:spPr>
      </p:pic>
      <p:sp>
        <p:nvSpPr>
          <p:cNvPr id="10" name="Text 6"/>
          <p:cNvSpPr/>
          <p:nvPr/>
        </p:nvSpPr>
        <p:spPr>
          <a:xfrm>
            <a:off x="5114775" y="14367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1" name="Text 7"/>
          <p:cNvSpPr/>
          <p:nvPr/>
        </p:nvSpPr>
        <p:spPr>
          <a:xfrm>
            <a:off x="5114775" y="1704990"/>
            <a:ext cx="3533329" cy="263841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Introduce membership and loyalty programs.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Send personalized offers based on purchase history.</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Re-engage inactive customers through targeted campaigns.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Monitor retention KPIs alongside acquisition metrics.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Focus on increasing customer lifetime value rather than only acquiring new customers.</a:t>
            </a:r>
            <a:endParaRPr lang="en-US" sz="1200"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383009" y="141014"/>
            <a:ext cx="629692" cy="172938"/>
          </a:xfrm>
          <a:prstGeom prst="roundRect">
            <a:avLst>
              <a:gd name="adj" fmla="val 6859"/>
            </a:avLst>
          </a:prstGeom>
          <a:solidFill>
            <a:srgbClr val="494904"/>
          </a:solidFill>
          <a:ln/>
        </p:spPr>
      </p:sp>
      <p:sp>
        <p:nvSpPr>
          <p:cNvPr id="4" name="Text 1"/>
          <p:cNvSpPr/>
          <p:nvPr/>
        </p:nvSpPr>
        <p:spPr>
          <a:xfrm>
            <a:off x="442317" y="170631"/>
            <a:ext cx="968276" cy="113705"/>
          </a:xfrm>
          <a:prstGeom prst="rect">
            <a:avLst/>
          </a:prstGeom>
          <a:noFill/>
          <a:ln/>
        </p:spPr>
        <p:txBody>
          <a:bodyPr wrap="none" lIns="0" tIns="0" rIns="0" bIns="0" rtlCol="0" anchor="t"/>
          <a:lstStyle/>
          <a:p>
            <a:pPr marL="0" indent="0" algn="l">
              <a:lnSpc>
                <a:spcPct val="120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8</a:t>
            </a:r>
            <a:endParaRPr lang="en-US" sz="900" dirty="0">
              <a:latin typeface="Arial" panose="020B0604020202020204" pitchFamily="34" charset="0"/>
            </a:endParaRPr>
          </a:p>
        </p:txBody>
      </p:sp>
      <p:sp>
        <p:nvSpPr>
          <p:cNvPr id="5" name="Text 2"/>
          <p:cNvSpPr/>
          <p:nvPr/>
        </p:nvSpPr>
        <p:spPr>
          <a:xfrm>
            <a:off x="383009" y="345430"/>
            <a:ext cx="4722763" cy="617786"/>
          </a:xfrm>
          <a:prstGeom prst="rect">
            <a:avLst/>
          </a:prstGeom>
          <a:noFill/>
          <a:ln/>
        </p:spPr>
        <p:txBody>
          <a:bodyPr wrap="square" lIns="0" tIns="0" rIns="0" bIns="0" rtlCol="0" anchor="t">
            <a:noAutofit/>
          </a:bodyPr>
          <a:lstStyle/>
          <a:p>
            <a:pPr marL="0" indent="0" algn="l">
              <a:lnSpc>
                <a:spcPct val="104000"/>
              </a:lnSpc>
              <a:buNone/>
            </a:pPr>
            <a:r>
              <a:rPr lang="en-US" dirty="0">
                <a:solidFill>
                  <a:srgbClr val="FEFEFE"/>
                </a:solidFill>
                <a:latin typeface="Arial" panose="020B0604020202020204" pitchFamily="34" charset="0"/>
                <a:ea typeface="Calibri" panose="020F0502020204030204" pitchFamily="34" charset="0"/>
                <a:cs typeface="Arial" panose="020B0604020202020204" pitchFamily="34" charset="0"/>
              </a:rPr>
              <a:t>Executive Business Intelligence &amp; Decision Support</a:t>
            </a:r>
            <a:endParaRPr lang="en-US" dirty="0">
              <a:latin typeface="Arial" panose="020B0604020202020204" pitchFamily="34" charset="0"/>
            </a:endParaRPr>
          </a:p>
        </p:txBody>
      </p:sp>
      <p:sp>
        <p:nvSpPr>
          <p:cNvPr id="6" name="Text 3"/>
          <p:cNvSpPr/>
          <p:nvPr/>
        </p:nvSpPr>
        <p:spPr>
          <a:xfrm>
            <a:off x="383009" y="1081310"/>
            <a:ext cx="5179963" cy="142056"/>
          </a:xfrm>
          <a:prstGeom prst="rect">
            <a:avLst/>
          </a:prstGeom>
          <a:noFill/>
          <a:ln/>
        </p:spPr>
        <p:txBody>
          <a:bodyPr wrap="none" lIns="0" tIns="0" rIns="0" bIns="0" rtlCol="0" anchor="t"/>
          <a:lstStyle/>
          <a:p>
            <a:pPr marL="0" indent="0" algn="l">
              <a:lnSpc>
                <a:spcPct val="120000"/>
              </a:lnSpc>
              <a:buNone/>
            </a:pPr>
            <a:r>
              <a:rPr lang="en-US" sz="10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 Deliver a centralized reporting solution that enables data-driven decision-making.</a:t>
            </a:r>
            <a:endParaRPr lang="en-US" sz="10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009" y="1311918"/>
            <a:ext cx="4722763" cy="1926297"/>
          </a:xfrm>
          <a:prstGeom prst="rect">
            <a:avLst/>
          </a:prstGeom>
        </p:spPr>
      </p:pic>
      <p:sp>
        <p:nvSpPr>
          <p:cNvPr id="8" name="Text 4"/>
          <p:cNvSpPr/>
          <p:nvPr/>
        </p:nvSpPr>
        <p:spPr>
          <a:xfrm>
            <a:off x="2685045" y="1386036"/>
            <a:ext cx="118616" cy="148233"/>
          </a:xfrm>
          <a:prstGeom prst="rect">
            <a:avLst/>
          </a:prstGeom>
          <a:noFill/>
          <a:ln/>
        </p:spPr>
        <p:txBody>
          <a:bodyPr wrap="none" lIns="0" tIns="0" rIns="0" bIns="0" rtlCol="0" anchor="ctr"/>
          <a:lstStyle/>
          <a:p>
            <a:pPr marL="0" indent="0" algn="ctr">
              <a:lnSpc>
                <a:spcPct val="100000"/>
              </a:lnSpc>
              <a:buNone/>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1</a:t>
            </a:r>
            <a:endParaRPr lang="en-US" sz="1100" dirty="0">
              <a:latin typeface="Arial" panose="020B0604020202020204" pitchFamily="34" charset="0"/>
            </a:endParaRPr>
          </a:p>
        </p:txBody>
      </p:sp>
      <p:sp>
        <p:nvSpPr>
          <p:cNvPr id="9" name="Text 5"/>
          <p:cNvSpPr/>
          <p:nvPr/>
        </p:nvSpPr>
        <p:spPr>
          <a:xfrm>
            <a:off x="496118" y="1707207"/>
            <a:ext cx="1235571" cy="154409"/>
          </a:xfrm>
          <a:prstGeom prst="rect">
            <a:avLst/>
          </a:prstGeom>
          <a:noFill/>
          <a:ln/>
        </p:spPr>
        <p:txBody>
          <a:bodyPr wrap="none" lIns="0" tIns="0" rIns="0" bIns="0" rtlCol="0" anchor="t"/>
          <a:lstStyle/>
          <a:p>
            <a:pPr marL="0" indent="0" algn="l">
              <a:lnSpc>
                <a:spcPct val="104000"/>
              </a:lnSpc>
              <a:buNone/>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100" dirty="0">
              <a:latin typeface="Arial" panose="020B0604020202020204" pitchFamily="34" charset="0"/>
            </a:endParaRPr>
          </a:p>
        </p:txBody>
      </p:sp>
      <p:sp>
        <p:nvSpPr>
          <p:cNvPr id="10" name="Text 6"/>
          <p:cNvSpPr/>
          <p:nvPr/>
        </p:nvSpPr>
        <p:spPr>
          <a:xfrm>
            <a:off x="496118" y="1908869"/>
            <a:ext cx="4496544" cy="1264546"/>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Interactive dashboards reduce dependency on manual reporting.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Cross-filtering and drill-through capabilities enable deeper analysis.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KPI monitoring supports faster identification of business trends.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Combining financial, operational, and customer data provides a comprehensive business view.</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Self-service analytics empowers managers to answer business questions independently.</a:t>
            </a:r>
            <a:endParaRPr lang="en-US" sz="1000" dirty="0">
              <a:latin typeface="Arial" panose="020B0604020202020204" pitchFamily="34" charset="0"/>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009" y="3309698"/>
            <a:ext cx="4722763" cy="1692788"/>
          </a:xfrm>
          <a:prstGeom prst="rect">
            <a:avLst/>
          </a:prstGeom>
        </p:spPr>
      </p:pic>
      <p:sp>
        <p:nvSpPr>
          <p:cNvPr id="12" name="Text 7"/>
          <p:cNvSpPr/>
          <p:nvPr/>
        </p:nvSpPr>
        <p:spPr>
          <a:xfrm>
            <a:off x="2685045" y="3137296"/>
            <a:ext cx="118616" cy="148233"/>
          </a:xfrm>
          <a:prstGeom prst="rect">
            <a:avLst/>
          </a:prstGeom>
          <a:noFill/>
          <a:ln/>
        </p:spPr>
        <p:txBody>
          <a:bodyPr wrap="none" lIns="0" tIns="0" rIns="0" bIns="0" rtlCol="0" anchor="ctr"/>
          <a:lstStyle/>
          <a:p>
            <a:pPr marL="0" indent="0" algn="ctr">
              <a:lnSpc>
                <a:spcPct val="100000"/>
              </a:lnSpc>
              <a:buNone/>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2</a:t>
            </a:r>
            <a:endParaRPr lang="en-US" sz="1100" dirty="0">
              <a:latin typeface="Arial" panose="020B0604020202020204" pitchFamily="34" charset="0"/>
            </a:endParaRPr>
          </a:p>
        </p:txBody>
      </p:sp>
      <p:sp>
        <p:nvSpPr>
          <p:cNvPr id="13" name="Text 8"/>
          <p:cNvSpPr/>
          <p:nvPr/>
        </p:nvSpPr>
        <p:spPr>
          <a:xfrm>
            <a:off x="472038" y="3615957"/>
            <a:ext cx="1235571" cy="154409"/>
          </a:xfrm>
          <a:prstGeom prst="rect">
            <a:avLst/>
          </a:prstGeom>
          <a:noFill/>
          <a:ln/>
        </p:spPr>
        <p:txBody>
          <a:bodyPr wrap="none" lIns="0" tIns="0" rIns="0" bIns="0" rtlCol="0" anchor="t"/>
          <a:lstStyle/>
          <a:p>
            <a:pPr marL="0" indent="0" algn="l">
              <a:lnSpc>
                <a:spcPct val="104000"/>
              </a:lnSpc>
              <a:buNone/>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100" dirty="0">
              <a:latin typeface="Arial" panose="020B0604020202020204" pitchFamily="34" charset="0"/>
            </a:endParaRPr>
          </a:p>
        </p:txBody>
      </p:sp>
      <p:sp>
        <p:nvSpPr>
          <p:cNvPr id="14" name="Text 9"/>
          <p:cNvSpPr/>
          <p:nvPr/>
        </p:nvSpPr>
        <p:spPr>
          <a:xfrm>
            <a:off x="555389" y="3874129"/>
            <a:ext cx="4496544" cy="1024594"/>
          </a:xfrm>
          <a:prstGeom prst="rect">
            <a:avLst/>
          </a:prstGeom>
          <a:noFill/>
          <a:ln/>
        </p:spPr>
        <p:txBody>
          <a:bodyPr wrap="square" lIns="0" tIns="0" rIns="0" bIns="0" rtlCol="0" anchor="t">
            <a:normAutofit fontScale="92500"/>
          </a:bodyPr>
          <a:lstStyle/>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Adopt Power BI dashboards as part of regular management review meetings.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Standardize KPI definitions across departments.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Schedule automated dashboard refreshes for real-time monitoring.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Expand analytics capabilities with predictive forecasting and machine learning.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Promote a data-driven culture by integrating dashboard insights into strategic planning.</a:t>
            </a:r>
            <a:endParaRPr lang="en-US" sz="1000"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160735"/>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Key DAX Measures</a:t>
            </a:r>
            <a:endParaRPr lang="en-US" sz="3200" dirty="0">
              <a:latin typeface="Arial" panose="020B0604020202020204" pitchFamily="34" charset="0"/>
            </a:endParaRPr>
          </a:p>
        </p:txBody>
      </p:sp>
      <p:sp>
        <p:nvSpPr>
          <p:cNvPr id="3" name="Text 1"/>
          <p:cNvSpPr/>
          <p:nvPr/>
        </p:nvSpPr>
        <p:spPr>
          <a:xfrm>
            <a:off x="550664" y="868680"/>
            <a:ext cx="8042672" cy="99308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 were powered by several DAX measures, including Total Revenue, Average Invoice Value, Return Percentage, Customer Lifetime Value, and Month-over-Month Growth. These dynamic calculations allow management to analyze business performance interactively using filters and slicers across branches, products, customers, and time periods.</a:t>
            </a:r>
            <a:endParaRPr lang="en-US" sz="1400" dirty="0">
              <a:latin typeface="Arial" panose="020B0604020202020204" pitchFamily="34" charset="0"/>
            </a:endParaRPr>
          </a:p>
        </p:txBody>
      </p:sp>
      <p:sp>
        <p:nvSpPr>
          <p:cNvPr id="4" name="Shape 2"/>
          <p:cNvSpPr/>
          <p:nvPr/>
        </p:nvSpPr>
        <p:spPr>
          <a:xfrm>
            <a:off x="550664" y="2016621"/>
            <a:ext cx="3952503" cy="769441"/>
          </a:xfrm>
          <a:prstGeom prst="roundRect">
            <a:avLst>
              <a:gd name="adj" fmla="val 26841"/>
            </a:avLst>
          </a:prstGeom>
          <a:solidFill>
            <a:srgbClr val="46464A"/>
          </a:solidFill>
          <a:ln/>
        </p:spPr>
      </p:sp>
      <p:sp>
        <p:nvSpPr>
          <p:cNvPr id="5" name="Text 3"/>
          <p:cNvSpPr/>
          <p:nvPr/>
        </p:nvSpPr>
        <p:spPr>
          <a:xfrm>
            <a:off x="688330"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Total Revenue</a:t>
            </a:r>
            <a:endParaRPr lang="en-US" sz="1600" dirty="0">
              <a:latin typeface="Arial" panose="020B0604020202020204" pitchFamily="34" charset="0"/>
            </a:endParaRPr>
          </a:p>
        </p:txBody>
      </p:sp>
      <p:sp>
        <p:nvSpPr>
          <p:cNvPr id="6" name="Text 4"/>
          <p:cNvSpPr/>
          <p:nvPr/>
        </p:nvSpPr>
        <p:spPr>
          <a:xfrm>
            <a:off x="688330"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sales excluding returns</a:t>
            </a:r>
            <a:endParaRPr lang="en-US" sz="1200" dirty="0">
              <a:latin typeface="Arial" panose="020B0604020202020204" pitchFamily="34" charset="0"/>
            </a:endParaRPr>
          </a:p>
        </p:txBody>
      </p:sp>
      <p:sp>
        <p:nvSpPr>
          <p:cNvPr id="7" name="Shape 5"/>
          <p:cNvSpPr/>
          <p:nvPr/>
        </p:nvSpPr>
        <p:spPr>
          <a:xfrm>
            <a:off x="4640833" y="2016621"/>
            <a:ext cx="3952503" cy="769441"/>
          </a:xfrm>
          <a:prstGeom prst="roundRect">
            <a:avLst>
              <a:gd name="adj" fmla="val 26841"/>
            </a:avLst>
          </a:prstGeom>
          <a:solidFill>
            <a:srgbClr val="46464A"/>
          </a:solidFill>
          <a:ln/>
        </p:spPr>
      </p:sp>
      <p:sp>
        <p:nvSpPr>
          <p:cNvPr id="8" name="Text 6"/>
          <p:cNvSpPr/>
          <p:nvPr/>
        </p:nvSpPr>
        <p:spPr>
          <a:xfrm>
            <a:off x="4778499"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Invoice Count</a:t>
            </a:r>
            <a:endParaRPr lang="en-US" sz="1600" dirty="0">
              <a:latin typeface="Arial" panose="020B0604020202020204" pitchFamily="34" charset="0"/>
            </a:endParaRPr>
          </a:p>
        </p:txBody>
      </p:sp>
      <p:sp>
        <p:nvSpPr>
          <p:cNvPr id="9" name="Text 7"/>
          <p:cNvSpPr/>
          <p:nvPr/>
        </p:nvSpPr>
        <p:spPr>
          <a:xfrm>
            <a:off x="4778499"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sales invoices</a:t>
            </a:r>
            <a:endParaRPr lang="en-US" sz="1200" dirty="0">
              <a:latin typeface="Arial" panose="020B0604020202020204" pitchFamily="34" charset="0"/>
            </a:endParaRPr>
          </a:p>
        </p:txBody>
      </p:sp>
      <p:sp>
        <p:nvSpPr>
          <p:cNvPr id="10" name="Shape 8"/>
          <p:cNvSpPr/>
          <p:nvPr/>
        </p:nvSpPr>
        <p:spPr>
          <a:xfrm>
            <a:off x="550664" y="2923729"/>
            <a:ext cx="3952503" cy="769441"/>
          </a:xfrm>
          <a:prstGeom prst="roundRect">
            <a:avLst>
              <a:gd name="adj" fmla="val 26841"/>
            </a:avLst>
          </a:prstGeom>
          <a:solidFill>
            <a:srgbClr val="46464A"/>
          </a:solidFill>
          <a:ln/>
        </p:spPr>
      </p:sp>
      <p:sp>
        <p:nvSpPr>
          <p:cNvPr id="11" name="Text 9"/>
          <p:cNvSpPr/>
          <p:nvPr/>
        </p:nvSpPr>
        <p:spPr>
          <a:xfrm>
            <a:off x="688330" y="3061395"/>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Count</a:t>
            </a:r>
            <a:endParaRPr lang="en-US" sz="1600" dirty="0">
              <a:latin typeface="Arial" panose="020B0604020202020204" pitchFamily="34" charset="0"/>
            </a:endParaRPr>
          </a:p>
        </p:txBody>
      </p:sp>
      <p:sp>
        <p:nvSpPr>
          <p:cNvPr id="12" name="Text 10"/>
          <p:cNvSpPr/>
          <p:nvPr/>
        </p:nvSpPr>
        <p:spPr>
          <a:xfrm>
            <a:off x="688330"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unique customers</a:t>
            </a:r>
            <a:endParaRPr lang="en-US" sz="1200" dirty="0">
              <a:latin typeface="Arial" panose="020B0604020202020204" pitchFamily="34" charset="0"/>
            </a:endParaRPr>
          </a:p>
        </p:txBody>
      </p:sp>
      <p:sp>
        <p:nvSpPr>
          <p:cNvPr id="13" name="Shape 11"/>
          <p:cNvSpPr/>
          <p:nvPr/>
        </p:nvSpPr>
        <p:spPr>
          <a:xfrm>
            <a:off x="4640833" y="2923729"/>
            <a:ext cx="3952503" cy="769441"/>
          </a:xfrm>
          <a:prstGeom prst="roundRect">
            <a:avLst>
              <a:gd name="adj" fmla="val 26841"/>
            </a:avLst>
          </a:prstGeom>
          <a:solidFill>
            <a:srgbClr val="46464A"/>
          </a:solidFill>
          <a:ln/>
        </p:spPr>
      </p:sp>
      <p:sp>
        <p:nvSpPr>
          <p:cNvPr id="14" name="Text 12"/>
          <p:cNvSpPr/>
          <p:nvPr/>
        </p:nvSpPr>
        <p:spPr>
          <a:xfrm>
            <a:off x="4778499" y="3061395"/>
            <a:ext cx="1743745"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Average Invoice Value</a:t>
            </a:r>
            <a:endParaRPr lang="en-US" sz="1600" dirty="0">
              <a:latin typeface="Arial" panose="020B0604020202020204" pitchFamily="34" charset="0"/>
            </a:endParaRPr>
          </a:p>
        </p:txBody>
      </p:sp>
      <p:sp>
        <p:nvSpPr>
          <p:cNvPr id="15" name="Text 13"/>
          <p:cNvSpPr/>
          <p:nvPr/>
        </p:nvSpPr>
        <p:spPr>
          <a:xfrm>
            <a:off x="4778499"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per invoice</a:t>
            </a:r>
            <a:endParaRPr lang="en-US" sz="1200" dirty="0">
              <a:latin typeface="Arial" panose="020B0604020202020204" pitchFamily="34" charset="0"/>
            </a:endParaRPr>
          </a:p>
        </p:txBody>
      </p:sp>
      <p:sp>
        <p:nvSpPr>
          <p:cNvPr id="16" name="Shape 14"/>
          <p:cNvSpPr/>
          <p:nvPr/>
        </p:nvSpPr>
        <p:spPr>
          <a:xfrm>
            <a:off x="550664" y="3830836"/>
            <a:ext cx="3952503" cy="769441"/>
          </a:xfrm>
          <a:prstGeom prst="roundRect">
            <a:avLst>
              <a:gd name="adj" fmla="val 26841"/>
            </a:avLst>
          </a:prstGeom>
          <a:solidFill>
            <a:srgbClr val="46464A"/>
          </a:solidFill>
          <a:ln/>
        </p:spPr>
      </p:sp>
      <p:sp>
        <p:nvSpPr>
          <p:cNvPr id="17" name="Text 15"/>
          <p:cNvSpPr/>
          <p:nvPr/>
        </p:nvSpPr>
        <p:spPr>
          <a:xfrm>
            <a:off x="688330"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Count</a:t>
            </a:r>
            <a:endParaRPr lang="en-US" sz="1600" dirty="0">
              <a:latin typeface="Arial" panose="020B0604020202020204" pitchFamily="34" charset="0"/>
            </a:endParaRPr>
          </a:p>
        </p:txBody>
      </p:sp>
      <p:sp>
        <p:nvSpPr>
          <p:cNvPr id="18" name="Text 16"/>
          <p:cNvSpPr/>
          <p:nvPr/>
        </p:nvSpPr>
        <p:spPr>
          <a:xfrm>
            <a:off x="688330"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return transactions</a:t>
            </a:r>
            <a:endParaRPr lang="en-US" sz="1200" dirty="0">
              <a:latin typeface="Arial" panose="020B0604020202020204" pitchFamily="34" charset="0"/>
            </a:endParaRPr>
          </a:p>
        </p:txBody>
      </p:sp>
      <p:sp>
        <p:nvSpPr>
          <p:cNvPr id="19" name="Shape 17"/>
          <p:cNvSpPr/>
          <p:nvPr/>
        </p:nvSpPr>
        <p:spPr>
          <a:xfrm>
            <a:off x="4640833" y="3830836"/>
            <a:ext cx="3952503" cy="769441"/>
          </a:xfrm>
          <a:prstGeom prst="roundRect">
            <a:avLst>
              <a:gd name="adj" fmla="val 26841"/>
            </a:avLst>
          </a:prstGeom>
          <a:solidFill>
            <a:srgbClr val="46464A"/>
          </a:solidFill>
          <a:ln/>
        </p:spPr>
      </p:sp>
      <p:sp>
        <p:nvSpPr>
          <p:cNvPr id="20" name="Text 18"/>
          <p:cNvSpPr/>
          <p:nvPr/>
        </p:nvSpPr>
        <p:spPr>
          <a:xfrm>
            <a:off x="4778499"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a:t>
            </a:r>
            <a:endParaRPr lang="en-US" sz="1600" dirty="0">
              <a:latin typeface="Arial" panose="020B0604020202020204" pitchFamily="34" charset="0"/>
            </a:endParaRPr>
          </a:p>
        </p:txBody>
      </p:sp>
      <p:sp>
        <p:nvSpPr>
          <p:cNvPr id="21" name="Text 19"/>
          <p:cNvSpPr/>
          <p:nvPr/>
        </p:nvSpPr>
        <p:spPr>
          <a:xfrm>
            <a:off x="4778499"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rate based on invoice count</a:t>
            </a:r>
            <a:endParaRPr lang="en-US" sz="12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106" y="423044"/>
            <a:ext cx="4374356" cy="376386"/>
          </a:xfrm>
          <a:prstGeom prst="rect">
            <a:avLst/>
          </a:prstGeom>
          <a:noFill/>
          <a:ln/>
        </p:spPr>
        <p:txBody>
          <a:bodyPr wrap="none" lIns="0" tIns="0" rIns="0" bIns="0" rtlCol="0" anchor="t"/>
          <a:lstStyle/>
          <a:p>
            <a:pPr marL="0" indent="0" algn="l">
              <a:lnSpc>
                <a:spcPct val="104000"/>
              </a:lnSpc>
              <a:buNone/>
            </a:pPr>
            <a:r>
              <a:rPr lang="en-US" sz="2350" b="1" dirty="0">
                <a:solidFill>
                  <a:srgbClr val="FFE14D"/>
                </a:solidFill>
                <a:latin typeface="Arial" panose="020B0604020202020204" pitchFamily="34" charset="0"/>
                <a:ea typeface="Calibri" panose="020F0502020204030204" pitchFamily="34" charset="0"/>
                <a:cs typeface="Arial" panose="020B0604020202020204" pitchFamily="34" charset="0"/>
              </a:rPr>
              <a:t>Advanced DAX Measures</a:t>
            </a:r>
            <a:endParaRPr lang="en-US" sz="2350" dirty="0">
              <a:latin typeface="Arial" panose="020B0604020202020204" pitchFamily="34" charset="0"/>
            </a:endParaRPr>
          </a:p>
        </p:txBody>
      </p:sp>
      <p:sp>
        <p:nvSpPr>
          <p:cNvPr id="3" name="Text 1"/>
          <p:cNvSpPr/>
          <p:nvPr/>
        </p:nvSpPr>
        <p:spPr>
          <a:xfrm>
            <a:off x="542106" y="1066205"/>
            <a:ext cx="8059787"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 addition to core revenue and transaction metrics, advanced DAX measures were created to support deeper customer analysis and financial performance tracking.</a:t>
            </a:r>
            <a:endParaRPr lang="en-US" sz="105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1646337"/>
            <a:ext cx="3982269" cy="1007492"/>
          </a:xfrm>
          <a:prstGeom prst="rect">
            <a:avLst/>
          </a:prstGeom>
        </p:spPr>
      </p:pic>
      <p:sp>
        <p:nvSpPr>
          <p:cNvPr id="5" name="Text 2"/>
          <p:cNvSpPr/>
          <p:nvPr/>
        </p:nvSpPr>
        <p:spPr>
          <a:xfrm>
            <a:off x="753814" y="1800895"/>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Making Revenue</a:t>
            </a:r>
            <a:endParaRPr lang="en-US" sz="1150" dirty="0">
              <a:latin typeface="Arial" panose="020B0604020202020204" pitchFamily="34" charset="0"/>
            </a:endParaRPr>
          </a:p>
        </p:txBody>
      </p:sp>
      <p:sp>
        <p:nvSpPr>
          <p:cNvPr id="6" name="Text 3"/>
          <p:cNvSpPr/>
          <p:nvPr/>
        </p:nvSpPr>
        <p:spPr>
          <a:xfrm>
            <a:off x="753814" y="2069157"/>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making charges collected</a:t>
            </a:r>
            <a:endParaRPr lang="en-US" sz="105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1646337"/>
            <a:ext cx="3982269" cy="1007492"/>
          </a:xfrm>
          <a:prstGeom prst="rect">
            <a:avLst/>
          </a:prstGeom>
        </p:spPr>
      </p:pic>
      <p:sp>
        <p:nvSpPr>
          <p:cNvPr id="8" name="Text 4"/>
          <p:cNvSpPr/>
          <p:nvPr/>
        </p:nvSpPr>
        <p:spPr>
          <a:xfrm>
            <a:off x="4850383" y="1800895"/>
            <a:ext cx="1688902"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Amount &amp; %</a:t>
            </a:r>
            <a:endParaRPr lang="en-US" sz="1150" dirty="0">
              <a:latin typeface="Arial" panose="020B0604020202020204" pitchFamily="34" charset="0"/>
            </a:endParaRPr>
          </a:p>
        </p:txBody>
      </p:sp>
      <p:sp>
        <p:nvSpPr>
          <p:cNvPr id="9" name="Text 5"/>
          <p:cNvSpPr/>
          <p:nvPr/>
        </p:nvSpPr>
        <p:spPr>
          <a:xfrm>
            <a:off x="4850383" y="2069157"/>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discounts provided and percentage of discount against revenue</a:t>
            </a:r>
            <a:endParaRPr lang="en-US" sz="105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2787179"/>
            <a:ext cx="3982269" cy="1007492"/>
          </a:xfrm>
          <a:prstGeom prst="rect">
            <a:avLst/>
          </a:prstGeom>
        </p:spPr>
      </p:pic>
      <p:sp>
        <p:nvSpPr>
          <p:cNvPr id="11" name="Text 6"/>
          <p:cNvSpPr/>
          <p:nvPr/>
        </p:nvSpPr>
        <p:spPr>
          <a:xfrm>
            <a:off x="753814" y="2941737"/>
            <a:ext cx="196728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New &amp; Repeat Customers</a:t>
            </a:r>
            <a:endParaRPr lang="en-US" sz="1150" dirty="0">
              <a:latin typeface="Arial" panose="020B0604020202020204" pitchFamily="34" charset="0"/>
            </a:endParaRPr>
          </a:p>
        </p:txBody>
      </p:sp>
      <p:sp>
        <p:nvSpPr>
          <p:cNvPr id="12" name="Text 7"/>
          <p:cNvSpPr/>
          <p:nvPr/>
        </p:nvSpPr>
        <p:spPr>
          <a:xfrm>
            <a:off x="753814" y="3209999"/>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Customers with first purchase vs. customers with multiple purchases</a:t>
            </a:r>
            <a:endParaRPr lang="en-US" sz="105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2787179"/>
            <a:ext cx="3982269" cy="1007492"/>
          </a:xfrm>
          <a:prstGeom prst="rect">
            <a:avLst/>
          </a:prstGeom>
        </p:spPr>
      </p:pic>
      <p:sp>
        <p:nvSpPr>
          <p:cNvPr id="14" name="Text 8"/>
          <p:cNvSpPr/>
          <p:nvPr/>
        </p:nvSpPr>
        <p:spPr>
          <a:xfrm>
            <a:off x="4850383" y="2941737"/>
            <a:ext cx="236093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Customer Lifetime Value (CLV)</a:t>
            </a:r>
            <a:endParaRPr lang="en-US" sz="1150" dirty="0">
              <a:latin typeface="Arial" panose="020B0604020202020204" pitchFamily="34" charset="0"/>
            </a:endParaRPr>
          </a:p>
        </p:txBody>
      </p:sp>
      <p:sp>
        <p:nvSpPr>
          <p:cNvPr id="15" name="Text 9"/>
          <p:cNvSpPr/>
          <p:nvPr/>
        </p:nvSpPr>
        <p:spPr>
          <a:xfrm>
            <a:off x="4850383" y="3209999"/>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generated per customer</a:t>
            </a:r>
            <a:endParaRPr lang="en-US" sz="1050" dirty="0">
              <a:latin typeface="Arial" panose="020B0604020202020204" pitchFamily="34" charset="0"/>
            </a:endParaRPr>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056" y="3928021"/>
            <a:ext cx="3982269" cy="792435"/>
          </a:xfrm>
          <a:prstGeom prst="rect">
            <a:avLst/>
          </a:prstGeom>
        </p:spPr>
      </p:pic>
      <p:sp>
        <p:nvSpPr>
          <p:cNvPr id="17" name="Text 10"/>
          <p:cNvSpPr/>
          <p:nvPr/>
        </p:nvSpPr>
        <p:spPr>
          <a:xfrm>
            <a:off x="753814" y="4082579"/>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Purchase Count</a:t>
            </a:r>
            <a:endParaRPr lang="en-US" sz="1150" dirty="0">
              <a:latin typeface="Arial" panose="020B0604020202020204" pitchFamily="34" charset="0"/>
            </a:endParaRPr>
          </a:p>
        </p:txBody>
      </p:sp>
      <p:sp>
        <p:nvSpPr>
          <p:cNvPr id="18" name="Text 11"/>
          <p:cNvSpPr/>
          <p:nvPr/>
        </p:nvSpPr>
        <p:spPr>
          <a:xfrm>
            <a:off x="753814"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Number of purchases by each customer</a:t>
            </a:r>
            <a:endParaRPr lang="en-US" sz="1050" dirty="0">
              <a:latin typeface="Arial" panose="020B0604020202020204" pitchFamily="34" charset="0"/>
            </a:endParaRPr>
          </a:p>
        </p:txBody>
      </p:sp>
      <p:pic>
        <p:nvPicPr>
          <p:cNvPr id="19"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625" y="3928021"/>
            <a:ext cx="3982269" cy="792435"/>
          </a:xfrm>
          <a:prstGeom prst="rect">
            <a:avLst/>
          </a:prstGeom>
        </p:spPr>
      </p:pic>
      <p:sp>
        <p:nvSpPr>
          <p:cNvPr id="20" name="Text 12"/>
          <p:cNvSpPr/>
          <p:nvPr/>
        </p:nvSpPr>
        <p:spPr>
          <a:xfrm>
            <a:off x="4850383" y="4082579"/>
            <a:ext cx="2088133"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Month-over-Month Growth</a:t>
            </a:r>
            <a:endParaRPr lang="en-US" sz="1150" dirty="0">
              <a:latin typeface="Arial" panose="020B0604020202020204" pitchFamily="34" charset="0"/>
            </a:endParaRPr>
          </a:p>
        </p:txBody>
      </p:sp>
      <p:sp>
        <p:nvSpPr>
          <p:cNvPr id="21" name="Text 13"/>
          <p:cNvSpPr/>
          <p:nvPr/>
        </p:nvSpPr>
        <p:spPr>
          <a:xfrm>
            <a:off x="4850383"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Monthly revenue growth percentage</a:t>
            </a:r>
            <a:endParaRPr lang="en-US" sz="1050"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1272" y="353839"/>
            <a:ext cx="2943151" cy="31075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Why DAX?</a:t>
            </a:r>
            <a:endParaRPr lang="en-US" sz="2800" dirty="0">
              <a:latin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651272" y="903163"/>
            <a:ext cx="3784253" cy="3784253"/>
          </a:xfrm>
          <a:prstGeom prst="rect">
            <a:avLst/>
          </a:prstGeom>
        </p:spPr>
      </p:pic>
      <p:sp>
        <p:nvSpPr>
          <p:cNvPr id="4" name="Text 1"/>
          <p:cNvSpPr/>
          <p:nvPr/>
        </p:nvSpPr>
        <p:spPr>
          <a:xfrm>
            <a:off x="4713238" y="891778"/>
            <a:ext cx="1863923" cy="155302"/>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Arial" panose="020B0604020202020204" pitchFamily="34" charset="0"/>
                <a:ea typeface="Calibri" panose="020F0502020204030204" pitchFamily="34" charset="0"/>
                <a:cs typeface="Arial" panose="020B0604020202020204" pitchFamily="34" charset="0"/>
              </a:rPr>
              <a:t>Dynamic Calculations</a:t>
            </a:r>
            <a:endParaRPr lang="en-US" sz="1100" dirty="0">
              <a:latin typeface="Arial" panose="020B0604020202020204" pitchFamily="34" charset="0"/>
            </a:endParaRPr>
          </a:p>
        </p:txBody>
      </p:sp>
      <p:sp>
        <p:nvSpPr>
          <p:cNvPr id="5" name="Text 2"/>
          <p:cNvSpPr/>
          <p:nvPr/>
        </p:nvSpPr>
        <p:spPr>
          <a:xfrm>
            <a:off x="4713238" y="1137940"/>
            <a:ext cx="3784253" cy="1855469"/>
          </a:xfrm>
          <a:prstGeom prst="rect">
            <a:avLst/>
          </a:prstGeom>
          <a:noFill/>
          <a:ln/>
        </p:spPr>
        <p:txBody>
          <a:bodyPr wrap="square" lIns="0" tIns="0" rIns="0" bIns="0" rtlCol="0" anchor="t">
            <a:noAutofit/>
          </a:bodyPr>
          <a:lstStyle/>
          <a:p>
            <a:pPr marL="0" indent="0" algn="l">
              <a:lnSpc>
                <a:spcPct val="121000"/>
              </a:lnSpc>
              <a:spcAft>
                <a:spcPts val="600"/>
              </a:spcAft>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DAX measures provide dynamic calculations that automatically update based on filters and slicers, enabling interactive analysis across branches, products, customers, and time periods.</a:t>
            </a:r>
            <a:endParaRPr lang="en-US" sz="1200" dirty="0">
              <a:latin typeface="Arial" panose="020B0604020202020204" pitchFamily="34" charset="0"/>
            </a:endParaRPr>
          </a:p>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These dynamic calculations allow management to analyze business performance interactively, supporting data-driven decision-making at every level of the organization.</a:t>
            </a:r>
            <a:endParaRPr lang="en-US" sz="1200" dirty="0">
              <a:latin typeface="Arial" panose="020B0604020202020204" pitchFamily="34" charset="0"/>
            </a:endParaRPr>
          </a:p>
        </p:txBody>
      </p:sp>
      <p:sp>
        <p:nvSpPr>
          <p:cNvPr id="6" name="Shape 3"/>
          <p:cNvSpPr/>
          <p:nvPr/>
        </p:nvSpPr>
        <p:spPr>
          <a:xfrm>
            <a:off x="4685034" y="3133055"/>
            <a:ext cx="3784253" cy="1042705"/>
          </a:xfrm>
          <a:prstGeom prst="roundRect">
            <a:avLst>
              <a:gd name="adj" fmla="val 30865"/>
            </a:avLst>
          </a:prstGeom>
          <a:solidFill>
            <a:srgbClr val="022349"/>
          </a:solidFill>
          <a:ln/>
        </p:spPr>
      </p:sp>
      <p:pic>
        <p:nvPicPr>
          <p:cNvPr id="7" name="Image 1" descr="preencoded.png"/>
          <p:cNvPicPr>
            <a:picLocks noChangeAspect="1"/>
          </p:cNvPicPr>
          <p:nvPr/>
        </p:nvPicPr>
        <p:blipFill>
          <a:blip r:embed="rId4"/>
          <a:stretch>
            <a:fillRect/>
          </a:stretch>
        </p:blipFill>
        <p:spPr>
          <a:xfrm>
            <a:off x="4836795" y="3315547"/>
            <a:ext cx="139824" cy="111844"/>
          </a:xfrm>
          <a:prstGeom prst="rect">
            <a:avLst/>
          </a:prstGeom>
        </p:spPr>
      </p:pic>
      <p:sp>
        <p:nvSpPr>
          <p:cNvPr id="8" name="Text 4"/>
          <p:cNvSpPr/>
          <p:nvPr/>
        </p:nvSpPr>
        <p:spPr>
          <a:xfrm>
            <a:off x="5076751" y="3242742"/>
            <a:ext cx="3308896" cy="762818"/>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FFFFFF"/>
                </a:solidFill>
                <a:latin typeface="Arial" panose="020B0604020202020204" pitchFamily="34" charset="0"/>
                <a:ea typeface="Calibri" panose="020F0502020204030204" pitchFamily="34" charset="0"/>
                <a:cs typeface="Arial" panose="020B0604020202020204" pitchFamily="34" charset="0"/>
              </a:rPr>
              <a:t>DAX measures power all 6 interactive dashboards, updating automatically as users apply filters and slicers.</a:t>
            </a:r>
            <a:endParaRPr lang="en-US" sz="1200"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3474" y="398636"/>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sp>
        <p:nvSpPr>
          <p:cNvPr id="3" name="Text 1"/>
          <p:cNvSpPr/>
          <p:nvPr/>
        </p:nvSpPr>
        <p:spPr>
          <a:xfrm>
            <a:off x="533474"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FFE14D"/>
                </a:solidFill>
                <a:latin typeface="Arial" panose="020B0604020202020204" pitchFamily="34" charset="0"/>
                <a:ea typeface="Calibri" panose="020F0502020204030204" pitchFamily="34" charset="0"/>
                <a:cs typeface="Arial" panose="020B0604020202020204" pitchFamily="34" charset="0"/>
              </a:rPr>
              <a:t>Schema Structure</a:t>
            </a:r>
            <a:endParaRPr lang="en-US" sz="1400" dirty="0">
              <a:latin typeface="Arial" panose="020B0604020202020204" pitchFamily="34" charset="0"/>
            </a:endParaRPr>
          </a:p>
        </p:txBody>
      </p:sp>
      <p:sp>
        <p:nvSpPr>
          <p:cNvPr id="4" name="Text 2"/>
          <p:cNvSpPr/>
          <p:nvPr/>
        </p:nvSpPr>
        <p:spPr>
          <a:xfrm>
            <a:off x="533474" y="1406500"/>
            <a:ext cx="4295924" cy="839986"/>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 star schema centers on a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Fact Sales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table connected to dimension tables: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Branch</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Product</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Customer</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Date</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All relationships use one-to-many joins from dimension to fact tables.</a:t>
            </a:r>
            <a:endParaRPr lang="en-US" sz="1200" dirty="0">
              <a:latin typeface="Arial" panose="020B0604020202020204" pitchFamily="34" charset="0"/>
            </a:endParaRPr>
          </a:p>
        </p:txBody>
      </p:sp>
      <p:sp>
        <p:nvSpPr>
          <p:cNvPr id="5" name="Shape 3"/>
          <p:cNvSpPr/>
          <p:nvPr/>
        </p:nvSpPr>
        <p:spPr>
          <a:xfrm>
            <a:off x="533474" y="2391817"/>
            <a:ext cx="2083371" cy="1249263"/>
          </a:xfrm>
          <a:prstGeom prst="roundRect">
            <a:avLst>
              <a:gd name="adj" fmla="val 16015"/>
            </a:avLst>
          </a:prstGeom>
          <a:solidFill>
            <a:srgbClr val="27272B"/>
          </a:solidFill>
          <a:ln w="19050">
            <a:solidFill>
              <a:srgbClr val="5F5F63"/>
            </a:solidFill>
            <a:prstDash val="solid"/>
          </a:ln>
        </p:spPr>
      </p:sp>
      <p:sp>
        <p:nvSpPr>
          <p:cNvPr id="6" name="Text 4"/>
          <p:cNvSpPr/>
          <p:nvPr/>
        </p:nvSpPr>
        <p:spPr>
          <a:xfrm>
            <a:off x="685874"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Fact Tables</a:t>
            </a:r>
            <a:endParaRPr lang="en-US" sz="1400" dirty="0">
              <a:latin typeface="Arial" panose="020B0604020202020204" pitchFamily="34" charset="0"/>
            </a:endParaRPr>
          </a:p>
        </p:txBody>
      </p:sp>
      <p:sp>
        <p:nvSpPr>
          <p:cNvPr id="7" name="Text 5"/>
          <p:cNvSpPr/>
          <p:nvPr/>
        </p:nvSpPr>
        <p:spPr>
          <a:xfrm>
            <a:off x="685874" y="2858691"/>
            <a:ext cx="1778571" cy="629989"/>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Store transactional records — sales, returns, and buy-backs</a:t>
            </a:r>
            <a:endParaRPr lang="en-US" sz="1200" dirty="0">
              <a:latin typeface="Arial" panose="020B0604020202020204" pitchFamily="34" charset="0"/>
            </a:endParaRPr>
          </a:p>
        </p:txBody>
      </p:sp>
      <p:sp>
        <p:nvSpPr>
          <p:cNvPr id="8" name="Shape 6"/>
          <p:cNvSpPr/>
          <p:nvPr/>
        </p:nvSpPr>
        <p:spPr>
          <a:xfrm>
            <a:off x="2746028" y="2391817"/>
            <a:ext cx="2083371" cy="1249263"/>
          </a:xfrm>
          <a:prstGeom prst="roundRect">
            <a:avLst>
              <a:gd name="adj" fmla="val 16015"/>
            </a:avLst>
          </a:prstGeom>
          <a:solidFill>
            <a:srgbClr val="27272B"/>
          </a:solidFill>
          <a:ln w="19050">
            <a:solidFill>
              <a:srgbClr val="5F5F63"/>
            </a:solidFill>
            <a:prstDash val="solid"/>
          </a:ln>
        </p:spPr>
      </p:sp>
      <p:sp>
        <p:nvSpPr>
          <p:cNvPr id="9" name="Text 7"/>
          <p:cNvSpPr/>
          <p:nvPr/>
        </p:nvSpPr>
        <p:spPr>
          <a:xfrm>
            <a:off x="2898428"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Dimension Tables</a:t>
            </a:r>
            <a:endParaRPr lang="en-US" sz="1400" dirty="0">
              <a:latin typeface="Arial" panose="020B0604020202020204" pitchFamily="34" charset="0"/>
            </a:endParaRPr>
          </a:p>
        </p:txBody>
      </p:sp>
      <p:sp>
        <p:nvSpPr>
          <p:cNvPr id="10" name="Text 8"/>
          <p:cNvSpPr/>
          <p:nvPr/>
        </p:nvSpPr>
        <p:spPr>
          <a:xfrm>
            <a:off x="2898428" y="2858691"/>
            <a:ext cx="1778571" cy="419993"/>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Branch, Product, Customer, and Date attributes</a:t>
            </a:r>
            <a:endParaRPr lang="en-US" sz="1200" dirty="0">
              <a:latin typeface="Arial" panose="020B0604020202020204" pitchFamily="34" charset="0"/>
            </a:endParaRPr>
          </a:p>
        </p:txBody>
      </p:sp>
      <p:sp>
        <p:nvSpPr>
          <p:cNvPr id="11" name="Shape 9"/>
          <p:cNvSpPr/>
          <p:nvPr/>
        </p:nvSpPr>
        <p:spPr>
          <a:xfrm>
            <a:off x="533474" y="3770263"/>
            <a:ext cx="4295924" cy="829270"/>
          </a:xfrm>
          <a:prstGeom prst="roundRect">
            <a:avLst>
              <a:gd name="adj" fmla="val 24126"/>
            </a:avLst>
          </a:prstGeom>
          <a:solidFill>
            <a:srgbClr val="27272B"/>
          </a:solidFill>
          <a:ln w="19050">
            <a:solidFill>
              <a:srgbClr val="5F5F63"/>
            </a:solidFill>
            <a:prstDash val="solid"/>
          </a:ln>
        </p:spPr>
      </p:sp>
      <p:sp>
        <p:nvSpPr>
          <p:cNvPr id="12" name="Text 10"/>
          <p:cNvSpPr/>
          <p:nvPr/>
        </p:nvSpPr>
        <p:spPr>
          <a:xfrm>
            <a:off x="685874" y="3922663"/>
            <a:ext cx="1493639"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One-to-Many Joins</a:t>
            </a:r>
            <a:endParaRPr lang="en-US" sz="1400" dirty="0">
              <a:latin typeface="Arial" panose="020B0604020202020204" pitchFamily="34" charset="0"/>
            </a:endParaRPr>
          </a:p>
        </p:txBody>
      </p:sp>
      <p:sp>
        <p:nvSpPr>
          <p:cNvPr id="13" name="Text 11"/>
          <p:cNvSpPr/>
          <p:nvPr/>
        </p:nvSpPr>
        <p:spPr>
          <a:xfrm>
            <a:off x="685874" y="4237137"/>
            <a:ext cx="3991124" cy="209996"/>
          </a:xfrm>
          <a:prstGeom prst="rect">
            <a:avLst/>
          </a:prstGeom>
          <a:noFill/>
          <a:ln/>
        </p:spPr>
        <p:txBody>
          <a:bodyPr wrap="none" lIns="0" tIns="0" rIns="0" bIns="0" rtlCol="0" anchor="t"/>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Dimensions connect to facts via foreign keys</a:t>
            </a:r>
            <a:endParaRPr lang="en-US" sz="1200" dirty="0">
              <a:latin typeface="Arial" panose="020B0604020202020204" pitchFamily="34" charset="0"/>
            </a:endParaRPr>
          </a:p>
        </p:txBody>
      </p:sp>
      <p:sp>
        <p:nvSpPr>
          <p:cNvPr id="14" name="Shape 12"/>
          <p:cNvSpPr/>
          <p:nvPr/>
        </p:nvSpPr>
        <p:spPr>
          <a:xfrm>
            <a:off x="5063505" y="962844"/>
            <a:ext cx="3647703" cy="3782020"/>
          </a:xfrm>
          <a:prstGeom prst="roundRect">
            <a:avLst>
              <a:gd name="adj" fmla="val 8776"/>
            </a:avLst>
          </a:prstGeom>
          <a:solidFill>
            <a:srgbClr val="FFE14D"/>
          </a:solidFill>
          <a:ln/>
        </p:spPr>
      </p:sp>
      <p:sp>
        <p:nvSpPr>
          <p:cNvPr id="15" name="Text 13"/>
          <p:cNvSpPr/>
          <p:nvPr/>
        </p:nvSpPr>
        <p:spPr>
          <a:xfrm>
            <a:off x="5196855"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Arial" panose="020B0604020202020204" pitchFamily="34" charset="0"/>
                <a:ea typeface="Calibri" panose="020F0502020204030204" pitchFamily="34" charset="0"/>
                <a:cs typeface="Arial" panose="020B0604020202020204" pitchFamily="34" charset="0"/>
              </a:rPr>
              <a:t>Why Star Schema?</a:t>
            </a:r>
            <a:endParaRPr lang="en-US" sz="1400" dirty="0">
              <a:latin typeface="Arial" panose="020B0604020202020204" pitchFamily="34" charset="0"/>
            </a:endParaRPr>
          </a:p>
        </p:txBody>
      </p:sp>
      <p:sp>
        <p:nvSpPr>
          <p:cNvPr id="16" name="Text 14"/>
          <p:cNvSpPr/>
          <p:nvPr/>
        </p:nvSpPr>
        <p:spPr>
          <a:xfrm>
            <a:off x="5196855" y="1406500"/>
            <a:ext cx="3381003" cy="1872184"/>
          </a:xfrm>
          <a:prstGeom prst="rect">
            <a:avLst/>
          </a:prstGeom>
          <a:noFill/>
          <a:ln/>
        </p:spPr>
        <p:txBody>
          <a:bodyPr wrap="square" lIns="0" tIns="0" rIns="0" bIns="0" rtlCol="0" anchor="t">
            <a:normAutofit fontScale="92500" lnSpcReduction="20000"/>
          </a:bodyPr>
          <a:lstStyle/>
          <a:p>
            <a:pPr marL="0" indent="0" algn="l">
              <a:lnSpc>
                <a:spcPct val="131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A star schema improves reporting performance by simplifying queries and reducing join complexity. With denormalized dimension tables and a single fact table at the center, Power BI can aggregate large volumes of transactional data efficiently — enabling fast, responsive dashboards for executive and operational reporting.</a:t>
            </a:r>
            <a:endParaRPr lang="en-US" sz="140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C299-FEE8-28FC-B76F-D36083336B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B19FFF-929F-CB88-0886-D6323317EC94}"/>
              </a:ext>
            </a:extLst>
          </p:cNvPr>
          <p:cNvSpPr/>
          <p:nvPr/>
        </p:nvSpPr>
        <p:spPr>
          <a:xfrm>
            <a:off x="434414" y="0"/>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pic>
        <p:nvPicPr>
          <p:cNvPr id="18" name="Picture 17">
            <a:extLst>
              <a:ext uri="{FF2B5EF4-FFF2-40B4-BE49-F238E27FC236}">
                <a16:creationId xmlns:a16="http://schemas.microsoft.com/office/drawing/2014/main" id="{B6AB924C-A53A-C7B0-A9EB-236817E95E3A}"/>
              </a:ext>
            </a:extLst>
          </p:cNvPr>
          <p:cNvPicPr>
            <a:picLocks noChangeAspect="1"/>
          </p:cNvPicPr>
          <p:nvPr/>
        </p:nvPicPr>
        <p:blipFill>
          <a:blip r:embed="rId3"/>
          <a:stretch>
            <a:fillRect/>
          </a:stretch>
        </p:blipFill>
        <p:spPr>
          <a:xfrm>
            <a:off x="434415" y="494030"/>
            <a:ext cx="8168566" cy="4502026"/>
          </a:xfrm>
          <a:prstGeom prst="rect">
            <a:avLst/>
          </a:prstGeom>
        </p:spPr>
      </p:pic>
    </p:spTree>
    <p:extLst>
      <p:ext uri="{BB962C8B-B14F-4D97-AF65-F5344CB8AC3E}">
        <p14:creationId xmlns:p14="http://schemas.microsoft.com/office/powerpoint/2010/main" val="204254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160020"/>
            <a:ext cx="3429000" cy="5303520"/>
          </a:xfrm>
          <a:prstGeom prst="rect">
            <a:avLst/>
          </a:prstGeom>
        </p:spPr>
      </p:pic>
      <p:sp>
        <p:nvSpPr>
          <p:cNvPr id="3" name="Text 0"/>
          <p:cNvSpPr/>
          <p:nvPr/>
        </p:nvSpPr>
        <p:spPr>
          <a:xfrm>
            <a:off x="418282" y="999266"/>
            <a:ext cx="4613672" cy="1066934"/>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Business Intelligence Dashboard Suite</a:t>
            </a:r>
            <a:endParaRPr lang="en-US" sz="3200" dirty="0">
              <a:latin typeface="Arial" panose="020B0604020202020204" pitchFamily="34" charset="0"/>
            </a:endParaRPr>
          </a:p>
        </p:txBody>
      </p:sp>
      <p:sp>
        <p:nvSpPr>
          <p:cNvPr id="4" name="Text 1"/>
          <p:cNvSpPr/>
          <p:nvPr/>
        </p:nvSpPr>
        <p:spPr>
          <a:xfrm>
            <a:off x="550664" y="2254659"/>
            <a:ext cx="4613672" cy="120482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An end-to-end BI solution built with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 transforming raw transactional data into strategic insights across sales, customers, branches, products, payments, and returns.</a:t>
            </a:r>
            <a:endParaRPr lang="en-US" sz="1400" dirty="0">
              <a:latin typeface="Arial" panose="020B0604020202020204" pitchFamily="34" charset="0"/>
            </a:endParaRPr>
          </a:p>
        </p:txBody>
      </p:sp>
      <p:sp>
        <p:nvSpPr>
          <p:cNvPr id="5" name="Shape 2"/>
          <p:cNvSpPr/>
          <p:nvPr/>
        </p:nvSpPr>
        <p:spPr>
          <a:xfrm>
            <a:off x="396240" y="3690708"/>
            <a:ext cx="2182206" cy="374257"/>
          </a:xfrm>
          <a:prstGeom prst="roundRect">
            <a:avLst>
              <a:gd name="adj" fmla="val 63838"/>
            </a:avLst>
          </a:prstGeom>
          <a:solidFill>
            <a:srgbClr val="4D4000"/>
          </a:solidFill>
          <a:ln/>
        </p:spPr>
      </p:sp>
      <p:sp>
        <p:nvSpPr>
          <p:cNvPr id="6" name="Text 3"/>
          <p:cNvSpPr/>
          <p:nvPr/>
        </p:nvSpPr>
        <p:spPr>
          <a:xfrm>
            <a:off x="533995" y="3764613"/>
            <a:ext cx="2027783" cy="245769"/>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6 INTERACTIVE DASHBOARDS</a:t>
            </a:r>
            <a:endParaRPr lang="en-US" sz="1000" dirty="0">
              <a:latin typeface="Arial" panose="020B0604020202020204" pitchFamily="34" charset="0"/>
            </a:endParaRPr>
          </a:p>
        </p:txBody>
      </p:sp>
      <p:sp>
        <p:nvSpPr>
          <p:cNvPr id="7" name="Shape 4"/>
          <p:cNvSpPr/>
          <p:nvPr/>
        </p:nvSpPr>
        <p:spPr>
          <a:xfrm>
            <a:off x="2725118" y="3677424"/>
            <a:ext cx="2439218" cy="374257"/>
          </a:xfrm>
          <a:prstGeom prst="roundRect">
            <a:avLst>
              <a:gd name="adj" fmla="val 61572"/>
            </a:avLst>
          </a:prstGeom>
          <a:noFill/>
          <a:ln w="4763">
            <a:solidFill>
              <a:srgbClr val="FFE14D"/>
            </a:solidFill>
            <a:prstDash val="solid"/>
          </a:ln>
        </p:spPr>
      </p:sp>
      <p:sp>
        <p:nvSpPr>
          <p:cNvPr id="8" name="Text 5"/>
          <p:cNvSpPr/>
          <p:nvPr/>
        </p:nvSpPr>
        <p:spPr>
          <a:xfrm>
            <a:off x="2837110" y="3778554"/>
            <a:ext cx="2290688" cy="245769"/>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8 BUSINESS CHALLENGES SOLVED</a:t>
            </a:r>
            <a:endParaRPr lang="en-US" sz="100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8744" y="0"/>
            <a:ext cx="3426172" cy="334640"/>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Executive</a:t>
            </a: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 </a:t>
            </a: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Dashboard</a:t>
            </a:r>
            <a:endParaRPr lang="en-US" sz="3200" dirty="0">
              <a:latin typeface="Arial" panose="020B0604020202020204" pitchFamily="34" charset="0"/>
            </a:endParaRPr>
          </a:p>
        </p:txBody>
      </p:sp>
      <p:sp>
        <p:nvSpPr>
          <p:cNvPr id="3" name="Text 1"/>
          <p:cNvSpPr/>
          <p:nvPr/>
        </p:nvSpPr>
        <p:spPr>
          <a:xfrm>
            <a:off x="308744" y="625539"/>
            <a:ext cx="8180338" cy="361355"/>
          </a:xfrm>
          <a:prstGeom prst="rect">
            <a:avLst/>
          </a:prstGeom>
          <a:noFill/>
          <a:ln/>
        </p:spPr>
        <p:txBody>
          <a:bodyPr wrap="square" lIns="0" tIns="0" rIns="0" bIns="0" rtlCol="0" anchor="t">
            <a:noAutofit/>
          </a:bodyPr>
          <a:lstStyle/>
          <a:p>
            <a:pPr marL="0" indent="0" algn="l">
              <a:lnSpc>
                <a:spcPct val="125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Provides an overall business performance overview at a glance, consolidating the most critical KPIs into a single view for leadership decision-making.</a:t>
            </a:r>
            <a:endParaRPr lang="en-US" sz="1200" dirty="0">
              <a:latin typeface="Arial" panose="020B0604020202020204" pitchFamily="34" charset="0"/>
            </a:endParaRPr>
          </a:p>
        </p:txBody>
      </p:sp>
      <p:sp>
        <p:nvSpPr>
          <p:cNvPr id="4" name="Shape 2"/>
          <p:cNvSpPr/>
          <p:nvPr/>
        </p:nvSpPr>
        <p:spPr>
          <a:xfrm>
            <a:off x="308744" y="1288479"/>
            <a:ext cx="4037484" cy="832619"/>
          </a:xfrm>
          <a:prstGeom prst="roundRect">
            <a:avLst>
              <a:gd name="adj" fmla="val 21704"/>
            </a:avLst>
          </a:prstGeom>
          <a:solidFill>
            <a:srgbClr val="46464A"/>
          </a:solidFill>
          <a:ln/>
        </p:spPr>
      </p:sp>
      <p:sp>
        <p:nvSpPr>
          <p:cNvPr id="5" name="Text 3"/>
          <p:cNvSpPr/>
          <p:nvPr/>
        </p:nvSpPr>
        <p:spPr>
          <a:xfrm>
            <a:off x="429146" y="1303331"/>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Total Revenue</a:t>
            </a:r>
            <a:endParaRPr lang="en-US" dirty="0">
              <a:latin typeface="Arial" panose="020B0604020202020204" pitchFamily="34" charset="0"/>
            </a:endParaRPr>
          </a:p>
        </p:txBody>
      </p:sp>
      <p:sp>
        <p:nvSpPr>
          <p:cNvPr id="6" name="Text 4"/>
          <p:cNvSpPr/>
          <p:nvPr/>
        </p:nvSpPr>
        <p:spPr>
          <a:xfrm>
            <a:off x="421630" y="1540347"/>
            <a:ext cx="3796680" cy="361355"/>
          </a:xfrm>
          <a:prstGeom prst="rect">
            <a:avLst/>
          </a:prstGeom>
          <a:noFill/>
          <a:ln/>
        </p:spPr>
        <p:txBody>
          <a:bodyPr wrap="square" lIns="0" tIns="0" rIns="0" bIns="0" rtlCol="0" anchor="t">
            <a:noAutofit/>
          </a:bodyPr>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Overall business revenue tracked across all branches and product categories</a:t>
            </a:r>
            <a:endParaRPr lang="en-US" sz="1400" dirty="0">
              <a:latin typeface="Arial" panose="020B0604020202020204" pitchFamily="34" charset="0"/>
            </a:endParaRPr>
          </a:p>
        </p:txBody>
      </p:sp>
      <p:sp>
        <p:nvSpPr>
          <p:cNvPr id="7" name="Shape 5"/>
          <p:cNvSpPr/>
          <p:nvPr/>
        </p:nvSpPr>
        <p:spPr>
          <a:xfrm>
            <a:off x="4451598" y="1254144"/>
            <a:ext cx="4138314" cy="832619"/>
          </a:xfrm>
          <a:prstGeom prst="roundRect">
            <a:avLst>
              <a:gd name="adj" fmla="val 21704"/>
            </a:avLst>
          </a:prstGeom>
          <a:solidFill>
            <a:srgbClr val="46464A"/>
          </a:solidFill>
          <a:ln/>
        </p:spPr>
      </p:sp>
      <p:sp>
        <p:nvSpPr>
          <p:cNvPr id="8" name="Text 6"/>
          <p:cNvSpPr/>
          <p:nvPr/>
        </p:nvSpPr>
        <p:spPr>
          <a:xfrm>
            <a:off x="4572000" y="1272665"/>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Invoice Count</a:t>
            </a:r>
            <a:endParaRPr lang="en-US" dirty="0">
              <a:latin typeface="Arial" panose="020B0604020202020204" pitchFamily="34" charset="0"/>
            </a:endParaRPr>
          </a:p>
        </p:txBody>
      </p:sp>
      <p:sp>
        <p:nvSpPr>
          <p:cNvPr id="9" name="Text 7"/>
          <p:cNvSpPr/>
          <p:nvPr/>
        </p:nvSpPr>
        <p:spPr>
          <a:xfrm>
            <a:off x="4537270" y="1512018"/>
            <a:ext cx="3831409" cy="488678"/>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Total number of invoices processed, reflecting</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transaction volume</a:t>
            </a:r>
            <a:endParaRPr lang="en-US" sz="1400" dirty="0">
              <a:latin typeface="Arial" panose="020B0604020202020204" pitchFamily="34" charset="0"/>
            </a:endParaRPr>
          </a:p>
        </p:txBody>
      </p:sp>
      <p:sp>
        <p:nvSpPr>
          <p:cNvPr id="10" name="Shape 8"/>
          <p:cNvSpPr/>
          <p:nvPr/>
        </p:nvSpPr>
        <p:spPr>
          <a:xfrm>
            <a:off x="301228" y="2229563"/>
            <a:ext cx="4037484" cy="832619"/>
          </a:xfrm>
          <a:prstGeom prst="roundRect">
            <a:avLst>
              <a:gd name="adj" fmla="val 21704"/>
            </a:avLst>
          </a:prstGeom>
          <a:solidFill>
            <a:srgbClr val="46464A"/>
          </a:solidFill>
          <a:ln/>
        </p:spPr>
      </p:sp>
      <p:sp>
        <p:nvSpPr>
          <p:cNvPr id="11" name="Text 9"/>
          <p:cNvSpPr/>
          <p:nvPr/>
        </p:nvSpPr>
        <p:spPr>
          <a:xfrm>
            <a:off x="429146" y="2234803"/>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Active Customers</a:t>
            </a:r>
            <a:endParaRPr lang="en-US" dirty="0">
              <a:latin typeface="Arial" panose="020B0604020202020204" pitchFamily="34" charset="0"/>
            </a:endParaRPr>
          </a:p>
        </p:txBody>
      </p:sp>
      <p:sp>
        <p:nvSpPr>
          <p:cNvPr id="12" name="Text 10"/>
          <p:cNvSpPr/>
          <p:nvPr/>
        </p:nvSpPr>
        <p:spPr>
          <a:xfrm>
            <a:off x="429146" y="2502397"/>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Number of active customers engaging with the </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business</a:t>
            </a:r>
            <a:endParaRPr lang="en-US" sz="1400" dirty="0">
              <a:latin typeface="Arial" panose="020B0604020202020204" pitchFamily="34" charset="0"/>
            </a:endParaRPr>
          </a:p>
        </p:txBody>
      </p:sp>
      <p:sp>
        <p:nvSpPr>
          <p:cNvPr id="13" name="Shape 11"/>
          <p:cNvSpPr/>
          <p:nvPr/>
        </p:nvSpPr>
        <p:spPr>
          <a:xfrm>
            <a:off x="4451598" y="2226468"/>
            <a:ext cx="4138314" cy="832619"/>
          </a:xfrm>
          <a:prstGeom prst="roundRect">
            <a:avLst>
              <a:gd name="adj" fmla="val 21704"/>
            </a:avLst>
          </a:prstGeom>
          <a:solidFill>
            <a:srgbClr val="46464A"/>
          </a:solidFill>
          <a:ln/>
        </p:spPr>
      </p:sp>
      <p:sp>
        <p:nvSpPr>
          <p:cNvPr id="14" name="Text 12"/>
          <p:cNvSpPr/>
          <p:nvPr/>
        </p:nvSpPr>
        <p:spPr>
          <a:xfrm>
            <a:off x="4572000" y="2346870"/>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Avg Invoice Value</a:t>
            </a:r>
            <a:endParaRPr lang="en-US" dirty="0">
              <a:latin typeface="Arial" panose="020B0604020202020204" pitchFamily="34" charset="0"/>
            </a:endParaRPr>
          </a:p>
        </p:txBody>
      </p:sp>
      <p:sp>
        <p:nvSpPr>
          <p:cNvPr id="15" name="Text 13"/>
          <p:cNvSpPr/>
          <p:nvPr/>
        </p:nvSpPr>
        <p:spPr>
          <a:xfrm>
            <a:off x="4572000" y="2577330"/>
            <a:ext cx="3796680" cy="361355"/>
          </a:xfrm>
          <a:prstGeom prst="rect">
            <a:avLst/>
          </a:prstGeom>
          <a:noFill/>
          <a:ln/>
        </p:spPr>
        <p:txBody>
          <a:bodyPr wrap="square" lIns="0" tIns="0" rIns="0" bIns="0" rtlCol="0" anchor="t">
            <a:noAutofit/>
          </a:bodyPr>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Average value per invoice, indicating transaction size and customer spend</a:t>
            </a:r>
            <a:endParaRPr lang="en-US" sz="1400" dirty="0">
              <a:latin typeface="Arial" panose="020B0604020202020204" pitchFamily="34" charset="0"/>
            </a:endParaRPr>
          </a:p>
        </p:txBody>
      </p:sp>
      <p:sp>
        <p:nvSpPr>
          <p:cNvPr id="16" name="Shape 14"/>
          <p:cNvSpPr/>
          <p:nvPr/>
        </p:nvSpPr>
        <p:spPr>
          <a:xfrm>
            <a:off x="308744" y="3177866"/>
            <a:ext cx="4037484" cy="818882"/>
          </a:xfrm>
          <a:prstGeom prst="roundRect">
            <a:avLst>
              <a:gd name="adj" fmla="val 27719"/>
            </a:avLst>
          </a:prstGeom>
          <a:solidFill>
            <a:srgbClr val="46464A"/>
          </a:solidFill>
          <a:ln/>
        </p:spPr>
      </p:sp>
      <p:sp>
        <p:nvSpPr>
          <p:cNvPr id="17" name="Text 15"/>
          <p:cNvSpPr/>
          <p:nvPr/>
        </p:nvSpPr>
        <p:spPr>
          <a:xfrm>
            <a:off x="429146" y="3284859"/>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Rate</a:t>
            </a:r>
            <a:endParaRPr lang="en-US" dirty="0">
              <a:latin typeface="Arial" panose="020B0604020202020204" pitchFamily="34" charset="0"/>
            </a:endParaRPr>
          </a:p>
        </p:txBody>
      </p:sp>
      <p:sp>
        <p:nvSpPr>
          <p:cNvPr id="18" name="Text 16"/>
          <p:cNvSpPr/>
          <p:nvPr/>
        </p:nvSpPr>
        <p:spPr>
          <a:xfrm>
            <a:off x="429146" y="3515320"/>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Rate of product returns across the business</a:t>
            </a:r>
            <a:endParaRPr lang="en-US" sz="1400" dirty="0">
              <a:latin typeface="Arial" panose="020B0604020202020204" pitchFamily="34" charset="0"/>
            </a:endParaRPr>
          </a:p>
        </p:txBody>
      </p:sp>
      <p:sp>
        <p:nvSpPr>
          <p:cNvPr id="19" name="Shape 17"/>
          <p:cNvSpPr/>
          <p:nvPr/>
        </p:nvSpPr>
        <p:spPr>
          <a:xfrm>
            <a:off x="4451597" y="3164130"/>
            <a:ext cx="4138315" cy="832618"/>
          </a:xfrm>
          <a:prstGeom prst="roundRect">
            <a:avLst>
              <a:gd name="adj" fmla="val 27719"/>
            </a:avLst>
          </a:prstGeom>
          <a:solidFill>
            <a:srgbClr val="46464A"/>
          </a:solidFill>
          <a:ln/>
        </p:spPr>
      </p:sp>
      <p:sp>
        <p:nvSpPr>
          <p:cNvPr id="20" name="Text 18"/>
          <p:cNvSpPr/>
          <p:nvPr/>
        </p:nvSpPr>
        <p:spPr>
          <a:xfrm>
            <a:off x="4572000" y="3216114"/>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Making Revenue</a:t>
            </a:r>
            <a:endParaRPr lang="en-US" dirty="0">
              <a:latin typeface="Arial" panose="020B0604020202020204" pitchFamily="34" charset="0"/>
            </a:endParaRPr>
          </a:p>
        </p:txBody>
      </p:sp>
      <p:sp>
        <p:nvSpPr>
          <p:cNvPr id="21" name="Text 19"/>
          <p:cNvSpPr/>
          <p:nvPr/>
        </p:nvSpPr>
        <p:spPr>
          <a:xfrm>
            <a:off x="4572000" y="3483708"/>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Revenue from making charges, a significant contributor</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to profit</a:t>
            </a:r>
            <a:endParaRPr lang="en-US" sz="1400" dirty="0">
              <a:latin typeface="Arial" panose="020B0604020202020204" pitchFamily="34" charset="0"/>
            </a:endParaRPr>
          </a:p>
        </p:txBody>
      </p:sp>
      <p:sp>
        <p:nvSpPr>
          <p:cNvPr id="22" name="Shape 20"/>
          <p:cNvSpPr/>
          <p:nvPr/>
        </p:nvSpPr>
        <p:spPr>
          <a:xfrm>
            <a:off x="308744" y="4277736"/>
            <a:ext cx="8180338" cy="611088"/>
          </a:xfrm>
          <a:prstGeom prst="roundRect">
            <a:avLst>
              <a:gd name="adj" fmla="val 29572"/>
            </a:avLst>
          </a:prstGeom>
          <a:solidFill>
            <a:srgbClr val="022349"/>
          </a:solidFill>
          <a:ln/>
        </p:spPr>
      </p:sp>
      <p:pic>
        <p:nvPicPr>
          <p:cNvPr id="23" name="Image 0" descr="preencoded.png"/>
          <p:cNvPicPr>
            <a:picLocks noChangeAspect="1"/>
          </p:cNvPicPr>
          <p:nvPr/>
        </p:nvPicPr>
        <p:blipFill>
          <a:blip r:embed="rId3"/>
          <a:stretch>
            <a:fillRect/>
          </a:stretch>
        </p:blipFill>
        <p:spPr>
          <a:xfrm>
            <a:off x="429146" y="4099098"/>
            <a:ext cx="150540" cy="120402"/>
          </a:xfrm>
          <a:prstGeom prst="rect">
            <a:avLst/>
          </a:prstGeom>
        </p:spPr>
      </p:pic>
      <p:sp>
        <p:nvSpPr>
          <p:cNvPr id="24" name="Text 21"/>
          <p:cNvSpPr/>
          <p:nvPr/>
        </p:nvSpPr>
        <p:spPr>
          <a:xfrm>
            <a:off x="429146" y="4369435"/>
            <a:ext cx="7939533" cy="497571"/>
          </a:xfrm>
          <a:prstGeom prst="rect">
            <a:avLst/>
          </a:prstGeom>
          <a:noFill/>
          <a:ln/>
        </p:spPr>
        <p:txBody>
          <a:bodyPr wrap="square" lIns="0" tIns="0" rIns="0" bIns="0" rtlCol="0" anchor="t">
            <a:normAutofit lnSpcReduction="10000"/>
          </a:bodyPr>
          <a:lstStyle/>
          <a:p>
            <a:pPr marL="0" indent="0" algn="l">
              <a:lnSpc>
                <a:spcPct val="125000"/>
              </a:lnSpc>
              <a:buNone/>
            </a:pPr>
            <a:r>
              <a:rPr lang="en-US" sz="1400" b="1" dirty="0">
                <a:solidFill>
                  <a:srgbClr val="FFFFFF"/>
                </a:solidFill>
                <a:latin typeface="Arial" panose="020B0604020202020204" pitchFamily="34" charset="0"/>
                <a:ea typeface="Calibri" panose="020F0502020204030204" pitchFamily="34" charset="0"/>
                <a:cs typeface="Arial" panose="020B0604020202020204" pitchFamily="34" charset="0"/>
              </a:rPr>
              <a:t>Key Insights:</a:t>
            </a:r>
            <a:r>
              <a:rPr lang="en-US" sz="1400" dirty="0">
                <a:solidFill>
                  <a:srgbClr val="FFFFFF"/>
                </a:solidFill>
                <a:latin typeface="Arial" panose="020B0604020202020204" pitchFamily="34" charset="0"/>
                <a:ea typeface="Calibri" panose="020F0502020204030204" pitchFamily="34" charset="0"/>
                <a:cs typeface="Arial" panose="020B0604020202020204" pitchFamily="34" charset="0"/>
              </a:rPr>
              <a:t> 22K products generate the highest revenue. Revenue is concentrated in a few branches. Return rate is low. Making charges contribute significantly to profit.</a:t>
            </a:r>
            <a:endParaRPr lang="en-US" sz="140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74554"/>
            <a:ext cx="5662985" cy="382488"/>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Branch Performance Dashboard</a:t>
            </a:r>
            <a:endParaRPr lang="en-US" sz="2800" dirty="0">
              <a:latin typeface="Arial" panose="020B0604020202020204" pitchFamily="34" charset="0"/>
            </a:endParaRPr>
          </a:p>
        </p:txBody>
      </p:sp>
      <p:sp>
        <p:nvSpPr>
          <p:cNvPr id="3" name="Text 1"/>
          <p:cNvSpPr/>
          <p:nvPr/>
        </p:nvSpPr>
        <p:spPr>
          <a:xfrm>
            <a:off x="550664" y="1367627"/>
            <a:ext cx="8042672" cy="60970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enables comparison of branch revenue, branch ranking, average transaction value, return rate, and salesperson contribution — providing a comprehensive view of how each branch performs relative to others.</a:t>
            </a:r>
            <a:endParaRPr lang="en-US" sz="1400" dirty="0">
              <a:latin typeface="Arial" panose="020B0604020202020204" pitchFamily="34" charset="0"/>
            </a:endParaRPr>
          </a:p>
        </p:txBody>
      </p:sp>
      <p:sp>
        <p:nvSpPr>
          <p:cNvPr id="4" name="Shape 2"/>
          <p:cNvSpPr/>
          <p:nvPr/>
        </p:nvSpPr>
        <p:spPr>
          <a:xfrm>
            <a:off x="347664" y="2682405"/>
            <a:ext cx="4051622" cy="2132261"/>
          </a:xfrm>
          <a:prstGeom prst="roundRect">
            <a:avLst>
              <a:gd name="adj" fmla="val 15497"/>
            </a:avLst>
          </a:prstGeom>
          <a:solidFill>
            <a:srgbClr val="FFE14D"/>
          </a:solidFill>
          <a:ln/>
        </p:spPr>
      </p:sp>
      <p:sp>
        <p:nvSpPr>
          <p:cNvPr id="5" name="Text 3"/>
          <p:cNvSpPr/>
          <p:nvPr/>
        </p:nvSpPr>
        <p:spPr>
          <a:xfrm>
            <a:off x="545902" y="2876060"/>
            <a:ext cx="1987004" cy="191244"/>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rPr>
              <a:t>What It Tracks</a:t>
            </a:r>
            <a:endParaRPr lang="en-US" dirty="0">
              <a:latin typeface="Arial" panose="020B0604020202020204" pitchFamily="34" charset="0"/>
            </a:endParaRPr>
          </a:p>
        </p:txBody>
      </p:sp>
      <p:sp>
        <p:nvSpPr>
          <p:cNvPr id="6" name="Text 4"/>
          <p:cNvSpPr/>
          <p:nvPr/>
        </p:nvSpPr>
        <p:spPr>
          <a:xfrm>
            <a:off x="545902" y="3452202"/>
            <a:ext cx="3776290" cy="1025500"/>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Branch revenue comparison and ranking</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Average transaction value per branch</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Return rate by branch</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Salesperson contribution per branch</a:t>
            </a:r>
            <a:endParaRPr lang="en-US" sz="1400" dirty="0">
              <a:latin typeface="Arial" panose="020B0604020202020204" pitchFamily="34" charset="0"/>
            </a:endParaRPr>
          </a:p>
        </p:txBody>
      </p:sp>
      <p:sp>
        <p:nvSpPr>
          <p:cNvPr id="7" name="Text 5"/>
          <p:cNvSpPr/>
          <p:nvPr/>
        </p:nvSpPr>
        <p:spPr>
          <a:xfrm>
            <a:off x="4744715" y="2269852"/>
            <a:ext cx="1987004" cy="191244"/>
          </a:xfrm>
          <a:prstGeom prst="rect">
            <a:avLst/>
          </a:prstGeom>
          <a:noFill/>
          <a:ln/>
        </p:spPr>
        <p:txBody>
          <a:bodyPr wrap="none" lIns="0" tIns="0" rIns="0" bIns="0" rtlCol="0" anchor="t"/>
          <a:lstStyle/>
          <a:p>
            <a:pPr marL="0" indent="0" algn="l">
              <a:lnSpc>
                <a:spcPct val="104000"/>
              </a:lnSpc>
              <a:buNone/>
            </a:pPr>
            <a:r>
              <a:rPr lang="en-US" b="1" dirty="0">
                <a:solidFill>
                  <a:srgbClr val="FFE14D"/>
                </a:solidFill>
                <a:latin typeface="Arial" panose="020B0604020202020204" pitchFamily="34" charset="0"/>
                <a:ea typeface="Calibri" panose="020F0502020204030204" pitchFamily="34" charset="0"/>
                <a:cs typeface="Arial" panose="020B0604020202020204" pitchFamily="34" charset="0"/>
              </a:rPr>
              <a:t>Key Insights</a:t>
            </a:r>
            <a:endParaRPr lang="en-US" dirty="0">
              <a:latin typeface="Arial" panose="020B0604020202020204" pitchFamily="34" charset="0"/>
            </a:endParaRPr>
          </a:p>
        </p:txBody>
      </p:sp>
      <p:sp>
        <p:nvSpPr>
          <p:cNvPr id="8" name="Text 6"/>
          <p:cNvSpPr/>
          <p:nvPr/>
        </p:nvSpPr>
        <p:spPr>
          <a:xfrm>
            <a:off x="4744715" y="2598762"/>
            <a:ext cx="3853383" cy="1482492"/>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16</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has the highest revenue</a:t>
            </a:r>
            <a:endParaRPr lang="en-US" sz="1400" dirty="0">
              <a:latin typeface="Arial" panose="020B0604020202020204" pitchFamily="34" charset="0"/>
            </a:endParaRPr>
          </a:p>
          <a:p>
            <a:pPr marL="342900" indent="-342900" algn="l">
              <a:lnSpc>
                <a:spcPct val="133000"/>
              </a:lnSpc>
              <a:buSzPct val="100000"/>
              <a:buChar char="•"/>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18</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has the highest average transaction value</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Performance varies significantly between branches</a:t>
            </a:r>
            <a:endParaRPr lang="en-US" sz="1400" dirty="0">
              <a:latin typeface="Arial" panose="020B0604020202020204" pitchFamily="34" charset="0"/>
            </a:endParaRPr>
          </a:p>
        </p:txBody>
      </p:sp>
      <p:sp>
        <p:nvSpPr>
          <p:cNvPr id="9" name="Text 7"/>
          <p:cNvSpPr/>
          <p:nvPr/>
        </p:nvSpPr>
        <p:spPr>
          <a:xfrm>
            <a:off x="4805027" y="4081254"/>
            <a:ext cx="4051622" cy="902226"/>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Significant performance differences exist among branches, highlighting opportunities to benchmark top-performing branches and replicate their practices across the network.</a:t>
            </a:r>
            <a:endParaRPr lang="en-US" sz="1200" dirty="0">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132426" y="180114"/>
            <a:ext cx="4110930" cy="316706"/>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Sales &amp; Product Dashboard</a:t>
            </a:r>
            <a:endParaRPr lang="en-US" sz="2800" dirty="0">
              <a:latin typeface="Arial" panose="020B0604020202020204" pitchFamily="34" charset="0"/>
            </a:endParaRPr>
          </a:p>
        </p:txBody>
      </p:sp>
      <p:sp>
        <p:nvSpPr>
          <p:cNvPr id="4" name="Text 1"/>
          <p:cNvSpPr/>
          <p:nvPr/>
        </p:nvSpPr>
        <p:spPr>
          <a:xfrm>
            <a:off x="466515" y="897046"/>
            <a:ext cx="4802981" cy="825178"/>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analyses revenue by category, revenue by item type, karat analysis, making charges, and discount analysis — providing a detailed view of product performance across the business.</a:t>
            </a:r>
            <a:endParaRPr lang="en-US" sz="1200" dirty="0">
              <a:latin typeface="Arial" panose="020B060402020202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515" y="1801622"/>
            <a:ext cx="285006" cy="285006"/>
          </a:xfrm>
          <a:prstGeom prst="rect">
            <a:avLst/>
          </a:prstGeom>
        </p:spPr>
      </p:pic>
      <p:sp>
        <p:nvSpPr>
          <p:cNvPr id="6" name="Text 2"/>
          <p:cNvSpPr/>
          <p:nvPr/>
        </p:nvSpPr>
        <p:spPr>
          <a:xfrm>
            <a:off x="873262" y="1930732"/>
            <a:ext cx="2183755"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Revenue by Category &amp; Item Type</a:t>
            </a:r>
            <a:endParaRPr lang="en-US" sz="1200" dirty="0">
              <a:latin typeface="Arial" panose="020B0604020202020204" pitchFamily="34" charset="0"/>
            </a:endParaRPr>
          </a:p>
        </p:txBody>
      </p:sp>
      <p:sp>
        <p:nvSpPr>
          <p:cNvPr id="7" name="Text 3"/>
          <p:cNvSpPr/>
          <p:nvPr/>
        </p:nvSpPr>
        <p:spPr>
          <a:xfrm>
            <a:off x="466514" y="2221808"/>
            <a:ext cx="4802981" cy="618323"/>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Bars and Chains are the top-performing products, generating the highest revenue across all categories. Some products contribute high revenue despite lower sales volume.</a:t>
            </a:r>
            <a:endParaRPr lang="en-US" sz="1200" dirty="0">
              <a:latin typeface="Arial" panose="020B060402020202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011" y="3007579"/>
            <a:ext cx="285006" cy="285006"/>
          </a:xfrm>
          <a:prstGeom prst="rect">
            <a:avLst/>
          </a:prstGeom>
        </p:spPr>
      </p:pic>
      <p:sp>
        <p:nvSpPr>
          <p:cNvPr id="9" name="Text 4"/>
          <p:cNvSpPr/>
          <p:nvPr/>
        </p:nvSpPr>
        <p:spPr>
          <a:xfrm>
            <a:off x="824655" y="3068389"/>
            <a:ext cx="1266825"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Karat Analysis</a:t>
            </a:r>
            <a:endParaRPr lang="en-US" sz="1200" dirty="0">
              <a:latin typeface="Arial" panose="020B0604020202020204" pitchFamily="34" charset="0"/>
            </a:endParaRPr>
          </a:p>
        </p:txBody>
      </p:sp>
      <p:sp>
        <p:nvSpPr>
          <p:cNvPr id="10" name="Text 5"/>
          <p:cNvSpPr/>
          <p:nvPr/>
        </p:nvSpPr>
        <p:spPr>
          <a:xfrm>
            <a:off x="466515" y="3331335"/>
            <a:ext cx="4802981" cy="722953"/>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22K jewellery dominates sales, contributing the highest revenue. This karat segment should be prioritised in stock planning and inventory management.</a:t>
            </a:r>
            <a:endParaRPr lang="en-US" sz="1200" dirty="0">
              <a:latin typeface="Arial" panose="020B060402020202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759" y="4093038"/>
            <a:ext cx="285006" cy="285006"/>
          </a:xfrm>
          <a:prstGeom prst="rect">
            <a:avLst/>
          </a:prstGeom>
        </p:spPr>
      </p:pic>
      <p:sp>
        <p:nvSpPr>
          <p:cNvPr id="12" name="Text 6"/>
          <p:cNvSpPr/>
          <p:nvPr/>
        </p:nvSpPr>
        <p:spPr>
          <a:xfrm>
            <a:off x="751520" y="4164507"/>
            <a:ext cx="2427238"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Making Charges &amp; Discount Analysis</a:t>
            </a:r>
            <a:endParaRPr lang="en-US" sz="1200" dirty="0">
              <a:latin typeface="Arial" panose="020B0604020202020204" pitchFamily="34" charset="0"/>
            </a:endParaRPr>
          </a:p>
        </p:txBody>
      </p:sp>
      <p:sp>
        <p:nvSpPr>
          <p:cNvPr id="13" name="Text 7"/>
          <p:cNvSpPr/>
          <p:nvPr/>
        </p:nvSpPr>
        <p:spPr>
          <a:xfrm>
            <a:off x="492262" y="4385050"/>
            <a:ext cx="4943684" cy="707224"/>
          </a:xfrm>
          <a:prstGeom prst="rect">
            <a:avLst/>
          </a:prstGeom>
          <a:noFill/>
          <a:ln/>
        </p:spPr>
        <p:txBody>
          <a:bodyPr wrap="square" lIns="0" tIns="0" rIns="0" bIns="0" rtlCol="0" anchor="t">
            <a:norm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Making charges contribute significantly to profit. Discount analysis reveals opportunities to optimise pricing policies across product categories.</a:t>
            </a:r>
            <a:endParaRPr lang="en-US" sz="120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9095" y="146178"/>
            <a:ext cx="5366221" cy="346546"/>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Customer Intelligence Dashboard</a:t>
            </a:r>
            <a:endParaRPr lang="en-US" sz="3200" dirty="0">
              <a:latin typeface="Arial" panose="020B0604020202020204" pitchFamily="34" charset="0"/>
            </a:endParaRPr>
          </a:p>
        </p:txBody>
      </p:sp>
      <p:sp>
        <p:nvSpPr>
          <p:cNvPr id="3" name="Text 1"/>
          <p:cNvSpPr/>
          <p:nvPr/>
        </p:nvSpPr>
        <p:spPr>
          <a:xfrm>
            <a:off x="499095" y="713704"/>
            <a:ext cx="8145810" cy="697930"/>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provides deep insights into customer behaviour through customer segmentation, repeat customer analysis, Customer Lifetime Value, purchase frequency, and cohort analysis — enabling targeted retention strategies.</a:t>
            </a:r>
            <a:endParaRPr lang="en-US" sz="1200" dirty="0">
              <a:latin typeface="Arial" panose="020B0604020202020204" pitchFamily="34" charset="0"/>
            </a:endParaRPr>
          </a:p>
        </p:txBody>
      </p:sp>
      <p:sp>
        <p:nvSpPr>
          <p:cNvPr id="4" name="Text 2"/>
          <p:cNvSpPr/>
          <p:nvPr/>
        </p:nvSpPr>
        <p:spPr>
          <a:xfrm>
            <a:off x="1732806" y="2239640"/>
            <a:ext cx="1534641" cy="311944"/>
          </a:xfrm>
          <a:prstGeom prst="rect">
            <a:avLst/>
          </a:prstGeom>
          <a:noFill/>
          <a:ln/>
        </p:spPr>
        <p:txBody>
          <a:bodyPr wrap="none" lIns="0" tIns="0" rIns="0" bIns="0" rtlCol="0" anchor="t"/>
          <a:lstStyle/>
          <a:p>
            <a:pPr marL="0" indent="0" algn="ctr">
              <a:lnSpc>
                <a:spcPct val="83000"/>
              </a:lnSpc>
              <a:buNone/>
            </a:pPr>
            <a:r>
              <a:rPr lang="en-US" sz="4400" b="1" dirty="0">
                <a:solidFill>
                  <a:srgbClr val="D7D4CC"/>
                </a:solidFill>
                <a:latin typeface="Arial" panose="020B0604020202020204" pitchFamily="34" charset="0"/>
                <a:ea typeface="Calibri" panose="020F0502020204030204" pitchFamily="34" charset="0"/>
                <a:cs typeface="Arial" panose="020B0604020202020204" pitchFamily="34" charset="0"/>
              </a:rPr>
              <a:t>84%</a:t>
            </a:r>
            <a:endParaRPr lang="en-US" sz="4400" dirty="0">
              <a:latin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1670462" y="1618878"/>
            <a:ext cx="1521693" cy="1521693"/>
          </a:xfrm>
          <a:prstGeom prst="rect">
            <a:avLst/>
          </a:prstGeom>
        </p:spPr>
      </p:pic>
      <p:sp>
        <p:nvSpPr>
          <p:cNvPr id="6" name="Text 3"/>
          <p:cNvSpPr/>
          <p:nvPr/>
        </p:nvSpPr>
        <p:spPr>
          <a:xfrm>
            <a:off x="1745754" y="3417055"/>
            <a:ext cx="1521693" cy="173236"/>
          </a:xfrm>
          <a:prstGeom prst="rect">
            <a:avLst/>
          </a:prstGeom>
          <a:noFill/>
          <a:ln/>
        </p:spPr>
        <p:txBody>
          <a:bodyPr wrap="none" lIns="0" tIns="0" rIns="0" bIns="0" rtlCol="0" anchor="t"/>
          <a:lstStyle/>
          <a:p>
            <a:pPr marL="0" indent="0" algn="ctr">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One-Time Customers</a:t>
            </a:r>
            <a:endParaRPr lang="en-US" dirty="0">
              <a:latin typeface="Arial" panose="020B0604020202020204" pitchFamily="34" charset="0"/>
            </a:endParaRPr>
          </a:p>
        </p:txBody>
      </p:sp>
      <p:sp>
        <p:nvSpPr>
          <p:cNvPr id="7" name="Text 4"/>
          <p:cNvSpPr/>
          <p:nvPr/>
        </p:nvSpPr>
        <p:spPr>
          <a:xfrm>
            <a:off x="316214" y="3698806"/>
            <a:ext cx="4316745" cy="697934"/>
          </a:xfrm>
          <a:prstGeom prst="rect">
            <a:avLst/>
          </a:prstGeom>
          <a:noFill/>
          <a:ln/>
        </p:spPr>
        <p:txBody>
          <a:bodyPr wrap="square" lIns="0" tIns="0" rIns="0" bIns="0" rtlCol="0" anchor="t">
            <a:noAutofit/>
          </a:bodyPr>
          <a:lstStyle/>
          <a:p>
            <a:pPr marL="0" indent="0" algn="ctr">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vast majority of the customer base are one-time buyers, representing a significant retention opportunity</a:t>
            </a:r>
            <a:endParaRPr lang="en-US" sz="1400" dirty="0">
              <a:latin typeface="Arial" panose="020B0604020202020204" pitchFamily="34" charset="0"/>
            </a:endParaRPr>
          </a:p>
        </p:txBody>
      </p:sp>
      <p:sp>
        <p:nvSpPr>
          <p:cNvPr id="8" name="Text 5"/>
          <p:cNvSpPr/>
          <p:nvPr/>
        </p:nvSpPr>
        <p:spPr>
          <a:xfrm>
            <a:off x="5876330" y="2239640"/>
            <a:ext cx="1534641" cy="311944"/>
          </a:xfrm>
          <a:prstGeom prst="rect">
            <a:avLst/>
          </a:prstGeom>
          <a:noFill/>
          <a:ln/>
        </p:spPr>
        <p:txBody>
          <a:bodyPr wrap="none" lIns="0" tIns="0" rIns="0" bIns="0" rtlCol="0" anchor="t"/>
          <a:lstStyle/>
          <a:p>
            <a:pPr marL="0" indent="0" algn="ctr">
              <a:lnSpc>
                <a:spcPct val="83000"/>
              </a:lnSpc>
              <a:buNone/>
            </a:pPr>
            <a:r>
              <a:rPr lang="en-US" sz="4400" b="1" dirty="0">
                <a:solidFill>
                  <a:srgbClr val="D7D4CC"/>
                </a:solidFill>
                <a:latin typeface="Arial" panose="020B0604020202020204" pitchFamily="34" charset="0"/>
                <a:ea typeface="Calibri" panose="020F0502020204030204" pitchFamily="34" charset="0"/>
                <a:cs typeface="Arial" panose="020B0604020202020204" pitchFamily="34" charset="0"/>
              </a:rPr>
              <a:t>16%</a:t>
            </a:r>
            <a:endParaRPr lang="en-US" sz="4400" dirty="0">
              <a:latin typeface="Arial" panose="020B0604020202020204" pitchFamily="34" charset="0"/>
            </a:endParaRPr>
          </a:p>
        </p:txBody>
      </p:sp>
      <p:pic>
        <p:nvPicPr>
          <p:cNvPr id="9" name="Image 1" descr="preencoded.png"/>
          <p:cNvPicPr>
            <a:picLocks noChangeAspect="1"/>
          </p:cNvPicPr>
          <p:nvPr/>
        </p:nvPicPr>
        <p:blipFill>
          <a:blip r:embed="rId4"/>
          <a:stretch>
            <a:fillRect/>
          </a:stretch>
        </p:blipFill>
        <p:spPr>
          <a:xfrm>
            <a:off x="5950595" y="1742570"/>
            <a:ext cx="1460376" cy="1460376"/>
          </a:xfrm>
          <a:prstGeom prst="rect">
            <a:avLst/>
          </a:prstGeom>
        </p:spPr>
      </p:pic>
      <p:sp>
        <p:nvSpPr>
          <p:cNvPr id="10" name="Text 6"/>
          <p:cNvSpPr/>
          <p:nvPr/>
        </p:nvSpPr>
        <p:spPr>
          <a:xfrm>
            <a:off x="5950595" y="3475658"/>
            <a:ext cx="1386334" cy="173236"/>
          </a:xfrm>
          <a:prstGeom prst="rect">
            <a:avLst/>
          </a:prstGeom>
          <a:noFill/>
          <a:ln/>
        </p:spPr>
        <p:txBody>
          <a:bodyPr wrap="none" lIns="0" tIns="0" rIns="0" bIns="0" rtlCol="0" anchor="t"/>
          <a:lstStyle/>
          <a:p>
            <a:pPr marL="0" indent="0" algn="ctr">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Repeat Customers</a:t>
            </a:r>
            <a:endParaRPr lang="en-US" dirty="0">
              <a:latin typeface="Arial" panose="020B0604020202020204" pitchFamily="34" charset="0"/>
            </a:endParaRPr>
          </a:p>
        </p:txBody>
      </p:sp>
      <p:sp>
        <p:nvSpPr>
          <p:cNvPr id="11" name="Text 7"/>
          <p:cNvSpPr/>
          <p:nvPr/>
        </p:nvSpPr>
        <p:spPr>
          <a:xfrm>
            <a:off x="4985519" y="3706648"/>
            <a:ext cx="4002286" cy="570830"/>
          </a:xfrm>
          <a:prstGeom prst="rect">
            <a:avLst/>
          </a:prstGeom>
          <a:noFill/>
          <a:ln/>
        </p:spPr>
        <p:txBody>
          <a:bodyPr wrap="square" lIns="0" tIns="0" rIns="0" bIns="0" rtlCol="0" anchor="t">
            <a:noAutofit/>
          </a:bodyPr>
          <a:lstStyle/>
          <a:p>
            <a:pPr marL="0" indent="0" algn="ctr">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Repeat customers generate much higher revenue per person compared to one-time buyers</a:t>
            </a:r>
            <a:endParaRPr lang="en-US" sz="1400" dirty="0">
              <a:latin typeface="Arial" panose="020B0604020202020204" pitchFamily="34" charset="0"/>
            </a:endParaRPr>
          </a:p>
        </p:txBody>
      </p:sp>
      <p:sp>
        <p:nvSpPr>
          <p:cNvPr id="12" name="Text 8"/>
          <p:cNvSpPr/>
          <p:nvPr/>
        </p:nvSpPr>
        <p:spPr>
          <a:xfrm>
            <a:off x="499095" y="4396740"/>
            <a:ext cx="8145810" cy="683917"/>
          </a:xfrm>
          <a:prstGeom prst="rect">
            <a:avLst/>
          </a:prstGeom>
          <a:noFill/>
          <a:ln/>
        </p:spPr>
        <p:txBody>
          <a:bodyPr wrap="square" lIns="0" tIns="0" rIns="0" bIns="0" rtlCol="0" anchor="t">
            <a:normAutofit fontScale="92500" lnSpcReduction="10000"/>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Loyalty initiatives could significantly improve retention and increase overall revenue. Customer Lifetime Value and purchase frequency analysis further highlight the potential value of converting one-time buyers into repeat customers through targeted engagement programmes.</a:t>
            </a:r>
            <a:endParaRPr lang="en-US" sz="1400" dirty="0">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540845" y="180119"/>
            <a:ext cx="5686975" cy="563054"/>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Returns &amp; Buy-Back Dashboard</a:t>
            </a:r>
            <a:endParaRPr lang="en-US" sz="2800" dirty="0">
              <a:latin typeface="Arial" panose="020B0604020202020204" pitchFamily="34" charset="0"/>
            </a:endParaRPr>
          </a:p>
        </p:txBody>
      </p:sp>
      <p:sp>
        <p:nvSpPr>
          <p:cNvPr id="4" name="Text 1"/>
          <p:cNvSpPr/>
          <p:nvPr/>
        </p:nvSpPr>
        <p:spPr>
          <a:xfrm>
            <a:off x="3611881" y="743173"/>
            <a:ext cx="5024468" cy="820861"/>
          </a:xfrm>
          <a:prstGeom prst="rect">
            <a:avLst/>
          </a:prstGeom>
          <a:noFill/>
          <a:ln/>
        </p:spPr>
        <p:txBody>
          <a:bodyPr wrap="square" lIns="0" tIns="0" rIns="0" bIns="0" rtlCol="0" anchor="t">
            <a:noAutofit/>
          </a:bodyPr>
          <a:lstStyle/>
          <a:p>
            <a:pPr marL="0" indent="0" algn="l">
              <a:lnSpc>
                <a:spcPct val="12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Tracks return trends, returns by branch, returns by product, and old gold buy-back analysis — providing a comprehensive view of product returns and buy-back activity across the business.</a:t>
            </a:r>
            <a:endParaRPr lang="en-US" sz="1400" dirty="0">
              <a:latin typeface="Arial" panose="020B060402020202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2365" y="1601242"/>
            <a:ext cx="4713982" cy="918939"/>
          </a:xfrm>
          <a:prstGeom prst="rect">
            <a:avLst/>
          </a:prstGeom>
        </p:spPr>
      </p:pic>
      <p:sp>
        <p:nvSpPr>
          <p:cNvPr id="6" name="Text 2"/>
          <p:cNvSpPr/>
          <p:nvPr/>
        </p:nvSpPr>
        <p:spPr>
          <a:xfrm>
            <a:off x="4120678" y="1681013"/>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Rate</a:t>
            </a:r>
            <a:endParaRPr lang="en-US" dirty="0">
              <a:latin typeface="Arial" panose="020B0604020202020204" pitchFamily="34" charset="0"/>
            </a:endParaRPr>
          </a:p>
        </p:txBody>
      </p:sp>
      <p:sp>
        <p:nvSpPr>
          <p:cNvPr id="7" name="Text 3"/>
          <p:cNvSpPr/>
          <p:nvPr/>
        </p:nvSpPr>
        <p:spPr>
          <a:xfrm>
            <a:off x="4120679" y="1927398"/>
            <a:ext cx="4374505" cy="451619"/>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rate is around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1.7%</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 relatively low overall, though some branches have higher return rates that warrant investigation</a:t>
            </a:r>
            <a:endParaRPr lang="en-US" sz="1200" dirty="0">
              <a:latin typeface="Arial" panose="020B060402020202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2365" y="2637160"/>
            <a:ext cx="4713982" cy="918939"/>
          </a:xfrm>
          <a:prstGeom prst="rect">
            <a:avLst/>
          </a:prstGeom>
        </p:spPr>
      </p:pic>
      <p:sp>
        <p:nvSpPr>
          <p:cNvPr id="9" name="Text 4"/>
          <p:cNvSpPr/>
          <p:nvPr/>
        </p:nvSpPr>
        <p:spPr>
          <a:xfrm>
            <a:off x="4120679" y="2778323"/>
            <a:ext cx="2053233"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by Branch &amp; Product</a:t>
            </a:r>
            <a:endParaRPr lang="en-US" dirty="0">
              <a:latin typeface="Arial" panose="020B0604020202020204" pitchFamily="34" charset="0"/>
            </a:endParaRPr>
          </a:p>
        </p:txBody>
      </p:sp>
      <p:sp>
        <p:nvSpPr>
          <p:cNvPr id="10" name="Text 5"/>
          <p:cNvSpPr/>
          <p:nvPr/>
        </p:nvSpPr>
        <p:spPr>
          <a:xfrm>
            <a:off x="4120679" y="3024708"/>
            <a:ext cx="4374505" cy="390227"/>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trends vary by branch and product type, enabling identification of areas requiring attention or process improvement</a:t>
            </a:r>
            <a:endParaRPr lang="en-US" sz="1200" dirty="0">
              <a:latin typeface="Arial" panose="020B060402020202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2365" y="3673078"/>
            <a:ext cx="4713982" cy="1114053"/>
          </a:xfrm>
          <a:prstGeom prst="rect">
            <a:avLst/>
          </a:prstGeom>
        </p:spPr>
      </p:pic>
      <p:sp>
        <p:nvSpPr>
          <p:cNvPr id="12" name="Text 6"/>
          <p:cNvSpPr/>
          <p:nvPr/>
        </p:nvSpPr>
        <p:spPr>
          <a:xfrm>
            <a:off x="4120679" y="3814242"/>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Old Gold Buy-Back</a:t>
            </a:r>
            <a:endParaRPr lang="en-US" dirty="0">
              <a:latin typeface="Arial" panose="020B0604020202020204" pitchFamily="34" charset="0"/>
            </a:endParaRPr>
          </a:p>
        </p:txBody>
      </p:sp>
      <p:sp>
        <p:nvSpPr>
          <p:cNvPr id="13" name="Text 7"/>
          <p:cNvSpPr/>
          <p:nvPr/>
        </p:nvSpPr>
        <p:spPr>
          <a:xfrm>
            <a:off x="4120679" y="4060627"/>
            <a:ext cx="4374505" cy="585341"/>
          </a:xfrm>
          <a:prstGeom prst="rect">
            <a:avLst/>
          </a:prstGeom>
          <a:noFill/>
          <a:ln/>
        </p:spPr>
        <p:txBody>
          <a:bodyPr wrap="square" lIns="0" tIns="0" rIns="0" bIns="0" rtlCol="0" anchor="t">
            <a:normAutofit fontScale="92500" lnSpcReduction="10000"/>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Buy-back transactions contribute significantly to business volume. Expanding old gold buy-back campaigns can drive additional business and customer engagement</a:t>
            </a:r>
            <a:endParaRPr lang="en-US" sz="1200"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85477"/>
            <a:ext cx="610507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Payment &amp; Salesperson Dashboard</a:t>
            </a:r>
            <a:endParaRPr lang="en-US" sz="3200" dirty="0">
              <a:latin typeface="Arial" panose="020B0604020202020204" pitchFamily="34" charset="0"/>
            </a:endParaRPr>
          </a:p>
        </p:txBody>
      </p:sp>
      <p:sp>
        <p:nvSpPr>
          <p:cNvPr id="3" name="Text 1"/>
          <p:cNvSpPr/>
          <p:nvPr/>
        </p:nvSpPr>
        <p:spPr>
          <a:xfrm>
            <a:off x="550664" y="1143298"/>
            <a:ext cx="8008888" cy="746462"/>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analyses payment mode distribution, salesperson ranking, discount analysis, and branch payment trends — offering insights into how customers pay and which salespersons drive the most value.</a:t>
            </a:r>
            <a:endParaRPr lang="en-US" sz="1600" dirty="0">
              <a:latin typeface="Arial" panose="020B0604020202020204" pitchFamily="34" charset="0"/>
            </a:endParaRPr>
          </a:p>
        </p:txBody>
      </p:sp>
      <p:sp>
        <p:nvSpPr>
          <p:cNvPr id="4" name="Text 2"/>
          <p:cNvSpPr/>
          <p:nvPr/>
        </p:nvSpPr>
        <p:spPr>
          <a:xfrm>
            <a:off x="446782" y="2392428"/>
            <a:ext cx="2642146" cy="191244"/>
          </a:xfrm>
          <a:prstGeom prst="rect">
            <a:avLst/>
          </a:prstGeom>
          <a:noFill/>
          <a:ln/>
        </p:spPr>
        <p:txBody>
          <a:bodyPr wrap="none" lIns="0" tIns="0" rIns="0" bIns="0" rtlCol="0" anchor="t"/>
          <a:lstStyle/>
          <a:p>
            <a:pPr marL="0" indent="0" algn="l">
              <a:lnSpc>
                <a:spcPct val="104000"/>
              </a:lnSpc>
              <a:buNone/>
            </a:pPr>
            <a:r>
              <a:rPr lang="en-US" b="1" dirty="0">
                <a:solidFill>
                  <a:srgbClr val="FFE14D"/>
                </a:solidFill>
                <a:latin typeface="Arial" panose="020B0604020202020204" pitchFamily="34" charset="0"/>
                <a:ea typeface="Calibri" panose="020F0502020204030204" pitchFamily="34" charset="0"/>
                <a:cs typeface="Arial" panose="020B0604020202020204" pitchFamily="34" charset="0"/>
              </a:rPr>
              <a:t>Payment Mode Distribution</a:t>
            </a:r>
            <a:endParaRPr lang="en-US" dirty="0">
              <a:latin typeface="Arial" panose="020B0604020202020204" pitchFamily="34" charset="0"/>
            </a:endParaRPr>
          </a:p>
        </p:txBody>
      </p:sp>
      <p:sp>
        <p:nvSpPr>
          <p:cNvPr id="5" name="Text 3"/>
          <p:cNvSpPr/>
          <p:nvPr/>
        </p:nvSpPr>
        <p:spPr>
          <a:xfrm>
            <a:off x="446782" y="2788920"/>
            <a:ext cx="3853383" cy="1319215"/>
          </a:xfrm>
          <a:prstGeom prst="rect">
            <a:avLst/>
          </a:prstGeom>
          <a:noFill/>
          <a:ln/>
        </p:spPr>
        <p:txBody>
          <a:bodyPr wrap="square" lIns="0" tIns="0" rIns="0" bIns="0" rtlCol="0" anchor="t">
            <a:normAutofit lnSpcReduction="10000"/>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Cash is the most preferred payment method across all branches. However, payment preferences differ across branches, suggesting opportunities to encourage digital payment adoption in specific locations.</a:t>
            </a:r>
            <a:endParaRPr lang="en-US" sz="1400" dirty="0">
              <a:latin typeface="Arial" panose="020B0604020202020204" pitchFamily="34" charset="0"/>
            </a:endParaRPr>
          </a:p>
        </p:txBody>
      </p:sp>
      <p:sp>
        <p:nvSpPr>
          <p:cNvPr id="6" name="Shape 4"/>
          <p:cNvSpPr/>
          <p:nvPr/>
        </p:nvSpPr>
        <p:spPr>
          <a:xfrm>
            <a:off x="4645596" y="2026920"/>
            <a:ext cx="4178364" cy="2156460"/>
          </a:xfrm>
          <a:prstGeom prst="roundRect">
            <a:avLst>
              <a:gd name="adj" fmla="val 22456"/>
            </a:avLst>
          </a:prstGeom>
          <a:solidFill>
            <a:srgbClr val="FFE14D"/>
          </a:solidFill>
          <a:ln/>
        </p:spPr>
      </p:sp>
      <p:sp>
        <p:nvSpPr>
          <p:cNvPr id="7" name="Text 5"/>
          <p:cNvSpPr/>
          <p:nvPr/>
        </p:nvSpPr>
        <p:spPr>
          <a:xfrm>
            <a:off x="4859462" y="2164841"/>
            <a:ext cx="2527027" cy="191244"/>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rPr>
              <a:t>Salesperson Performance</a:t>
            </a:r>
            <a:endParaRPr lang="en-US" dirty="0">
              <a:latin typeface="Arial" panose="020B0604020202020204" pitchFamily="34" charset="0"/>
            </a:endParaRPr>
          </a:p>
        </p:txBody>
      </p:sp>
      <p:sp>
        <p:nvSpPr>
          <p:cNvPr id="8" name="Text 6"/>
          <p:cNvSpPr/>
          <p:nvPr/>
        </p:nvSpPr>
        <p:spPr>
          <a:xfrm>
            <a:off x="4783262" y="2493245"/>
            <a:ext cx="3776290" cy="1506957"/>
          </a:xfrm>
          <a:prstGeom prst="rect">
            <a:avLst/>
          </a:prstGeom>
          <a:noFill/>
          <a:ln/>
        </p:spPr>
        <p:txBody>
          <a:bodyPr wrap="square" lIns="0" tIns="0" rIns="0" bIns="0" rtlCol="0" anchor="t">
            <a:normAutofit/>
          </a:bodyPr>
          <a:lstStyle/>
          <a:p>
            <a:pPr marL="0" indent="0" algn="just">
              <a:lnSpc>
                <a:spcPct val="133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Top-performing salespersons consistently outperform their peers, highlighting significant performance differences. KPI-based salesperson incentives could help raise overall performance across the team.</a:t>
            </a:r>
            <a:endParaRPr lang="en-US" sz="1400" dirty="0">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0463" y="356295"/>
            <a:ext cx="3488010" cy="340593"/>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Key Business Insights</a:t>
            </a:r>
            <a:endParaRPr lang="en-US" sz="3200" dirty="0">
              <a:latin typeface="Arial" panose="020B0604020202020204" pitchFamily="34" charset="0"/>
            </a:endParaRPr>
          </a:p>
        </p:txBody>
      </p:sp>
      <p:sp>
        <p:nvSpPr>
          <p:cNvPr id="3" name="Shape 1"/>
          <p:cNvSpPr/>
          <p:nvPr/>
        </p:nvSpPr>
        <p:spPr>
          <a:xfrm>
            <a:off x="490463" y="915293"/>
            <a:ext cx="275853" cy="275853"/>
          </a:xfrm>
          <a:prstGeom prst="roundRect">
            <a:avLst>
              <a:gd name="adj" fmla="val 66680"/>
            </a:avLst>
          </a:prstGeom>
          <a:solidFill>
            <a:srgbClr val="46464A"/>
          </a:solidFill>
          <a:ln/>
        </p:spPr>
      </p:sp>
      <p:sp>
        <p:nvSpPr>
          <p:cNvPr id="4" name="Text 2"/>
          <p:cNvSpPr/>
          <p:nvPr/>
        </p:nvSpPr>
        <p:spPr>
          <a:xfrm>
            <a:off x="546608" y="951012"/>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1</a:t>
            </a:r>
            <a:endParaRPr lang="en-US" sz="2000" dirty="0">
              <a:latin typeface="Arial" panose="020B0604020202020204" pitchFamily="34" charset="0"/>
            </a:endParaRPr>
          </a:p>
        </p:txBody>
      </p:sp>
      <p:sp>
        <p:nvSpPr>
          <p:cNvPr id="5" name="Text 3"/>
          <p:cNvSpPr/>
          <p:nvPr/>
        </p:nvSpPr>
        <p:spPr>
          <a:xfrm>
            <a:off x="875481" y="957411"/>
            <a:ext cx="174597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22K Jewellery Dominates</a:t>
            </a:r>
            <a:endParaRPr lang="en-US" sz="1600" dirty="0">
              <a:latin typeface="Arial" panose="020B0604020202020204" pitchFamily="34" charset="0"/>
            </a:endParaRPr>
          </a:p>
        </p:txBody>
      </p:sp>
      <p:sp>
        <p:nvSpPr>
          <p:cNvPr id="6" name="Text 4"/>
          <p:cNvSpPr/>
          <p:nvPr/>
        </p:nvSpPr>
        <p:spPr>
          <a:xfrm>
            <a:off x="875481" y="1193155"/>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22K jewellery contributes the highest revenue across all product categories</a:t>
            </a:r>
            <a:endParaRPr lang="en-US" sz="1200" dirty="0">
              <a:latin typeface="Arial" panose="020B0604020202020204" pitchFamily="34" charset="0"/>
            </a:endParaRPr>
          </a:p>
        </p:txBody>
      </p:sp>
      <p:sp>
        <p:nvSpPr>
          <p:cNvPr id="7" name="Shape 5"/>
          <p:cNvSpPr/>
          <p:nvPr/>
        </p:nvSpPr>
        <p:spPr>
          <a:xfrm>
            <a:off x="490463" y="1597000"/>
            <a:ext cx="275853" cy="275853"/>
          </a:xfrm>
          <a:prstGeom prst="roundRect">
            <a:avLst>
              <a:gd name="adj" fmla="val 66680"/>
            </a:avLst>
          </a:prstGeom>
          <a:solidFill>
            <a:srgbClr val="46464A"/>
          </a:solidFill>
          <a:ln/>
        </p:spPr>
      </p:sp>
      <p:sp>
        <p:nvSpPr>
          <p:cNvPr id="8" name="Text 6"/>
          <p:cNvSpPr/>
          <p:nvPr/>
        </p:nvSpPr>
        <p:spPr>
          <a:xfrm>
            <a:off x="546608" y="1632719"/>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2</a:t>
            </a:r>
            <a:endParaRPr lang="en-US" sz="2000" dirty="0">
              <a:latin typeface="Arial" panose="020B0604020202020204" pitchFamily="34" charset="0"/>
            </a:endParaRPr>
          </a:p>
        </p:txBody>
      </p:sp>
      <p:sp>
        <p:nvSpPr>
          <p:cNvPr id="9" name="Text 7"/>
          <p:cNvSpPr/>
          <p:nvPr/>
        </p:nvSpPr>
        <p:spPr>
          <a:xfrm>
            <a:off x="875481" y="1639119"/>
            <a:ext cx="1590973"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Concentration</a:t>
            </a:r>
            <a:endParaRPr lang="en-US" sz="1600" dirty="0">
              <a:latin typeface="Arial" panose="020B0604020202020204" pitchFamily="34" charset="0"/>
            </a:endParaRPr>
          </a:p>
        </p:txBody>
      </p:sp>
      <p:sp>
        <p:nvSpPr>
          <p:cNvPr id="10" name="Text 8"/>
          <p:cNvSpPr/>
          <p:nvPr/>
        </p:nvSpPr>
        <p:spPr>
          <a:xfrm>
            <a:off x="875481" y="1874862"/>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Revenue is concentrated in a few branches; significant performance differences exist across the network</a:t>
            </a:r>
            <a:endParaRPr lang="en-US" sz="1200" dirty="0">
              <a:latin typeface="Arial" panose="020B0604020202020204" pitchFamily="34" charset="0"/>
            </a:endParaRPr>
          </a:p>
        </p:txBody>
      </p:sp>
      <p:sp>
        <p:nvSpPr>
          <p:cNvPr id="11" name="Shape 9"/>
          <p:cNvSpPr/>
          <p:nvPr/>
        </p:nvSpPr>
        <p:spPr>
          <a:xfrm>
            <a:off x="490463" y="2278707"/>
            <a:ext cx="275853" cy="275853"/>
          </a:xfrm>
          <a:prstGeom prst="roundRect">
            <a:avLst>
              <a:gd name="adj" fmla="val 66680"/>
            </a:avLst>
          </a:prstGeom>
          <a:solidFill>
            <a:srgbClr val="46464A"/>
          </a:solidFill>
          <a:ln/>
        </p:spPr>
      </p:sp>
      <p:sp>
        <p:nvSpPr>
          <p:cNvPr id="12" name="Text 10"/>
          <p:cNvSpPr/>
          <p:nvPr/>
        </p:nvSpPr>
        <p:spPr>
          <a:xfrm>
            <a:off x="546608" y="2314426"/>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3</a:t>
            </a:r>
            <a:endParaRPr lang="en-US" sz="2000" dirty="0">
              <a:latin typeface="Arial" panose="020B0604020202020204" pitchFamily="34" charset="0"/>
            </a:endParaRPr>
          </a:p>
        </p:txBody>
      </p:sp>
      <p:sp>
        <p:nvSpPr>
          <p:cNvPr id="13" name="Text 11"/>
          <p:cNvSpPr/>
          <p:nvPr/>
        </p:nvSpPr>
        <p:spPr>
          <a:xfrm>
            <a:off x="875481" y="2320826"/>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Top Products</a:t>
            </a:r>
            <a:endParaRPr lang="en-US" sz="1600" dirty="0">
              <a:latin typeface="Arial" panose="020B0604020202020204" pitchFamily="34" charset="0"/>
            </a:endParaRPr>
          </a:p>
        </p:txBody>
      </p:sp>
      <p:sp>
        <p:nvSpPr>
          <p:cNvPr id="14" name="Text 12"/>
          <p:cNvSpPr/>
          <p:nvPr/>
        </p:nvSpPr>
        <p:spPr>
          <a:xfrm>
            <a:off x="875481" y="2556570"/>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Bars and Chains are the top-selling products by revenue</a:t>
            </a:r>
            <a:endParaRPr lang="en-US" sz="1200" dirty="0">
              <a:latin typeface="Arial" panose="020B0604020202020204" pitchFamily="34" charset="0"/>
            </a:endParaRPr>
          </a:p>
        </p:txBody>
      </p:sp>
      <p:sp>
        <p:nvSpPr>
          <p:cNvPr id="15" name="Shape 13"/>
          <p:cNvSpPr/>
          <p:nvPr/>
        </p:nvSpPr>
        <p:spPr>
          <a:xfrm>
            <a:off x="490463" y="2960415"/>
            <a:ext cx="275853" cy="275853"/>
          </a:xfrm>
          <a:prstGeom prst="roundRect">
            <a:avLst>
              <a:gd name="adj" fmla="val 66680"/>
            </a:avLst>
          </a:prstGeom>
          <a:solidFill>
            <a:srgbClr val="46464A"/>
          </a:solidFill>
          <a:ln/>
        </p:spPr>
      </p:sp>
      <p:sp>
        <p:nvSpPr>
          <p:cNvPr id="16" name="Text 14"/>
          <p:cNvSpPr/>
          <p:nvPr/>
        </p:nvSpPr>
        <p:spPr>
          <a:xfrm>
            <a:off x="546608" y="2996133"/>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4</a:t>
            </a:r>
            <a:endParaRPr lang="en-US" sz="2000" dirty="0">
              <a:latin typeface="Arial" panose="020B0604020202020204" pitchFamily="34" charset="0"/>
            </a:endParaRPr>
          </a:p>
        </p:txBody>
      </p:sp>
      <p:sp>
        <p:nvSpPr>
          <p:cNvPr id="17" name="Text 15"/>
          <p:cNvSpPr/>
          <p:nvPr/>
        </p:nvSpPr>
        <p:spPr>
          <a:xfrm>
            <a:off x="875481" y="3002533"/>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Base</a:t>
            </a:r>
            <a:endParaRPr lang="en-US" sz="1600" dirty="0">
              <a:latin typeface="Arial" panose="020B0604020202020204" pitchFamily="34" charset="0"/>
            </a:endParaRPr>
          </a:p>
        </p:txBody>
      </p:sp>
      <p:sp>
        <p:nvSpPr>
          <p:cNvPr id="18" name="Text 16"/>
          <p:cNvSpPr/>
          <p:nvPr/>
        </p:nvSpPr>
        <p:spPr>
          <a:xfrm>
            <a:off x="875481" y="3238277"/>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One-time customers form the majority of the customer base — a key retention opportunity</a:t>
            </a:r>
            <a:endParaRPr lang="en-US" sz="1200" dirty="0">
              <a:latin typeface="Arial" panose="020B0604020202020204" pitchFamily="34" charset="0"/>
            </a:endParaRPr>
          </a:p>
        </p:txBody>
      </p:sp>
      <p:sp>
        <p:nvSpPr>
          <p:cNvPr id="19" name="Shape 17"/>
          <p:cNvSpPr/>
          <p:nvPr/>
        </p:nvSpPr>
        <p:spPr>
          <a:xfrm>
            <a:off x="490463" y="3642122"/>
            <a:ext cx="275853" cy="275853"/>
          </a:xfrm>
          <a:prstGeom prst="roundRect">
            <a:avLst>
              <a:gd name="adj" fmla="val 66680"/>
            </a:avLst>
          </a:prstGeom>
          <a:solidFill>
            <a:srgbClr val="46464A"/>
          </a:solidFill>
          <a:ln/>
        </p:spPr>
      </p:sp>
      <p:sp>
        <p:nvSpPr>
          <p:cNvPr id="20" name="Text 18"/>
          <p:cNvSpPr/>
          <p:nvPr/>
        </p:nvSpPr>
        <p:spPr>
          <a:xfrm>
            <a:off x="546608" y="3677841"/>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5</a:t>
            </a:r>
            <a:endParaRPr lang="en-US" sz="2000" dirty="0">
              <a:latin typeface="Arial" panose="020B0604020202020204" pitchFamily="34" charset="0"/>
            </a:endParaRPr>
          </a:p>
        </p:txBody>
      </p:sp>
      <p:sp>
        <p:nvSpPr>
          <p:cNvPr id="21" name="Text 19"/>
          <p:cNvSpPr/>
          <p:nvPr/>
        </p:nvSpPr>
        <p:spPr>
          <a:xfrm>
            <a:off x="875481" y="3684240"/>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Cash Dominance</a:t>
            </a:r>
            <a:endParaRPr lang="en-US" sz="1600" dirty="0">
              <a:latin typeface="Arial" panose="020B0604020202020204" pitchFamily="34" charset="0"/>
            </a:endParaRPr>
          </a:p>
        </p:txBody>
      </p:sp>
      <p:sp>
        <p:nvSpPr>
          <p:cNvPr id="22" name="Text 20"/>
          <p:cNvSpPr/>
          <p:nvPr/>
        </p:nvSpPr>
        <p:spPr>
          <a:xfrm>
            <a:off x="875481" y="3919984"/>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Cash remains the dominant payment method, though digital adoption is an opportunity</a:t>
            </a:r>
            <a:endParaRPr lang="en-US" sz="1200" dirty="0">
              <a:latin typeface="Arial" panose="020B0604020202020204" pitchFamily="34" charset="0"/>
            </a:endParaRPr>
          </a:p>
        </p:txBody>
      </p:sp>
      <p:sp>
        <p:nvSpPr>
          <p:cNvPr id="23" name="Shape 21"/>
          <p:cNvSpPr/>
          <p:nvPr/>
        </p:nvSpPr>
        <p:spPr>
          <a:xfrm>
            <a:off x="490463" y="4323829"/>
            <a:ext cx="275853" cy="275853"/>
          </a:xfrm>
          <a:prstGeom prst="roundRect">
            <a:avLst>
              <a:gd name="adj" fmla="val 66680"/>
            </a:avLst>
          </a:prstGeom>
          <a:solidFill>
            <a:srgbClr val="46464A"/>
          </a:solidFill>
          <a:ln/>
        </p:spPr>
      </p:sp>
      <p:sp>
        <p:nvSpPr>
          <p:cNvPr id="24" name="Text 22"/>
          <p:cNvSpPr/>
          <p:nvPr/>
        </p:nvSpPr>
        <p:spPr>
          <a:xfrm>
            <a:off x="546608" y="4359548"/>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sz="2000" dirty="0">
              <a:latin typeface="Arial" panose="020B0604020202020204" pitchFamily="34" charset="0"/>
            </a:endParaRPr>
          </a:p>
        </p:txBody>
      </p:sp>
      <p:sp>
        <p:nvSpPr>
          <p:cNvPr id="25" name="Text 23"/>
          <p:cNvSpPr/>
          <p:nvPr/>
        </p:nvSpPr>
        <p:spPr>
          <a:xfrm>
            <a:off x="875481" y="4365947"/>
            <a:ext cx="2266280"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Buy-Back &amp; Salesperson Impact</a:t>
            </a:r>
            <a:endParaRPr lang="en-US" sz="1600" dirty="0">
              <a:latin typeface="Arial" panose="020B0604020202020204" pitchFamily="34" charset="0"/>
            </a:endParaRPr>
          </a:p>
        </p:txBody>
      </p:sp>
      <p:sp>
        <p:nvSpPr>
          <p:cNvPr id="26" name="Text 24"/>
          <p:cNvSpPr/>
          <p:nvPr/>
        </p:nvSpPr>
        <p:spPr>
          <a:xfrm>
            <a:off x="875481" y="4601691"/>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Buy-back programmes drive additional business volume, and significant performance differences exist among salespersons</a:t>
            </a:r>
            <a:endParaRPr lang="en-US" sz="1200" dirty="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78" y="-15524"/>
            <a:ext cx="4086225" cy="31075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Business Recommendations</a:t>
            </a:r>
            <a:endParaRPr lang="en-US" sz="2800" dirty="0">
              <a:latin typeface="Arial" panose="020B0604020202020204" pitchFamily="34" charset="0"/>
            </a:endParaRPr>
          </a:p>
        </p:txBody>
      </p:sp>
      <p:sp>
        <p:nvSpPr>
          <p:cNvPr id="3" name="Text 1"/>
          <p:cNvSpPr/>
          <p:nvPr/>
        </p:nvSpPr>
        <p:spPr>
          <a:xfrm>
            <a:off x="441960" y="514015"/>
            <a:ext cx="8507968" cy="555623"/>
          </a:xfrm>
          <a:prstGeom prst="rect">
            <a:avLst/>
          </a:prstGeom>
          <a:noFill/>
          <a:ln/>
        </p:spPr>
        <p:txBody>
          <a:bodyPr wrap="none" lIns="0" tIns="0" rIns="0" bIns="0" rtlCol="0" anchor="t"/>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Based on the dashboard insights, the following strategic actions are recommended to drive growth, improve</a:t>
            </a:r>
          </a:p>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retention, and optimize  operations.</a:t>
            </a:r>
            <a:endParaRPr lang="en-US" sz="1400" dirty="0">
              <a:latin typeface="Arial" panose="020B0604020202020204" pitchFamily="34" charset="0"/>
            </a:endParaRPr>
          </a:p>
        </p:txBody>
      </p:sp>
      <p:sp>
        <p:nvSpPr>
          <p:cNvPr id="4" name="Shape 2"/>
          <p:cNvSpPr/>
          <p:nvPr/>
        </p:nvSpPr>
        <p:spPr>
          <a:xfrm>
            <a:off x="564178" y="1083097"/>
            <a:ext cx="2640315" cy="1346299"/>
          </a:xfrm>
          <a:prstGeom prst="roundRect">
            <a:avLst>
              <a:gd name="adj" fmla="val 12464"/>
            </a:avLst>
          </a:prstGeom>
          <a:solidFill>
            <a:srgbClr val="46464A"/>
          </a:solidFill>
          <a:ln/>
        </p:spPr>
      </p:sp>
      <p:sp>
        <p:nvSpPr>
          <p:cNvPr id="5" name="Shape 3"/>
          <p:cNvSpPr/>
          <p:nvPr/>
        </p:nvSpPr>
        <p:spPr>
          <a:xfrm>
            <a:off x="763116" y="1194941"/>
            <a:ext cx="335533" cy="335533"/>
          </a:xfrm>
          <a:prstGeom prst="roundRect">
            <a:avLst>
              <a:gd name="adj" fmla="val 17030899"/>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390" y="1287140"/>
            <a:ext cx="150986" cy="150986"/>
          </a:xfrm>
          <a:prstGeom prst="rect">
            <a:avLst/>
          </a:prstGeom>
        </p:spPr>
      </p:pic>
      <p:sp>
        <p:nvSpPr>
          <p:cNvPr id="7" name="Text 4"/>
          <p:cNvSpPr/>
          <p:nvPr/>
        </p:nvSpPr>
        <p:spPr>
          <a:xfrm>
            <a:off x="1306413" y="1224149"/>
            <a:ext cx="1242938"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Customer Loyalty</a:t>
            </a:r>
            <a:endParaRPr lang="en-US" sz="1400" dirty="0">
              <a:latin typeface="Arial" panose="020B0604020202020204" pitchFamily="34" charset="0"/>
            </a:endParaRPr>
          </a:p>
        </p:txBody>
      </p:sp>
      <p:sp>
        <p:nvSpPr>
          <p:cNvPr id="8" name="Text 5"/>
          <p:cNvSpPr/>
          <p:nvPr/>
        </p:nvSpPr>
        <p:spPr>
          <a:xfrm>
            <a:off x="651273" y="1549971"/>
            <a:ext cx="2441375" cy="767581"/>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Introduce customer loyalty programmes to convert one-time buyers into repeat customers</a:t>
            </a:r>
            <a:endParaRPr lang="en-US" sz="1400" dirty="0">
              <a:latin typeface="Arial" panose="020B0604020202020204" pitchFamily="34" charset="0"/>
            </a:endParaRPr>
          </a:p>
        </p:txBody>
      </p:sp>
      <p:sp>
        <p:nvSpPr>
          <p:cNvPr id="9" name="Shape 6"/>
          <p:cNvSpPr/>
          <p:nvPr/>
        </p:nvSpPr>
        <p:spPr>
          <a:xfrm>
            <a:off x="3295352" y="1072604"/>
            <a:ext cx="2553221" cy="1346299"/>
          </a:xfrm>
          <a:prstGeom prst="roundRect">
            <a:avLst>
              <a:gd name="adj" fmla="val 12464"/>
            </a:avLst>
          </a:prstGeom>
          <a:solidFill>
            <a:srgbClr val="46464A"/>
          </a:solidFill>
          <a:ln/>
        </p:spPr>
      </p:sp>
      <p:sp>
        <p:nvSpPr>
          <p:cNvPr id="10" name="Shape 7"/>
          <p:cNvSpPr/>
          <p:nvPr/>
        </p:nvSpPr>
        <p:spPr>
          <a:xfrm>
            <a:off x="3407197" y="1126361"/>
            <a:ext cx="335533" cy="335533"/>
          </a:xfrm>
          <a:prstGeom prst="roundRect">
            <a:avLst>
              <a:gd name="adj" fmla="val 17030899"/>
            </a:avLst>
          </a:prstGeom>
          <a:solidFill>
            <a:srgbClr val="FFE14D"/>
          </a:solidFill>
          <a:ln/>
        </p:spPr>
        <p:txBody>
          <a:bodyPr/>
          <a:lstStyle/>
          <a:p>
            <a:endParaRPr lang="en-GB" dirty="0">
              <a:latin typeface="Arial" panose="020B0604020202020204" pitchFamily="34" charset="0"/>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9470" y="1218560"/>
            <a:ext cx="150986" cy="150986"/>
          </a:xfrm>
          <a:prstGeom prst="rect">
            <a:avLst/>
          </a:prstGeom>
        </p:spPr>
      </p:pic>
      <p:sp>
        <p:nvSpPr>
          <p:cNvPr id="12" name="Text 8"/>
          <p:cNvSpPr/>
          <p:nvPr/>
        </p:nvSpPr>
        <p:spPr>
          <a:xfrm>
            <a:off x="3859418" y="1131838"/>
            <a:ext cx="1250975"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Stock Optimisation</a:t>
            </a:r>
            <a:endParaRPr lang="en-US" sz="1400" dirty="0">
              <a:latin typeface="Arial" panose="020B0604020202020204" pitchFamily="34" charset="0"/>
            </a:endParaRPr>
          </a:p>
        </p:txBody>
      </p:sp>
      <p:sp>
        <p:nvSpPr>
          <p:cNvPr id="13" name="Text 9"/>
          <p:cNvSpPr/>
          <p:nvPr/>
        </p:nvSpPr>
        <p:spPr>
          <a:xfrm>
            <a:off x="3316336" y="1438126"/>
            <a:ext cx="2511251" cy="879427"/>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Increase stock for high-performing products, particularly 22K jewellery and Gold Bars &amp; Chains</a:t>
            </a:r>
            <a:endParaRPr lang="en-US" sz="1400" dirty="0">
              <a:latin typeface="Arial" panose="020B0604020202020204" pitchFamily="34" charset="0"/>
            </a:endParaRPr>
          </a:p>
        </p:txBody>
      </p:sp>
      <p:sp>
        <p:nvSpPr>
          <p:cNvPr id="14" name="Shape 10"/>
          <p:cNvSpPr/>
          <p:nvPr/>
        </p:nvSpPr>
        <p:spPr>
          <a:xfrm>
            <a:off x="5939433" y="1083097"/>
            <a:ext cx="2553295" cy="1346299"/>
          </a:xfrm>
          <a:prstGeom prst="roundRect">
            <a:avLst>
              <a:gd name="adj" fmla="val 12464"/>
            </a:avLst>
          </a:prstGeom>
          <a:solidFill>
            <a:srgbClr val="46464A"/>
          </a:solidFill>
          <a:ln/>
        </p:spPr>
      </p:sp>
      <p:sp>
        <p:nvSpPr>
          <p:cNvPr id="15" name="Shape 11"/>
          <p:cNvSpPr/>
          <p:nvPr/>
        </p:nvSpPr>
        <p:spPr>
          <a:xfrm>
            <a:off x="6051277" y="1194941"/>
            <a:ext cx="335533" cy="335533"/>
          </a:xfrm>
          <a:prstGeom prst="roundRect">
            <a:avLst>
              <a:gd name="adj" fmla="val 17030899"/>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3551" y="1287140"/>
            <a:ext cx="150986" cy="150986"/>
          </a:xfrm>
          <a:prstGeom prst="rect">
            <a:avLst/>
          </a:prstGeom>
        </p:spPr>
      </p:pic>
      <p:sp>
        <p:nvSpPr>
          <p:cNvPr id="17" name="Text 12"/>
          <p:cNvSpPr/>
          <p:nvPr/>
        </p:nvSpPr>
        <p:spPr>
          <a:xfrm>
            <a:off x="6477670" y="1202908"/>
            <a:ext cx="1381869"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Buy-Back Campaigns</a:t>
            </a:r>
            <a:endParaRPr lang="en-US" sz="1400" dirty="0">
              <a:latin typeface="Arial" panose="020B0604020202020204" pitchFamily="34" charset="0"/>
            </a:endParaRPr>
          </a:p>
        </p:txBody>
      </p:sp>
      <p:sp>
        <p:nvSpPr>
          <p:cNvPr id="18" name="Text 13"/>
          <p:cNvSpPr/>
          <p:nvPr/>
        </p:nvSpPr>
        <p:spPr>
          <a:xfrm>
            <a:off x="6051277" y="1549971"/>
            <a:ext cx="2329607" cy="760254"/>
          </a:xfrm>
          <a:prstGeom prst="rect">
            <a:avLst/>
          </a:prstGeom>
          <a:noFill/>
          <a:ln/>
        </p:spPr>
        <p:txBody>
          <a:bodyPr wrap="square" lIns="0" tIns="0" rIns="0" bIns="0" rtlCol="0" anchor="t">
            <a:noAutofit/>
          </a:bodyPr>
          <a:lstStyle/>
          <a:p>
            <a:pPr marL="0" indent="0" algn="just">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Expand old gold buy-back campaigns to drive additional business volume</a:t>
            </a:r>
            <a:endParaRPr lang="en-US" sz="1400" dirty="0">
              <a:latin typeface="Arial" panose="020B0604020202020204" pitchFamily="34" charset="0"/>
            </a:endParaRPr>
          </a:p>
        </p:txBody>
      </p:sp>
      <p:sp>
        <p:nvSpPr>
          <p:cNvPr id="19" name="Shape 14"/>
          <p:cNvSpPr/>
          <p:nvPr/>
        </p:nvSpPr>
        <p:spPr>
          <a:xfrm>
            <a:off x="473317" y="2599916"/>
            <a:ext cx="2619331" cy="1576280"/>
          </a:xfrm>
          <a:prstGeom prst="roundRect">
            <a:avLst>
              <a:gd name="adj" fmla="val 14171"/>
            </a:avLst>
          </a:prstGeom>
          <a:solidFill>
            <a:srgbClr val="46464A"/>
          </a:solidFill>
          <a:ln/>
        </p:spPr>
      </p:sp>
      <p:sp>
        <p:nvSpPr>
          <p:cNvPr id="20" name="Shape 15"/>
          <p:cNvSpPr/>
          <p:nvPr/>
        </p:nvSpPr>
        <p:spPr>
          <a:xfrm>
            <a:off x="763116" y="2632100"/>
            <a:ext cx="335533" cy="335533"/>
          </a:xfrm>
          <a:prstGeom prst="roundRect">
            <a:avLst>
              <a:gd name="adj" fmla="val 17030899"/>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5390" y="2724299"/>
            <a:ext cx="150986" cy="150986"/>
          </a:xfrm>
          <a:prstGeom prst="rect">
            <a:avLst/>
          </a:prstGeom>
        </p:spPr>
      </p:pic>
      <p:sp>
        <p:nvSpPr>
          <p:cNvPr id="22" name="Text 16"/>
          <p:cNvSpPr/>
          <p:nvPr/>
        </p:nvSpPr>
        <p:spPr>
          <a:xfrm>
            <a:off x="1250491" y="2700050"/>
            <a:ext cx="1242938"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Digital Payments</a:t>
            </a:r>
            <a:endParaRPr lang="en-US" sz="1400" dirty="0">
              <a:latin typeface="Arial" panose="020B0604020202020204" pitchFamily="34" charset="0"/>
            </a:endParaRPr>
          </a:p>
        </p:txBody>
      </p:sp>
      <p:sp>
        <p:nvSpPr>
          <p:cNvPr id="23" name="Text 17"/>
          <p:cNvSpPr/>
          <p:nvPr/>
        </p:nvSpPr>
        <p:spPr>
          <a:xfrm>
            <a:off x="763116" y="3029833"/>
            <a:ext cx="2329532" cy="945053"/>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Encourage digital payment adoption to reduce cash dependency across branches</a:t>
            </a:r>
            <a:endParaRPr lang="en-US" sz="1400" dirty="0">
              <a:latin typeface="Arial" panose="020B0604020202020204" pitchFamily="34" charset="0"/>
            </a:endParaRPr>
          </a:p>
        </p:txBody>
      </p:sp>
      <p:sp>
        <p:nvSpPr>
          <p:cNvPr id="24" name="Shape 18"/>
          <p:cNvSpPr/>
          <p:nvPr/>
        </p:nvSpPr>
        <p:spPr>
          <a:xfrm>
            <a:off x="3295353" y="2520255"/>
            <a:ext cx="2532236" cy="1540148"/>
          </a:xfrm>
          <a:prstGeom prst="roundRect">
            <a:avLst>
              <a:gd name="adj" fmla="val 14171"/>
            </a:avLst>
          </a:prstGeom>
          <a:solidFill>
            <a:srgbClr val="46464A"/>
          </a:solidFill>
          <a:ln/>
        </p:spPr>
      </p:sp>
      <p:sp>
        <p:nvSpPr>
          <p:cNvPr id="25" name="Shape 19"/>
          <p:cNvSpPr/>
          <p:nvPr/>
        </p:nvSpPr>
        <p:spPr>
          <a:xfrm>
            <a:off x="3407197" y="2632100"/>
            <a:ext cx="335533" cy="335533"/>
          </a:xfrm>
          <a:prstGeom prst="roundRect">
            <a:avLst>
              <a:gd name="adj" fmla="val 17030899"/>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9470" y="2724299"/>
            <a:ext cx="150986" cy="150986"/>
          </a:xfrm>
          <a:prstGeom prst="rect">
            <a:avLst/>
          </a:prstGeom>
        </p:spPr>
      </p:pic>
      <p:sp>
        <p:nvSpPr>
          <p:cNvPr id="27" name="Text 20"/>
          <p:cNvSpPr/>
          <p:nvPr/>
        </p:nvSpPr>
        <p:spPr>
          <a:xfrm>
            <a:off x="3819362" y="2676513"/>
            <a:ext cx="1458144"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Benchmarking</a:t>
            </a:r>
            <a:endParaRPr lang="en-US" sz="1400" dirty="0">
              <a:latin typeface="Arial" panose="020B0604020202020204" pitchFamily="34" charset="0"/>
            </a:endParaRPr>
          </a:p>
        </p:txBody>
      </p:sp>
      <p:sp>
        <p:nvSpPr>
          <p:cNvPr id="28" name="Text 21"/>
          <p:cNvSpPr/>
          <p:nvPr/>
        </p:nvSpPr>
        <p:spPr>
          <a:xfrm>
            <a:off x="3407197" y="2995639"/>
            <a:ext cx="2329532" cy="979247"/>
          </a:xfrm>
          <a:prstGeom prst="rect">
            <a:avLst/>
          </a:prstGeom>
          <a:noFill/>
          <a:ln/>
        </p:spPr>
        <p:txBody>
          <a:bodyPr wrap="square" lIns="0" tIns="0" rIns="0" bIns="0" rtlCol="0" anchor="t">
            <a:noAutofit/>
          </a:bodyPr>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Benchmark </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top-performing</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branches to replicate best practices across the network</a:t>
            </a:r>
            <a:endParaRPr lang="en-US" sz="1200" dirty="0">
              <a:latin typeface="Arial" panose="020B0604020202020204" pitchFamily="34" charset="0"/>
            </a:endParaRPr>
          </a:p>
        </p:txBody>
      </p:sp>
      <p:sp>
        <p:nvSpPr>
          <p:cNvPr id="29" name="Shape 22"/>
          <p:cNvSpPr/>
          <p:nvPr/>
        </p:nvSpPr>
        <p:spPr>
          <a:xfrm>
            <a:off x="5939433" y="2520255"/>
            <a:ext cx="2553295" cy="1540148"/>
          </a:xfrm>
          <a:prstGeom prst="roundRect">
            <a:avLst>
              <a:gd name="adj" fmla="val 14171"/>
            </a:avLst>
          </a:prstGeom>
          <a:solidFill>
            <a:srgbClr val="46464A"/>
          </a:solidFill>
          <a:ln/>
        </p:spPr>
      </p:sp>
      <p:sp>
        <p:nvSpPr>
          <p:cNvPr id="30" name="Shape 23"/>
          <p:cNvSpPr/>
          <p:nvPr/>
        </p:nvSpPr>
        <p:spPr>
          <a:xfrm>
            <a:off x="6051277" y="2632100"/>
            <a:ext cx="335533" cy="335533"/>
          </a:xfrm>
          <a:prstGeom prst="roundRect">
            <a:avLst>
              <a:gd name="adj" fmla="val 17030899"/>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3551" y="2724299"/>
            <a:ext cx="150986" cy="150986"/>
          </a:xfrm>
          <a:prstGeom prst="rect">
            <a:avLst/>
          </a:prstGeom>
        </p:spPr>
      </p:pic>
      <p:sp>
        <p:nvSpPr>
          <p:cNvPr id="32" name="Text 24"/>
          <p:cNvSpPr/>
          <p:nvPr/>
        </p:nvSpPr>
        <p:spPr>
          <a:xfrm>
            <a:off x="6516141" y="2714725"/>
            <a:ext cx="1399877"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&amp; Incentives</a:t>
            </a:r>
            <a:endParaRPr lang="en-US" sz="1400" dirty="0">
              <a:latin typeface="Arial" panose="020B0604020202020204" pitchFamily="34" charset="0"/>
            </a:endParaRPr>
          </a:p>
        </p:txBody>
      </p:sp>
      <p:sp>
        <p:nvSpPr>
          <p:cNvPr id="33" name="Text 25"/>
          <p:cNvSpPr/>
          <p:nvPr/>
        </p:nvSpPr>
        <p:spPr>
          <a:xfrm>
            <a:off x="6051277" y="2967633"/>
            <a:ext cx="2329607" cy="980926"/>
          </a:xfrm>
          <a:prstGeom prst="rect">
            <a:avLst/>
          </a:prstGeom>
          <a:noFill/>
          <a:ln/>
        </p:spPr>
        <p:txBody>
          <a:bodyPr wrap="square" lIns="0" tIns="0" rIns="0" bIns="0" rtlCol="0" anchor="t">
            <a:noAutofit/>
          </a:bodyPr>
          <a:lstStyle/>
          <a:p>
            <a:pPr marL="0" indent="0">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Optimise discount policies and implement KPI-based salesperson incentives</a:t>
            </a:r>
            <a:endParaRPr lang="en-US" sz="1400" dirty="0">
              <a:latin typeface="Arial" panose="020B0604020202020204" pitchFamily="34" charset="0"/>
            </a:endParaRPr>
          </a:p>
        </p:txBody>
      </p:sp>
      <p:sp>
        <p:nvSpPr>
          <p:cNvPr id="34" name="Shape 26"/>
          <p:cNvSpPr/>
          <p:nvPr/>
        </p:nvSpPr>
        <p:spPr>
          <a:xfrm>
            <a:off x="564178" y="4371937"/>
            <a:ext cx="7841456" cy="666974"/>
          </a:xfrm>
          <a:prstGeom prst="roundRect">
            <a:avLst>
              <a:gd name="adj" fmla="val 16419"/>
            </a:avLst>
          </a:prstGeom>
          <a:solidFill>
            <a:srgbClr val="46464A"/>
          </a:solidFill>
          <a:ln/>
        </p:spPr>
      </p:sp>
      <p:sp>
        <p:nvSpPr>
          <p:cNvPr id="35" name="Shape 27"/>
          <p:cNvSpPr/>
          <p:nvPr/>
        </p:nvSpPr>
        <p:spPr>
          <a:xfrm>
            <a:off x="763115" y="4385756"/>
            <a:ext cx="335533" cy="335533"/>
          </a:xfrm>
          <a:prstGeom prst="roundRect">
            <a:avLst>
              <a:gd name="adj" fmla="val 17030899"/>
            </a:avLst>
          </a:prstGeom>
          <a:solidFill>
            <a:srgbClr val="FFE14D"/>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2170" y="4472925"/>
            <a:ext cx="150986" cy="150986"/>
          </a:xfrm>
          <a:prstGeom prst="rect">
            <a:avLst/>
          </a:prstGeom>
        </p:spPr>
      </p:pic>
      <p:sp>
        <p:nvSpPr>
          <p:cNvPr id="37" name="Text 28"/>
          <p:cNvSpPr/>
          <p:nvPr/>
        </p:nvSpPr>
        <p:spPr>
          <a:xfrm>
            <a:off x="1220316" y="4434187"/>
            <a:ext cx="1262732"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sz="1400" dirty="0">
              <a:latin typeface="Arial" panose="020B0604020202020204" pitchFamily="34" charset="0"/>
            </a:endParaRPr>
          </a:p>
        </p:txBody>
      </p:sp>
      <p:sp>
        <p:nvSpPr>
          <p:cNvPr id="38" name="Text 29"/>
          <p:cNvSpPr/>
          <p:nvPr/>
        </p:nvSpPr>
        <p:spPr>
          <a:xfrm>
            <a:off x="930881" y="4749295"/>
            <a:ext cx="7617768" cy="265267"/>
          </a:xfrm>
          <a:prstGeom prst="rect">
            <a:avLst/>
          </a:prstGeom>
          <a:noFill/>
          <a:ln/>
        </p:spPr>
        <p:txBody>
          <a:bodyPr wrap="none" lIns="0" tIns="0" rIns="0" bIns="0" rtlCol="0" anchor="t"/>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Use predictive analytics for demand forecasting to improve inventory and sales planning</a:t>
            </a:r>
            <a:endParaRPr lang="en-US" sz="1200" dirty="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79664" y="561677"/>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Challenges Faced</a:t>
            </a:r>
            <a:endParaRPr lang="en-US" sz="3200" dirty="0">
              <a:latin typeface="Arial" panose="020B0604020202020204" pitchFamily="34" charset="0"/>
            </a:endParaRPr>
          </a:p>
        </p:txBody>
      </p:sp>
      <p:sp>
        <p:nvSpPr>
          <p:cNvPr id="4" name="Text 1"/>
          <p:cNvSpPr/>
          <p:nvPr/>
        </p:nvSpPr>
        <p:spPr>
          <a:xfrm>
            <a:off x="3979664" y="1150665"/>
            <a:ext cx="4613672"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During the project, the main challenges involved preparing high-quality data and designing an efficient analytical model.</a:t>
            </a:r>
            <a:endParaRPr lang="en-US" sz="1200" dirty="0">
              <a:latin typeface="Arial" panose="020B0604020202020204" pitchFamily="34" charset="0"/>
            </a:endParaRPr>
          </a:p>
        </p:txBody>
      </p:sp>
      <p:sp>
        <p:nvSpPr>
          <p:cNvPr id="5" name="Shape 2"/>
          <p:cNvSpPr/>
          <p:nvPr/>
        </p:nvSpPr>
        <p:spPr>
          <a:xfrm>
            <a:off x="3979664" y="1746052"/>
            <a:ext cx="309786" cy="309786"/>
          </a:xfrm>
          <a:prstGeom prst="roundRect">
            <a:avLst>
              <a:gd name="adj" fmla="val 66668"/>
            </a:avLst>
          </a:prstGeom>
          <a:solidFill>
            <a:srgbClr val="46464A"/>
          </a:solidFill>
          <a:ln/>
        </p:spPr>
      </p:sp>
      <p:sp>
        <p:nvSpPr>
          <p:cNvPr id="6" name="Text 3"/>
          <p:cNvSpPr/>
          <p:nvPr/>
        </p:nvSpPr>
        <p:spPr>
          <a:xfrm>
            <a:off x="4427116" y="1793379"/>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Preparation</a:t>
            </a:r>
            <a:endParaRPr lang="en-US" sz="1600" dirty="0">
              <a:latin typeface="Arial" panose="020B0604020202020204" pitchFamily="34" charset="0"/>
            </a:endParaRPr>
          </a:p>
        </p:txBody>
      </p:sp>
      <p:sp>
        <p:nvSpPr>
          <p:cNvPr id="7" name="Text 4"/>
          <p:cNvSpPr/>
          <p:nvPr/>
        </p:nvSpPr>
        <p:spPr>
          <a:xfrm>
            <a:off x="4427116" y="2067223"/>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Cleaning and validating large transactional datasets, and handling duplicate and inconsistent records.</a:t>
            </a:r>
            <a:endParaRPr lang="en-US" sz="1200" dirty="0">
              <a:latin typeface="Arial" panose="020B0604020202020204" pitchFamily="34" charset="0"/>
            </a:endParaRPr>
          </a:p>
        </p:txBody>
      </p:sp>
      <p:sp>
        <p:nvSpPr>
          <p:cNvPr id="8" name="Shape 5"/>
          <p:cNvSpPr/>
          <p:nvPr/>
        </p:nvSpPr>
        <p:spPr>
          <a:xfrm>
            <a:off x="3979664" y="2783086"/>
            <a:ext cx="309786" cy="309786"/>
          </a:xfrm>
          <a:prstGeom prst="roundRect">
            <a:avLst>
              <a:gd name="adj" fmla="val 66668"/>
            </a:avLst>
          </a:prstGeom>
          <a:solidFill>
            <a:srgbClr val="46464A"/>
          </a:solidFill>
          <a:ln/>
        </p:spPr>
      </p:sp>
      <p:sp>
        <p:nvSpPr>
          <p:cNvPr id="9" name="Text 6"/>
          <p:cNvSpPr/>
          <p:nvPr/>
        </p:nvSpPr>
        <p:spPr>
          <a:xfrm>
            <a:off x="4427116" y="2830413"/>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Modeling</a:t>
            </a:r>
            <a:endParaRPr lang="en-US" sz="1600" dirty="0">
              <a:latin typeface="Arial" panose="020B0604020202020204" pitchFamily="34" charset="0"/>
            </a:endParaRPr>
          </a:p>
        </p:txBody>
      </p:sp>
      <p:sp>
        <p:nvSpPr>
          <p:cNvPr id="10" name="Text 7"/>
          <p:cNvSpPr/>
          <p:nvPr/>
        </p:nvSpPr>
        <p:spPr>
          <a:xfrm>
            <a:off x="4427116" y="3104257"/>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Designing an optimized Star Schema data model and managing relationships between fact and dimension tables.</a:t>
            </a:r>
            <a:endParaRPr lang="en-US" sz="1200" dirty="0">
              <a:latin typeface="Arial" panose="020B0604020202020204" pitchFamily="34" charset="0"/>
            </a:endParaRPr>
          </a:p>
        </p:txBody>
      </p:sp>
      <p:sp>
        <p:nvSpPr>
          <p:cNvPr id="11" name="Shape 8"/>
          <p:cNvSpPr/>
          <p:nvPr/>
        </p:nvSpPr>
        <p:spPr>
          <a:xfrm>
            <a:off x="3979664" y="3820120"/>
            <a:ext cx="309786" cy="309786"/>
          </a:xfrm>
          <a:prstGeom prst="roundRect">
            <a:avLst>
              <a:gd name="adj" fmla="val 66668"/>
            </a:avLst>
          </a:prstGeom>
          <a:solidFill>
            <a:srgbClr val="46464A"/>
          </a:solidFill>
          <a:ln/>
        </p:spPr>
      </p:sp>
      <p:sp>
        <p:nvSpPr>
          <p:cNvPr id="12" name="Text 9"/>
          <p:cNvSpPr/>
          <p:nvPr/>
        </p:nvSpPr>
        <p:spPr>
          <a:xfrm>
            <a:off x="4427116" y="3867448"/>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Design</a:t>
            </a:r>
            <a:endParaRPr lang="en-US" sz="1600" dirty="0">
              <a:latin typeface="Arial" panose="020B0604020202020204" pitchFamily="34" charset="0"/>
            </a:endParaRPr>
          </a:p>
        </p:txBody>
      </p:sp>
      <p:sp>
        <p:nvSpPr>
          <p:cNvPr id="13" name="Text 10"/>
          <p:cNvSpPr/>
          <p:nvPr/>
        </p:nvSpPr>
        <p:spPr>
          <a:xfrm>
            <a:off x="4427116" y="4141291"/>
            <a:ext cx="4166220" cy="440531"/>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Creating efficient DAX measures for dynamic reporting and building dashboards that balance detail with usability.</a:t>
            </a:r>
            <a:endParaRPr lang="en-US" sz="1200" dirty="0">
              <a:latin typeface="Arial" panose="020B0604020202020204" pitchFamily="34" charset="0"/>
            </a:endParaRPr>
          </a:p>
        </p:txBody>
      </p:sp>
    </p:spTree>
    <p:extLst>
      <p:ext uri="{BB962C8B-B14F-4D97-AF65-F5344CB8AC3E}">
        <p14:creationId xmlns:p14="http://schemas.microsoft.com/office/powerpoint/2010/main" val="2876423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576858"/>
            <a:ext cx="3999458" cy="382488"/>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Future Enhancements</a:t>
            </a:r>
            <a:endParaRPr lang="en-US" sz="3600" dirty="0">
              <a:latin typeface="Arial" panose="020B0604020202020204" pitchFamily="34" charset="0"/>
            </a:endParaRPr>
          </a:p>
        </p:txBody>
      </p:sp>
      <p:sp>
        <p:nvSpPr>
          <p:cNvPr id="3" name="Text 1"/>
          <p:cNvSpPr/>
          <p:nvPr/>
        </p:nvSpPr>
        <p:spPr>
          <a:xfrm>
            <a:off x="550664" y="1234678"/>
            <a:ext cx="8042672"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 future, this solution can be enhanced with predictive analytics, customer churn models, demand forecasting, and real-time reporting to provide even greater business value.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1830065"/>
            <a:ext cx="344165" cy="344165"/>
          </a:xfrm>
          <a:prstGeom prst="rect">
            <a:avLst/>
          </a:prstGeom>
        </p:spPr>
      </p:pic>
      <p:sp>
        <p:nvSpPr>
          <p:cNvPr id="5" name="Text 2"/>
          <p:cNvSpPr/>
          <p:nvPr/>
        </p:nvSpPr>
        <p:spPr>
          <a:xfrm>
            <a:off x="550664" y="2346275"/>
            <a:ext cx="1554807"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dirty="0">
              <a:latin typeface="Arial" panose="020B0604020202020204" pitchFamily="34" charset="0"/>
            </a:endParaRPr>
          </a:p>
        </p:txBody>
      </p:sp>
      <p:sp>
        <p:nvSpPr>
          <p:cNvPr id="6" name="Text 3"/>
          <p:cNvSpPr/>
          <p:nvPr/>
        </p:nvSpPr>
        <p:spPr>
          <a:xfrm>
            <a:off x="550664" y="2620119"/>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Implement machine learning for sales forecasting and predict customer churn and buying behavior.</a:t>
            </a:r>
            <a:endParaRPr lang="en-US" sz="14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1830065"/>
            <a:ext cx="344165" cy="344165"/>
          </a:xfrm>
          <a:prstGeom prst="rect">
            <a:avLst/>
          </a:prstGeom>
        </p:spPr>
      </p:pic>
      <p:sp>
        <p:nvSpPr>
          <p:cNvPr id="8" name="Text 4"/>
          <p:cNvSpPr/>
          <p:nvPr/>
        </p:nvSpPr>
        <p:spPr>
          <a:xfrm>
            <a:off x="4658023" y="2346275"/>
            <a:ext cx="1670075"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Demand Forecasting</a:t>
            </a:r>
            <a:endParaRPr lang="en-US" dirty="0">
              <a:latin typeface="Arial" panose="020B0604020202020204" pitchFamily="34" charset="0"/>
            </a:endParaRPr>
          </a:p>
        </p:txBody>
      </p:sp>
      <p:sp>
        <p:nvSpPr>
          <p:cNvPr id="9" name="Text 5"/>
          <p:cNvSpPr/>
          <p:nvPr/>
        </p:nvSpPr>
        <p:spPr>
          <a:xfrm>
            <a:off x="4658023" y="2620119"/>
            <a:ext cx="3935313" cy="220266"/>
          </a:xfrm>
          <a:prstGeom prst="rect">
            <a:avLst/>
          </a:prstGeom>
          <a:noFill/>
          <a:ln/>
        </p:spPr>
        <p:txBody>
          <a:bodyPr wrap="none" lIns="0" tIns="0" rIns="0" bIns="0" rtlCol="0" anchor="t"/>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Develop demand forecasting for inventory optimization.</a:t>
            </a:r>
            <a:endParaRPr lang="en-US" sz="14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550664" y="3852193"/>
            <a:ext cx="16012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Real-Time Reporting</a:t>
            </a:r>
            <a:endParaRPr lang="en-US" dirty="0">
              <a:latin typeface="Arial" panose="020B0604020202020204" pitchFamily="34" charset="0"/>
            </a:endParaRPr>
          </a:p>
        </p:txBody>
      </p:sp>
      <p:sp>
        <p:nvSpPr>
          <p:cNvPr id="12" name="Text 7"/>
          <p:cNvSpPr/>
          <p:nvPr/>
        </p:nvSpPr>
        <p:spPr>
          <a:xfrm>
            <a:off x="550664" y="4126037"/>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Enable real-time dashboard refresh for up-to-the-minute business insights.</a:t>
            </a:r>
            <a:endParaRPr lang="en-US" sz="14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4658023" y="3852193"/>
            <a:ext cx="16774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AI Recommendations</a:t>
            </a:r>
            <a:endParaRPr lang="en-US" dirty="0">
              <a:latin typeface="Arial" panose="020B0604020202020204" pitchFamily="34" charset="0"/>
            </a:endParaRPr>
          </a:p>
        </p:txBody>
      </p:sp>
      <p:sp>
        <p:nvSpPr>
          <p:cNvPr id="15" name="Text 9"/>
          <p:cNvSpPr/>
          <p:nvPr/>
        </p:nvSpPr>
        <p:spPr>
          <a:xfrm>
            <a:off x="4658023" y="4126037"/>
            <a:ext cx="3935313" cy="440531"/>
          </a:xfrm>
          <a:prstGeom prst="rect">
            <a:avLst/>
          </a:prstGeom>
          <a:noFill/>
          <a:ln/>
        </p:spPr>
        <p:txBody>
          <a:bodyPr wrap="square" lIns="0" tIns="0" rIns="0" bIns="0" rtlCol="0" anchor="t">
            <a:normAutofit fontScale="92500" lnSpcReduction="20000"/>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Add AI-driven product recommendations and create mobile-optimized executive dashboards.</a:t>
            </a:r>
            <a:endParaRPr lang="en-US" sz="1400" dirty="0">
              <a:latin typeface="Arial" panose="020B0604020202020204" pitchFamily="34" charset="0"/>
            </a:endParaRPr>
          </a:p>
        </p:txBody>
      </p:sp>
    </p:spTree>
    <p:extLst>
      <p:ext uri="{BB962C8B-B14F-4D97-AF65-F5344CB8AC3E}">
        <p14:creationId xmlns:p14="http://schemas.microsoft.com/office/powerpoint/2010/main" val="82537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06195" y="0"/>
            <a:ext cx="3710940" cy="3188628"/>
          </a:xfrm>
          <a:prstGeom prst="rect">
            <a:avLst/>
          </a:prstGeom>
        </p:spPr>
      </p:pic>
      <p:sp>
        <p:nvSpPr>
          <p:cNvPr id="3" name="Text 0"/>
          <p:cNvSpPr/>
          <p:nvPr/>
        </p:nvSpPr>
        <p:spPr>
          <a:xfrm>
            <a:off x="192524" y="56704"/>
            <a:ext cx="3516809" cy="382488"/>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Summary</a:t>
            </a:r>
            <a:endParaRPr lang="en-US" sz="2800" dirty="0">
              <a:latin typeface="Arial" panose="020B0604020202020204" pitchFamily="34" charset="0"/>
            </a:endParaRPr>
          </a:p>
        </p:txBody>
      </p:sp>
      <p:sp>
        <p:nvSpPr>
          <p:cNvPr id="4" name="Text 1"/>
          <p:cNvSpPr/>
          <p:nvPr/>
        </p:nvSpPr>
        <p:spPr>
          <a:xfrm>
            <a:off x="330189" y="439191"/>
            <a:ext cx="4708323" cy="1176967"/>
          </a:xfrm>
          <a:prstGeom prst="rect">
            <a:avLst/>
          </a:prstGeom>
          <a:noFill/>
          <a:ln/>
        </p:spPr>
        <p:txBody>
          <a:bodyPr wrap="square" lIns="0" tIns="0" rIns="0" bIns="0" rtlCol="0" anchor="t">
            <a:normAutofit fontScale="92500"/>
          </a:bodyPr>
          <a:lstStyle/>
          <a:p>
            <a:pPr marL="0" indent="0" algn="just">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This project delivered a complete end-to-end analytics solution — from raw transactional data through SQL cleaning and validation, Star Schema modeling, and DAX-powered Power BI dashboards — providing management with interactive tools to analyze business performance across branches, products, customers, and time periods.</a:t>
            </a:r>
            <a:endParaRPr lang="en-US" sz="1200" dirty="0">
              <a:latin typeface="Arial" panose="020B0604020202020204" pitchFamily="34" charset="0"/>
            </a:endParaRPr>
          </a:p>
        </p:txBody>
      </p:sp>
      <p:sp>
        <p:nvSpPr>
          <p:cNvPr id="5" name="Shape 2"/>
          <p:cNvSpPr/>
          <p:nvPr/>
        </p:nvSpPr>
        <p:spPr>
          <a:xfrm>
            <a:off x="170881" y="2978334"/>
            <a:ext cx="5026938" cy="2122947"/>
          </a:xfrm>
          <a:prstGeom prst="roundRect">
            <a:avLst>
              <a:gd name="adj" fmla="val 8534"/>
            </a:avLst>
          </a:prstGeom>
          <a:solidFill>
            <a:srgbClr val="46464A"/>
          </a:solidFill>
          <a:ln/>
        </p:spPr>
      </p:sp>
      <p:sp>
        <p:nvSpPr>
          <p:cNvPr id="6" name="Shape 3"/>
          <p:cNvSpPr/>
          <p:nvPr/>
        </p:nvSpPr>
        <p:spPr>
          <a:xfrm>
            <a:off x="287175" y="1739340"/>
            <a:ext cx="2306836" cy="1101328"/>
          </a:xfrm>
          <a:prstGeom prst="roundRect">
            <a:avLst>
              <a:gd name="adj" fmla="val 14440"/>
            </a:avLst>
          </a:prstGeom>
          <a:solidFill>
            <a:srgbClr val="46464A"/>
          </a:solidFill>
          <a:ln/>
        </p:spPr>
      </p:sp>
      <p:sp>
        <p:nvSpPr>
          <p:cNvPr id="7" name="Text 4"/>
          <p:cNvSpPr/>
          <p:nvPr/>
        </p:nvSpPr>
        <p:spPr>
          <a:xfrm>
            <a:off x="330190" y="1877006"/>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Quality</a:t>
            </a:r>
            <a:endParaRPr lang="en-US" sz="1400" dirty="0">
              <a:latin typeface="Arial" panose="020B0604020202020204" pitchFamily="34" charset="0"/>
            </a:endParaRPr>
          </a:p>
        </p:txBody>
      </p:sp>
      <p:sp>
        <p:nvSpPr>
          <p:cNvPr id="8" name="Text 5"/>
          <p:cNvSpPr/>
          <p:nvPr/>
        </p:nvSpPr>
        <p:spPr>
          <a:xfrm>
            <a:off x="330190" y="2150850"/>
            <a:ext cx="2031504" cy="660797"/>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SQL cleaning and validation ensured accurate, reliable data for reporting.</a:t>
            </a:r>
            <a:endParaRPr lang="en-US" sz="1100" dirty="0">
              <a:latin typeface="Arial" panose="020B0604020202020204" pitchFamily="34" charset="0"/>
            </a:endParaRPr>
          </a:p>
        </p:txBody>
      </p:sp>
      <p:sp>
        <p:nvSpPr>
          <p:cNvPr id="9" name="Shape 6"/>
          <p:cNvSpPr/>
          <p:nvPr/>
        </p:nvSpPr>
        <p:spPr>
          <a:xfrm>
            <a:off x="2561694" y="1739340"/>
            <a:ext cx="2476819" cy="1101328"/>
          </a:xfrm>
          <a:prstGeom prst="rect">
            <a:avLst/>
          </a:prstGeom>
          <a:solidFill>
            <a:srgbClr val="46464A"/>
          </a:solidFill>
          <a:ln/>
        </p:spPr>
      </p:sp>
      <p:sp>
        <p:nvSpPr>
          <p:cNvPr id="10" name="Shape 7"/>
          <p:cNvSpPr/>
          <p:nvPr/>
        </p:nvSpPr>
        <p:spPr>
          <a:xfrm>
            <a:off x="2499360" y="1739340"/>
            <a:ext cx="19050" cy="1430238"/>
          </a:xfrm>
          <a:prstGeom prst="roundRect">
            <a:avLst>
              <a:gd name="adj" fmla="val 1084131"/>
            </a:avLst>
          </a:prstGeom>
          <a:solidFill>
            <a:srgbClr val="5F5F63"/>
          </a:solidFill>
          <a:ln/>
        </p:spPr>
      </p:sp>
      <p:sp>
        <p:nvSpPr>
          <p:cNvPr id="11" name="Text 8"/>
          <p:cNvSpPr/>
          <p:nvPr/>
        </p:nvSpPr>
        <p:spPr>
          <a:xfrm>
            <a:off x="2856344" y="1862521"/>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Dynamic Metrics</a:t>
            </a:r>
            <a:endParaRPr lang="en-US" sz="1400" dirty="0">
              <a:latin typeface="Arial" panose="020B0604020202020204" pitchFamily="34" charset="0"/>
            </a:endParaRPr>
          </a:p>
        </p:txBody>
      </p:sp>
      <p:sp>
        <p:nvSpPr>
          <p:cNvPr id="12" name="Text 9"/>
          <p:cNvSpPr/>
          <p:nvPr/>
        </p:nvSpPr>
        <p:spPr>
          <a:xfrm>
            <a:off x="2856344" y="2136365"/>
            <a:ext cx="2182168" cy="881063"/>
          </a:xfrm>
          <a:prstGeom prst="rect">
            <a:avLst/>
          </a:prstGeom>
          <a:noFill/>
          <a:ln/>
        </p:spPr>
        <p:txBody>
          <a:bodyPr wrap="square" lIns="0" tIns="0" rIns="0" bIns="0" rtlCol="0" anchor="t">
            <a:normAutofit/>
          </a:bodyPr>
          <a:lstStyle/>
          <a:p>
            <a:pPr marL="0" indent="0">
              <a:lnSpc>
                <a:spcPct val="133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DAX measures enabled interactive analysis with filters and slicers across all dashboards.</a:t>
            </a:r>
            <a:endParaRPr lang="en-US" sz="1100" dirty="0">
              <a:latin typeface="Arial" panose="020B0604020202020204" pitchFamily="34" charset="0"/>
            </a:endParaRPr>
          </a:p>
        </p:txBody>
      </p:sp>
      <p:sp>
        <p:nvSpPr>
          <p:cNvPr id="13" name="Shape 10"/>
          <p:cNvSpPr/>
          <p:nvPr/>
        </p:nvSpPr>
        <p:spPr>
          <a:xfrm>
            <a:off x="5310009" y="3200392"/>
            <a:ext cx="3804642" cy="1886403"/>
          </a:xfrm>
          <a:prstGeom prst="rect">
            <a:avLst/>
          </a:prstGeom>
          <a:solidFill>
            <a:srgbClr val="46464A"/>
          </a:solidFill>
          <a:ln/>
        </p:spPr>
      </p:sp>
      <p:sp>
        <p:nvSpPr>
          <p:cNvPr id="14" name="Shape 11"/>
          <p:cNvSpPr/>
          <p:nvPr/>
        </p:nvSpPr>
        <p:spPr>
          <a:xfrm>
            <a:off x="192524" y="3169578"/>
            <a:ext cx="4613672" cy="19050"/>
          </a:xfrm>
          <a:prstGeom prst="roundRect">
            <a:avLst>
              <a:gd name="adj" fmla="val 1084131"/>
            </a:avLst>
          </a:prstGeom>
          <a:solidFill>
            <a:srgbClr val="5F5F63"/>
          </a:solidFill>
          <a:ln/>
        </p:spPr>
      </p:sp>
      <p:sp>
        <p:nvSpPr>
          <p:cNvPr id="15" name="Text 12"/>
          <p:cNvSpPr/>
          <p:nvPr/>
        </p:nvSpPr>
        <p:spPr>
          <a:xfrm>
            <a:off x="5506194" y="3498488"/>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Future Ready</a:t>
            </a:r>
            <a:endParaRPr lang="en-US" sz="1400" dirty="0">
              <a:latin typeface="Arial" panose="020B0604020202020204" pitchFamily="34" charset="0"/>
            </a:endParaRPr>
          </a:p>
        </p:txBody>
      </p:sp>
      <p:sp>
        <p:nvSpPr>
          <p:cNvPr id="16" name="Text 13"/>
          <p:cNvSpPr/>
          <p:nvPr/>
        </p:nvSpPr>
        <p:spPr>
          <a:xfrm>
            <a:off x="5504170" y="3779520"/>
            <a:ext cx="3220730" cy="905039"/>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 real-time reporting, and </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AI-driven</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recommendations planned for future phases.</a:t>
            </a:r>
            <a:endParaRPr lang="en-US" sz="1400" dirty="0">
              <a:latin typeface="Arial" panose="020B0604020202020204" pitchFamily="34" charset="0"/>
            </a:endParaRPr>
          </a:p>
        </p:txBody>
      </p:sp>
      <p:sp>
        <p:nvSpPr>
          <p:cNvPr id="32" name="Text 2">
            <a:extLst>
              <a:ext uri="{FF2B5EF4-FFF2-40B4-BE49-F238E27FC236}">
                <a16:creationId xmlns:a16="http://schemas.microsoft.com/office/drawing/2014/main" id="{34DC61D6-B48F-9B72-2BB6-0542D2A7810D}"/>
              </a:ext>
            </a:extLst>
          </p:cNvPr>
          <p:cNvSpPr/>
          <p:nvPr/>
        </p:nvSpPr>
        <p:spPr>
          <a:xfrm>
            <a:off x="1740034" y="2965860"/>
            <a:ext cx="1472318" cy="376238"/>
          </a:xfrm>
          <a:prstGeom prst="rect">
            <a:avLst/>
          </a:prstGeom>
          <a:noFill/>
          <a:ln/>
        </p:spPr>
        <p:txBody>
          <a:bodyPr wrap="none" lIns="0" tIns="0" rIns="0" bIns="0" rtlCol="0" anchor="t"/>
          <a:lstStyle/>
          <a:p>
            <a:pPr marL="0" indent="0" algn="ctr">
              <a:lnSpc>
                <a:spcPct val="83000"/>
              </a:lnSpc>
              <a:buNone/>
            </a:pPr>
            <a:r>
              <a:rPr lang="en-US" sz="2800"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sz="4800" dirty="0">
              <a:latin typeface="Arial" panose="020B0604020202020204" pitchFamily="34" charset="0"/>
            </a:endParaRPr>
          </a:p>
        </p:txBody>
      </p:sp>
      <p:sp>
        <p:nvSpPr>
          <p:cNvPr id="33" name="Text 3">
            <a:extLst>
              <a:ext uri="{FF2B5EF4-FFF2-40B4-BE49-F238E27FC236}">
                <a16:creationId xmlns:a16="http://schemas.microsoft.com/office/drawing/2014/main" id="{2BC7E088-852C-4C0C-178B-13BB84C76CB6}"/>
              </a:ext>
            </a:extLst>
          </p:cNvPr>
          <p:cNvSpPr/>
          <p:nvPr/>
        </p:nvSpPr>
        <p:spPr>
          <a:xfrm>
            <a:off x="1759038" y="3320847"/>
            <a:ext cx="1472318" cy="158279"/>
          </a:xfrm>
          <a:prstGeom prst="rect">
            <a:avLst/>
          </a:prstGeom>
          <a:noFill/>
          <a:ln/>
        </p:spPr>
        <p:txBody>
          <a:bodyPr wrap="none" lIns="0" tIns="0" rIns="0" bIns="0" rtlCol="0" anchor="t"/>
          <a:lstStyle/>
          <a:p>
            <a:pPr marL="0" indent="0" algn="ctr">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Interactive Dashboards</a:t>
            </a:r>
            <a:endParaRPr lang="en-US" sz="1400" dirty="0">
              <a:latin typeface="Arial" panose="020B0604020202020204" pitchFamily="34" charset="0"/>
            </a:endParaRPr>
          </a:p>
        </p:txBody>
      </p:sp>
      <p:sp>
        <p:nvSpPr>
          <p:cNvPr id="34" name="Text 4">
            <a:extLst>
              <a:ext uri="{FF2B5EF4-FFF2-40B4-BE49-F238E27FC236}">
                <a16:creationId xmlns:a16="http://schemas.microsoft.com/office/drawing/2014/main" id="{0A057AA1-82E4-0AD9-EF61-DB3B686C6C64}"/>
              </a:ext>
            </a:extLst>
          </p:cNvPr>
          <p:cNvSpPr/>
          <p:nvPr/>
        </p:nvSpPr>
        <p:spPr>
          <a:xfrm>
            <a:off x="293353" y="3576747"/>
            <a:ext cx="4537737" cy="356811"/>
          </a:xfrm>
          <a:prstGeom prst="rect">
            <a:avLst/>
          </a:prstGeom>
          <a:noFill/>
          <a:ln/>
        </p:spPr>
        <p:txBody>
          <a:bodyPr wrap="none" lIns="0" tIns="0" rIns="0" bIns="0" rtlCol="0" anchor="t"/>
          <a:lstStyle/>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Developed to support strategic </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decision-making</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across the</a:t>
            </a:r>
          </a:p>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business</a:t>
            </a:r>
            <a:endParaRPr lang="en-US" sz="1400" dirty="0">
              <a:latin typeface="Arial" panose="020B0604020202020204" pitchFamily="34" charset="0"/>
            </a:endParaRPr>
          </a:p>
        </p:txBody>
      </p:sp>
      <p:sp>
        <p:nvSpPr>
          <p:cNvPr id="35" name="Text 6">
            <a:extLst>
              <a:ext uri="{FF2B5EF4-FFF2-40B4-BE49-F238E27FC236}">
                <a16:creationId xmlns:a16="http://schemas.microsoft.com/office/drawing/2014/main" id="{A1571135-BD22-8174-2EB4-7C59C6F4F212}"/>
              </a:ext>
            </a:extLst>
          </p:cNvPr>
          <p:cNvSpPr/>
          <p:nvPr/>
        </p:nvSpPr>
        <p:spPr>
          <a:xfrm>
            <a:off x="1648672" y="4338229"/>
            <a:ext cx="1739476" cy="158279"/>
          </a:xfrm>
          <a:prstGeom prst="rect">
            <a:avLst/>
          </a:prstGeom>
          <a:noFill/>
          <a:ln/>
        </p:spPr>
        <p:txBody>
          <a:bodyPr wrap="none" lIns="0" tIns="0" rIns="0" bIns="0" rtlCol="0" anchor="t"/>
          <a:lstStyle/>
          <a:p>
            <a:pPr marL="0" indent="0" algn="ctr">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Business Challenges Solved</a:t>
            </a:r>
            <a:endParaRPr lang="en-US" sz="1400" dirty="0">
              <a:latin typeface="Arial" panose="020B0604020202020204" pitchFamily="34" charset="0"/>
            </a:endParaRPr>
          </a:p>
        </p:txBody>
      </p:sp>
      <p:sp>
        <p:nvSpPr>
          <p:cNvPr id="36" name="Text 7">
            <a:extLst>
              <a:ext uri="{FF2B5EF4-FFF2-40B4-BE49-F238E27FC236}">
                <a16:creationId xmlns:a16="http://schemas.microsoft.com/office/drawing/2014/main" id="{6BB4E632-AF68-022D-BE2B-012D1BC3BCF7}"/>
              </a:ext>
            </a:extLst>
          </p:cNvPr>
          <p:cNvSpPr/>
          <p:nvPr/>
        </p:nvSpPr>
        <p:spPr>
          <a:xfrm>
            <a:off x="97869" y="4616699"/>
            <a:ext cx="4802982" cy="367585"/>
          </a:xfrm>
          <a:prstGeom prst="rect">
            <a:avLst/>
          </a:prstGeom>
          <a:noFill/>
          <a:ln/>
        </p:spPr>
        <p:txBody>
          <a:bodyPr wrap="none" lIns="0" tIns="0" rIns="0" bIns="0" rtlCol="0" anchor="t"/>
          <a:lstStyle/>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Key challenges addressed through SQL analysis and</a:t>
            </a:r>
          </a:p>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Power BI visualisation</a:t>
            </a:r>
            <a:endParaRPr lang="en-US" sz="1400" dirty="0">
              <a:latin typeface="Arial" panose="020B0604020202020204" pitchFamily="34" charset="0"/>
            </a:endParaRPr>
          </a:p>
        </p:txBody>
      </p:sp>
      <p:sp>
        <p:nvSpPr>
          <p:cNvPr id="37" name="Text 5">
            <a:extLst>
              <a:ext uri="{FF2B5EF4-FFF2-40B4-BE49-F238E27FC236}">
                <a16:creationId xmlns:a16="http://schemas.microsoft.com/office/drawing/2014/main" id="{EF956505-E352-4137-21AF-FCE94FC635C4}"/>
              </a:ext>
            </a:extLst>
          </p:cNvPr>
          <p:cNvSpPr/>
          <p:nvPr/>
        </p:nvSpPr>
        <p:spPr>
          <a:xfrm>
            <a:off x="2023492" y="4053748"/>
            <a:ext cx="823904" cy="362267"/>
          </a:xfrm>
          <a:prstGeom prst="rect">
            <a:avLst/>
          </a:prstGeom>
          <a:noFill/>
          <a:ln/>
        </p:spPr>
        <p:txBody>
          <a:bodyPr wrap="none" lIns="0" tIns="0" rIns="0" bIns="0" rtlCol="0" anchor="t"/>
          <a:lstStyle/>
          <a:p>
            <a:pPr marL="0" indent="0" algn="ctr">
              <a:lnSpc>
                <a:spcPct val="83000"/>
              </a:lnSpc>
              <a:buNone/>
            </a:pPr>
            <a:r>
              <a:rPr lang="en-US" sz="2800" b="1" dirty="0">
                <a:solidFill>
                  <a:srgbClr val="D7D4CC"/>
                </a:solidFill>
                <a:latin typeface="Arial" panose="020B0604020202020204" pitchFamily="34" charset="0"/>
                <a:ea typeface="Calibri" panose="020F0502020204030204" pitchFamily="34" charset="0"/>
                <a:cs typeface="Arial" panose="020B0604020202020204" pitchFamily="34" charset="0"/>
              </a:rPr>
              <a:t>8</a:t>
            </a:r>
            <a:endParaRPr lang="en-US" sz="4800"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D60F1-8684-8DC7-00AE-E386CEE9AD09}"/>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25A012E3-733F-DC0F-1129-9174EE24BDBB}"/>
              </a:ext>
            </a:extLst>
          </p:cNvPr>
          <p:cNvSpPr/>
          <p:nvPr/>
        </p:nvSpPr>
        <p:spPr>
          <a:xfrm>
            <a:off x="3133844" y="2181642"/>
            <a:ext cx="3516809" cy="382488"/>
          </a:xfrm>
          <a:prstGeom prst="rect">
            <a:avLst/>
          </a:prstGeom>
          <a:noFill/>
          <a:ln/>
        </p:spPr>
        <p:txBody>
          <a:bodyPr wrap="none" lIns="0" tIns="0" rIns="0" bIns="0" rtlCol="0" anchor="t"/>
          <a:lstStyle/>
          <a:p>
            <a:pPr marL="0" indent="0" algn="l">
              <a:lnSpc>
                <a:spcPct val="104000"/>
              </a:lnSpc>
              <a:buNone/>
            </a:pPr>
            <a:r>
              <a:rPr lang="en-US" sz="4000" b="1" i="1" dirty="0">
                <a:solidFill>
                  <a:srgbClr val="FFE14D"/>
                </a:solidFill>
                <a:latin typeface="Arial" panose="020B0604020202020204" pitchFamily="34" charset="0"/>
                <a:ea typeface="Calibri" panose="020F0502020204030204" pitchFamily="34" charset="0"/>
                <a:cs typeface="Arial" panose="020B0604020202020204" pitchFamily="34" charset="0"/>
              </a:rPr>
              <a:t>Thank You</a:t>
            </a:r>
            <a:endParaRPr lang="en-US" sz="2800" i="1" dirty="0">
              <a:latin typeface="Arial" panose="020B0604020202020204" pitchFamily="34" charset="0"/>
            </a:endParaRPr>
          </a:p>
        </p:txBody>
      </p:sp>
    </p:spTree>
    <p:extLst>
      <p:ext uri="{BB962C8B-B14F-4D97-AF65-F5344CB8AC3E}">
        <p14:creationId xmlns:p14="http://schemas.microsoft.com/office/powerpoint/2010/main" val="3272056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7562</TotalTime>
  <Words>3325</Words>
  <Application>Microsoft Office PowerPoint</Application>
  <PresentationFormat>On-screen Show (16:9)</PresentationFormat>
  <Paragraphs>476</Paragraphs>
  <Slides>37</Slides>
  <Notes>37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37</vt:i4>
      </vt:variant>
    </vt:vector>
  </HeadingPairs>
  <TitlesOfParts>
    <vt:vector size="3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Ragina V</dc:creator>
  <cp:lastModifiedBy>Ragina Vannantavida</cp:lastModifiedBy>
  <cp:revision>10</cp:revision>
  <dcterms:created xsi:type="dcterms:W3CDTF">2026-06-06T05:56:53Z</dcterms:created>
  <dcterms:modified xsi:type="dcterms:W3CDTF">2026-06-15T13:24:07Z</dcterms:modified>
</cp:coreProperties>
</file>